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2" r:id="rId14"/>
    <p:sldId id="283" r:id="rId15"/>
    <p:sldId id="295" r:id="rId16"/>
    <p:sldId id="296" r:id="rId17"/>
    <p:sldId id="297" r:id="rId18"/>
    <p:sldId id="298" r:id="rId19"/>
    <p:sldId id="261" r:id="rId20"/>
    <p:sldId id="262" r:id="rId21"/>
    <p:sldId id="294" r:id="rId22"/>
    <p:sldId id="293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00" cy="3657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Next-Generation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5G Revolution &amp; 6G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15A24"/>
                </a:solidFill>
              </a:defRPr>
            </a:pPr>
            <a:r>
              <a:t>شبكات الجيل القادم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00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B050"/>
                </a:solidFill>
              </a:defRPr>
            </a:pPr>
            <a:r>
              <a:t>Day 2 - Advanced Technologies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Welcome Back! Quick Recap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5029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15A24"/>
                </a:solidFill>
              </a:defRPr>
            </a:pPr>
            <a:r>
              <a:rPr dirty="0"/>
              <a:t>Yesterday We Learned: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☁️ Cloud Computing = Renting vs Buying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🧠 Smart Cloud = AI + Automation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🎯 3 Types: Public, Private, Hybrid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💰 Real cost savings (up to 98%!)</a:t>
            </a:r>
          </a:p>
          <a:p>
            <a:br>
              <a:rPr dirty="0"/>
            </a:b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Today's Learning Adventure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2800" b="1">
                <a:solidFill>
                  <a:srgbClr val="F15A24"/>
                </a:solidFill>
              </a:defRPr>
            </a:pPr>
            <a:r>
              <a:rPr sz="2400" dirty="0"/>
              <a:t>Exploring the Future of Networks:</a:t>
            </a:r>
          </a:p>
          <a:p>
            <a:br>
              <a:rPr sz="1800" dirty="0"/>
            </a:br>
            <a:r>
              <a:rPr sz="2000" dirty="0"/>
              <a:t>1. Evolution Journey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sz="2000" dirty="0"/>
              <a:t>   ➜ From 1G to 6G - How we got here (15 min)</a:t>
            </a:r>
          </a:p>
          <a:p>
            <a:br>
              <a:rPr sz="2000" dirty="0"/>
            </a:br>
            <a:r>
              <a:rPr sz="2000" dirty="0"/>
              <a:t>2. 5G Deep Dive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sz="2000" dirty="0"/>
              <a:t>   ➜ Technology, features, real applications (20 min)</a:t>
            </a:r>
          </a:p>
          <a:p>
            <a:br>
              <a:rPr sz="2000" dirty="0"/>
            </a:br>
            <a:r>
              <a:rPr sz="2000" dirty="0"/>
              <a:t>3. 6G Vision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sz="2000" dirty="0"/>
              <a:t>   ➜ What's coming in 2030 and beyond (15 min)</a:t>
            </a:r>
          </a:p>
          <a:p>
            <a:br>
              <a:rPr sz="2000" dirty="0"/>
            </a:br>
            <a:r>
              <a:rPr sz="2000" dirty="0"/>
              <a:t>4. Industry Impact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sz="2000" dirty="0"/>
              <a:t>   ➜ Transforming every sector 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Quick Game: Match the Generation!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502920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70C0"/>
                </a:solidFill>
              </a:defRPr>
            </a:pPr>
            <a:r>
              <a:rPr dirty="0"/>
              <a:t>Match These Technologies to Their Generation: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📱 Voice Calls Only → ?G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📟 Text Messages (SMS) → ?G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🌐 Mobile Internet → ?G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📺 HD Video Streaming → ?G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🚗 Self-Driving Cars → ?G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Amazing Journey: 1G to 6G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B2AF22-C5D2-FC5F-08A6-A4752B1A512A}"/>
              </a:ext>
            </a:extLst>
          </p:cNvPr>
          <p:cNvSpPr txBox="1"/>
          <p:nvPr/>
        </p:nvSpPr>
        <p:spPr>
          <a:xfrm>
            <a:off x="901336" y="1280159"/>
            <a:ext cx="12514217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📞 1G: The First Mobile Revolution</a:t>
            </a:r>
          </a:p>
          <a:p>
            <a:r>
              <a:rPr lang="en-US" i="1" dirty="0"/>
              <a:t>									</a:t>
            </a:r>
            <a:r>
              <a:rPr lang="en-US" u="sng" dirty="0"/>
              <a:t>How It All Began (1980s)</a:t>
            </a:r>
          </a:p>
          <a:p>
            <a:r>
              <a:rPr lang="en-US" sz="2000" b="1" dirty="0"/>
              <a:t>What Was 1G?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The Very First Generation of Mobile Technology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Voice calls only - No texts, no internet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Analog signals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Limited to major cities - Urban areas only</a:t>
            </a:r>
          </a:p>
          <a:p>
            <a:r>
              <a:rPr lang="en-US" sz="2000" b="1" dirty="0"/>
              <a:t>Technical Specifications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Signal &amp; Frequency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Analog Signals - Radio waves transmitting voice directly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Frequency Bands - </a:t>
            </a:r>
            <a:r>
              <a:rPr lang="en-US" dirty="0">
                <a:solidFill>
                  <a:schemeClr val="accent6"/>
                </a:solidFill>
              </a:rPr>
              <a:t>800-900 MHz </a:t>
            </a:r>
            <a:r>
              <a:rPr lang="en-US" dirty="0"/>
              <a:t>(Low frequency)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Speed - </a:t>
            </a:r>
            <a:r>
              <a:rPr lang="en-US" dirty="0">
                <a:solidFill>
                  <a:schemeClr val="accent6"/>
                </a:solidFill>
              </a:rPr>
              <a:t>2.4 Kbps </a:t>
            </a:r>
            <a:r>
              <a:rPr lang="en-US" dirty="0"/>
              <a:t>maximum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Range - Up to </a:t>
            </a:r>
            <a:r>
              <a:rPr lang="en-US" dirty="0">
                <a:solidFill>
                  <a:schemeClr val="accent6"/>
                </a:solidFill>
              </a:rPr>
              <a:t>30 km</a:t>
            </a:r>
            <a:r>
              <a:rPr lang="en-US" dirty="0"/>
              <a:t> per tower</a:t>
            </a:r>
          </a:p>
          <a:p>
            <a:r>
              <a:rPr lang="en-US" sz="2000" b="1" dirty="0"/>
              <a:t>Network Technology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Circuit-Switched - Dedicated line for each call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No Encryption - Calls could be easily intercepted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Limited Capacity - Few simultaneous calls per tower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3134E-EACF-968E-591A-91160C4D0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398E-7025-7513-8B57-E92E3C6F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Amazing Journey: 1G to 6G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2ABB77-EFFA-F43E-A2DD-8D393D5D56B9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C18810-84DB-1CAB-5743-EAD140B1D17A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91C732-F873-97D9-D3C4-BBC3BFFCF21B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965770-ADE2-5274-3383-A65864746B39}"/>
              </a:ext>
            </a:extLst>
          </p:cNvPr>
          <p:cNvSpPr txBox="1"/>
          <p:nvPr/>
        </p:nvSpPr>
        <p:spPr>
          <a:xfrm>
            <a:off x="901336" y="1280159"/>
            <a:ext cx="1251421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📞 1G: The First Mobile Revolution</a:t>
            </a:r>
          </a:p>
          <a:p>
            <a:r>
              <a:rPr lang="en-US" i="1" dirty="0"/>
              <a:t>									</a:t>
            </a:r>
            <a:r>
              <a:rPr lang="en-US" u="sng" dirty="0"/>
              <a:t>How It All Began (1980s)</a:t>
            </a:r>
          </a:p>
          <a:p>
            <a:br>
              <a:rPr lang="en-US" sz="2000" dirty="0"/>
            </a:br>
            <a:r>
              <a:rPr lang="en-US" sz="2000" b="1" dirty="0"/>
              <a:t>Functionality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Dialing and basic call functions only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No text messages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No caller ID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No voicemail</a:t>
            </a:r>
          </a:p>
          <a:p>
            <a:r>
              <a:rPr lang="en-US" sz="2000" b="1" dirty="0"/>
              <a:t>Coverage &amp; User Experience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✅ Major cities only (Cairo, Alexandria)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❌ No service in villages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❌ No service on highways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❌ No international roaming</a:t>
            </a:r>
          </a:p>
          <a:p>
            <a:r>
              <a:rPr lang="en-US" sz="2000" b="1" dirty="0"/>
              <a:t>Call Quality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  Poor audio quality - Static and noise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  Frequent dropouts - Especially when moving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  No privacy - Anyone with scanner could listen</a:t>
            </a:r>
          </a:p>
          <a:p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079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AF079-9D18-59CB-46E2-37B1BAA32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523D0-214D-7112-4D03-D0DA0F50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4503"/>
            <a:ext cx="8229600" cy="1522141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Amazing Journey: 1G to 6G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2FCBCF-4FB0-393F-549B-CD76463312A0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88BAFF-3DC9-BA22-ABFD-D43EC1D35ECC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2A02B6-1768-FB6A-DD17-F0E1C419421D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3332B3-A106-D93A-138F-C3857A6DD429}"/>
              </a:ext>
            </a:extLst>
          </p:cNvPr>
          <p:cNvSpPr txBox="1"/>
          <p:nvPr/>
        </p:nvSpPr>
        <p:spPr>
          <a:xfrm>
            <a:off x="744583" y="1005838"/>
            <a:ext cx="12514217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📟 2G: The Digital Revolution</a:t>
            </a:r>
          </a:p>
          <a:p>
            <a:r>
              <a:rPr lang="en-US" i="1" dirty="0"/>
              <a:t>									</a:t>
            </a:r>
            <a:r>
              <a:rPr lang="en-US" u="sng" dirty="0"/>
              <a:t>How It All Began (</a:t>
            </a:r>
            <a:r>
              <a:rPr lang="en-US" dirty="0"/>
              <a:t>1990s)</a:t>
            </a:r>
            <a:endParaRPr lang="en-US" u="sng" dirty="0"/>
          </a:p>
          <a:p>
            <a:r>
              <a:rPr lang="en-US" sz="2000" b="1" dirty="0"/>
              <a:t>What Was 2G?</a:t>
            </a:r>
          </a:p>
          <a:p>
            <a:r>
              <a:rPr lang="en-US" sz="2000" b="1" dirty="0"/>
              <a:t>The Second Generation - Birth of Digital Mobile</a:t>
            </a:r>
            <a:endParaRPr lang="en-US" sz="20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Digital calls</a:t>
            </a:r>
            <a:r>
              <a:rPr lang="en-US" dirty="0"/>
              <a:t> - Crystal clear voice quality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SMS messaging</a:t>
            </a:r>
            <a:r>
              <a:rPr lang="en-US" dirty="0"/>
              <a:t> - First cloud-connected service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Encrypted calls</a:t>
            </a:r>
            <a:r>
              <a:rPr lang="en-US" dirty="0"/>
              <a:t> - Secure communications</a:t>
            </a:r>
          </a:p>
          <a:p>
            <a:r>
              <a:rPr lang="en-US" sz="2000" b="1" dirty="0"/>
              <a:t>Technical Specifications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Signal &amp; Frequency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Digital Signals - Converted voice t</a:t>
            </a:r>
            <a:r>
              <a:rPr lang="en-US" dirty="0">
                <a:solidFill>
                  <a:schemeClr val="accent6"/>
                </a:solidFill>
              </a:rPr>
              <a:t>- 900 MHz and 1800 </a:t>
            </a:r>
            <a:r>
              <a:rPr lang="en-US" dirty="0" err="1">
                <a:solidFill>
                  <a:schemeClr val="accent6"/>
                </a:solidFill>
              </a:rPr>
              <a:t>MHz</a:t>
            </a:r>
            <a:r>
              <a:rPr lang="en-US" dirty="0" err="1"/>
              <a:t>o</a:t>
            </a:r>
            <a:r>
              <a:rPr lang="en-US" dirty="0"/>
              <a:t> 1s and 0s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Frequency Bands </a:t>
            </a:r>
            <a:endParaRPr lang="en-US" dirty="0">
              <a:solidFill>
                <a:schemeClr val="accent6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Speed - </a:t>
            </a:r>
            <a:r>
              <a:rPr lang="en-US" dirty="0">
                <a:solidFill>
                  <a:schemeClr val="accent6"/>
                </a:solidFill>
              </a:rPr>
              <a:t>9.6 to 14.4 Kbps </a:t>
            </a:r>
            <a:r>
              <a:rPr lang="en-US" dirty="0"/>
              <a:t>(First mobile data)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Range - Improved coverage over 1G</a:t>
            </a:r>
          </a:p>
          <a:p>
            <a:r>
              <a:rPr lang="en-US" sz="2000" b="1" dirty="0"/>
              <a:t>Network Technology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GSM Standard (global system management) 				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Global language for mobile networks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International roaming enabled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Cross-network SMS between providers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TDMA Technology (Time-Division Multiple Access)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Time-sharing one line for 8 calls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8x more capacity than 1G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Lower costs for everyone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SIM Cards - Personal mobile identity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Encryption - Secure calls and data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7411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1F36-54FC-14CD-CE87-2AE7224A6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D8B1-9929-EB02-FE94-523748E90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Amazing Journey: 1G to 6G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804BEA-B2EC-97D5-A679-8A2FB33699B5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31549A-148D-A1D2-422A-0F31239138B2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377795-E2A8-3487-B846-87EEDF8BFF0B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90878C-DECB-2AA9-1AB0-0845107763CA}"/>
              </a:ext>
            </a:extLst>
          </p:cNvPr>
          <p:cNvSpPr txBox="1"/>
          <p:nvPr/>
        </p:nvSpPr>
        <p:spPr>
          <a:xfrm>
            <a:off x="901336" y="1280159"/>
            <a:ext cx="1251421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📟 2G: The Digital Revolution</a:t>
            </a:r>
          </a:p>
          <a:p>
            <a:r>
              <a:rPr lang="en-US" i="1" dirty="0"/>
              <a:t>									</a:t>
            </a:r>
            <a:r>
              <a:rPr lang="en-US" u="sng" dirty="0"/>
              <a:t>How It All Began (1990s)</a:t>
            </a:r>
          </a:p>
          <a:p>
            <a:br>
              <a:rPr lang="en-US" sz="2000" dirty="0"/>
            </a:br>
            <a:r>
              <a:rPr lang="en-US" sz="2000" b="1" dirty="0"/>
              <a:t>Functionality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Voice calls - Digital quality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Text messages - 160-character SMS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Caller ID - See who's calling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Basic internet - WAP browsing (Wireless Application Protocol)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Phonebook - Store contacts</a:t>
            </a:r>
          </a:p>
          <a:p>
            <a:r>
              <a:rPr lang="en-US" sz="2000" b="1" dirty="0"/>
              <a:t>Coverage &amp; User Experience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Urban areas - Full digital coverage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Suburbs - Good coverage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Highways - Basic coverage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International roaming - Connect globally</a:t>
            </a:r>
          </a:p>
          <a:p>
            <a:r>
              <a:rPr lang="en-US" sz="2000" b="1" dirty="0"/>
              <a:t>Call Quality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Clear audio - Digital quality voice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 Reliable connections - Fewer dropouts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 Secure calls - Encrypted communications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 Text culture - SMS revolution begins</a:t>
            </a:r>
          </a:p>
          <a:p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5110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0335-2208-3238-6428-369AC888D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1BB67-B62B-060D-349E-F649B678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4503"/>
            <a:ext cx="8229600" cy="1522141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Amazing Journey: 1G to 6G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549B4A-74C3-0744-EE22-0574B02C9346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74747C-7EAE-EB2E-8EFD-D39AE89D95CC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C121A9-54A4-762B-1644-49CA8FD45676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0003E7-C777-3B09-DFBC-60FBB1056297}"/>
              </a:ext>
            </a:extLst>
          </p:cNvPr>
          <p:cNvSpPr txBox="1"/>
          <p:nvPr/>
        </p:nvSpPr>
        <p:spPr>
          <a:xfrm>
            <a:off x="744583" y="1005838"/>
            <a:ext cx="12514217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3G: The Mobile Internet Revolution</a:t>
            </a:r>
          </a:p>
          <a:p>
            <a:endParaRPr lang="en-US" sz="2000" b="1" dirty="0"/>
          </a:p>
          <a:p>
            <a:r>
              <a:rPr lang="en-US" i="1" dirty="0"/>
              <a:t>									</a:t>
            </a:r>
            <a:r>
              <a:rPr lang="en-US" dirty="0"/>
              <a:t>The True Birth of Mobile Cloud (2000s)</a:t>
            </a:r>
          </a:p>
          <a:p>
            <a:pPr lvl="1"/>
            <a:endParaRPr lang="en-US" dirty="0"/>
          </a:p>
          <a:p>
            <a:r>
              <a:rPr lang="en-US" sz="2000" b="1" dirty="0"/>
              <a:t>What Was 3G?</a:t>
            </a:r>
          </a:p>
          <a:p>
            <a:r>
              <a:rPr lang="en-US" sz="2000" b="1" dirty="0"/>
              <a:t>The Third Generation - Mobile Internet Era</a:t>
            </a:r>
            <a:endParaRPr lang="en-US" sz="20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High-speed data</a:t>
            </a:r>
            <a:r>
              <a:rPr lang="en-US" dirty="0"/>
              <a:t> - Real internet on mobile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Video calls</a:t>
            </a:r>
            <a:r>
              <a:rPr lang="en-US" dirty="0"/>
              <a:t> - Face-to-face communication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Music streaming</a:t>
            </a:r>
            <a:r>
              <a:rPr lang="en-US" dirty="0"/>
              <a:t> - Mobile entertainment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Full web browsing</a:t>
            </a:r>
            <a:r>
              <a:rPr lang="en-US" dirty="0"/>
              <a:t> - Desktop-like experience</a:t>
            </a:r>
          </a:p>
          <a:p>
            <a:r>
              <a:rPr lang="en-US" sz="2000" b="1" dirty="0"/>
              <a:t>Technical Specifications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ar-EG" b="1" dirty="0"/>
              <a:t>	</a:t>
            </a:r>
            <a:r>
              <a:rPr lang="en-US" b="1" dirty="0"/>
              <a:t>UMTS / WCDMA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Description:</a:t>
            </a:r>
            <a:br>
              <a:rPr lang="en-US" dirty="0"/>
            </a:br>
            <a:r>
              <a:rPr lang="en-US" dirty="0"/>
              <a:t>Universal Mobile Telecommunications System (UMTS) is the primary standard for third-generation (3G) mobile networks. It uses WCDMA (Wideband Code Division Multiple Access) technology, which allows multiple users to share the same frequency by assigning a unique code to each connection. This provided the first "high-speed" mobile internet experience for most of the world.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     HSPA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Description:</a:t>
            </a:r>
            <a:br>
              <a:rPr lang="en-US" dirty="0"/>
            </a:br>
            <a:r>
              <a:rPr lang="en-US" dirty="0"/>
              <a:t>High-Speed Packet Access (HSPA) is a major upgrade to UMTS (3G) networks. It consists of HSDPA (for faster downloads) and HSUPA (for faster uploads). Often called "3.5G," it significantly enhanced data speeds, enabling a much smoother experience for video streaming, web browsing, and app usage.</a:t>
            </a:r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dirty="0"/>
          </a:p>
          <a:p>
            <a:br>
              <a:rPr lang="en-US" sz="2000" dirty="0"/>
            </a:br>
            <a:endParaRPr lang="en-US" sz="2000" dirty="0"/>
          </a:p>
        </p:txBody>
      </p:sp>
      <p:pic>
        <p:nvPicPr>
          <p:cNvPr id="1026" name="Picture 2" descr="Packet Switching - NETWORK ENCYCLOPEDIA">
            <a:extLst>
              <a:ext uri="{FF2B5EF4-FFF2-40B4-BE49-F238E27FC236}">
                <a16:creationId xmlns:a16="http://schemas.microsoft.com/office/drawing/2014/main" id="{FB9F4F77-314D-0E28-EDA6-128AD4EC1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182" y="914398"/>
            <a:ext cx="5499464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223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40B12-5A18-5D17-E7D4-619E09C3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43500-3A87-BFE4-FA41-B37F826E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4503"/>
            <a:ext cx="8229600" cy="1522141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Amazing Journey: 1G to 6G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4E94E8-C43A-162A-B37F-253FFD3EBFCC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D23FF5-1507-2F8B-D7A5-9D2DB20EAA36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8B8683-3C89-D34A-76C2-35CC96CCBB94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CE060F-5433-164D-274B-6389A759C0E9}"/>
              </a:ext>
            </a:extLst>
          </p:cNvPr>
          <p:cNvSpPr txBox="1"/>
          <p:nvPr/>
        </p:nvSpPr>
        <p:spPr>
          <a:xfrm>
            <a:off x="744583" y="1018901"/>
            <a:ext cx="12514217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3G: The Mobile Internet Revolution</a:t>
            </a:r>
          </a:p>
          <a:p>
            <a:endParaRPr lang="en-US" sz="2000" b="1" dirty="0"/>
          </a:p>
          <a:p>
            <a:r>
              <a:rPr lang="en-US" i="1" dirty="0"/>
              <a:t>									</a:t>
            </a:r>
            <a:r>
              <a:rPr lang="en-US" dirty="0"/>
              <a:t>The True Birth of Mobile Cloud (2000s)</a:t>
            </a:r>
          </a:p>
          <a:p>
            <a:r>
              <a:rPr lang="en-US" sz="2000" b="1" dirty="0"/>
              <a:t>Functionality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Video calls - See who you're talking to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Mobile TV - Watch live broadcasts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Online gaming - Real-time multiplayer</a:t>
            </a:r>
            <a:endParaRPr lang="ar-EG" dirty="0"/>
          </a:p>
          <a:p>
            <a:r>
              <a:rPr lang="en-US" b="1" dirty="0"/>
              <a:t>What You COULDN'T Do: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❌ HD video streaming - Limited bandwidth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❌ Cloud gaming - Latency still too high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❌ 4K video - Speed not sufficient</a:t>
            </a:r>
          </a:p>
          <a:p>
            <a:r>
              <a:rPr lang="en-US" b="1" dirty="0"/>
              <a:t>Coverage &amp; User Experience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Global coverage - Most urban areas worldwide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Indoor coverage - Better building penetration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Moving vehicles - Stable connectivity</a:t>
            </a:r>
          </a:p>
          <a:p>
            <a:endParaRPr lang="en-US" dirty="0"/>
          </a:p>
          <a:p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06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47EC-5952-4031-2AA5-A85FADC89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BCC3-D942-3158-B24A-2A3DDA06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4503"/>
            <a:ext cx="8229600" cy="1522141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Amazing Journey: 1G to 6G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CBF144-982E-76CC-65A3-CE498C0F5432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0F81F-D8E7-9309-4E9A-8D569D346EFE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099100-CC58-1BB0-1A91-7368BA0842A1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92A2E-07E4-B903-AD05-A9CB36FEE396}"/>
              </a:ext>
            </a:extLst>
          </p:cNvPr>
          <p:cNvSpPr txBox="1"/>
          <p:nvPr/>
        </p:nvSpPr>
        <p:spPr>
          <a:xfrm>
            <a:off x="744583" y="1002346"/>
            <a:ext cx="12514217" cy="1114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4G: The Mobile Internet Revolution</a:t>
            </a:r>
          </a:p>
          <a:p>
            <a:endParaRPr lang="en-US" sz="2000" b="1" dirty="0"/>
          </a:p>
          <a:p>
            <a:r>
              <a:rPr lang="en-US" i="1" dirty="0"/>
              <a:t>									The Era of True Mobile Cloud Computing (2010s)</a:t>
            </a:r>
          </a:p>
          <a:p>
            <a:r>
              <a:rPr lang="en-US" sz="2000" b="1" dirty="0"/>
              <a:t>What Was 4G?</a:t>
            </a:r>
          </a:p>
          <a:p>
            <a:r>
              <a:rPr lang="en-US" sz="2000" b="1" dirty="0"/>
              <a:t>The Fourth Generation - Mobile Broadband Era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True broadband speeds - Fiber-like wireless experience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HD video streaming - Seamless 1080p/4K video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Cloud gaming - Console-quality gaming on mobile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Internet of Things - Massive device connectivity</a:t>
            </a:r>
          </a:p>
          <a:p>
            <a:r>
              <a:rPr lang="en-US" sz="2000" b="1" dirty="0"/>
              <a:t>Technical Specifications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Frequency Bands - 700 MHz to 2.6 GHz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Speed - 100 Mbps to 1 Gbps (50x faster than 3G)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Latency - 20-30ms (Near real-time response)</a:t>
            </a:r>
          </a:p>
          <a:p>
            <a:r>
              <a:rPr lang="en-US" b="1" dirty="0"/>
              <a:t>Network Technology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	LTE - Long Term Evolution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b="1" dirty="0"/>
              <a:t>What it does:</a:t>
            </a:r>
            <a:r>
              <a:rPr lang="en-US" dirty="0"/>
              <a:t> Provides high-speed internet and low latency, forming the "data highway."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b="1" dirty="0"/>
              <a:t>Key Benefit:</a:t>
            </a:r>
            <a:r>
              <a:rPr lang="en-US" dirty="0"/>
              <a:t> The core that enabled true mobile broadband.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OFDMA - Orthogonal Frequency Division Multiple Access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What it does:</a:t>
            </a:r>
            <a:r>
              <a:rPr lang="en-US" dirty="0"/>
              <a:t> Splits the signal into many smaller, parallel sub-channels to serve multiple users simultaneously and efficiently.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Key Benefit:</a:t>
            </a:r>
            <a:r>
              <a:rPr lang="en-US" dirty="0"/>
              <a:t> improves network capacity and efficiency.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 MIMO - Multiple Input Multiple Output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What it does:</a:t>
            </a:r>
            <a:r>
              <a:rPr lang="en-US" dirty="0"/>
              <a:t> Transmits multiple data streams at the same time over the same frequency.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Key Benefit:</a:t>
            </a:r>
            <a:r>
              <a:rPr lang="en-US" dirty="0"/>
              <a:t> Significantly boosts data speeds and improves connection reliability.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sz="2000" b="1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dirty="0"/>
          </a:p>
          <a:p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06729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0591-8F5F-F994-20BC-2AA20D72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16B-4B59-9C63-2509-82C279EE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4503"/>
            <a:ext cx="8229600" cy="1522141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Amazing Journey: 1G to 6G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469E9D-3B94-13C2-5F50-B19C63B66782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E098D5-91E5-8F7A-6944-520AFF2F1C33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1138A0-E23F-77DD-388F-3521AAA59F43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1A5502-E121-F545-F33E-971D8C51C060}"/>
              </a:ext>
            </a:extLst>
          </p:cNvPr>
          <p:cNvSpPr txBox="1"/>
          <p:nvPr/>
        </p:nvSpPr>
        <p:spPr>
          <a:xfrm>
            <a:off x="744583" y="1002346"/>
            <a:ext cx="12514217" cy="911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4G: The Mobile Internet Revolution</a:t>
            </a:r>
          </a:p>
          <a:p>
            <a:endParaRPr lang="en-US" sz="2000" b="1" dirty="0"/>
          </a:p>
          <a:p>
            <a:r>
              <a:rPr lang="en-US" i="1" dirty="0"/>
              <a:t>									The Era of True Mobile Cloud Computing (2010s)</a:t>
            </a:r>
          </a:p>
          <a:p>
            <a:r>
              <a:rPr lang="en-US" b="1" dirty="0"/>
              <a:t>Network Technology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VoLTE - Voice over LTE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What it does:</a:t>
            </a:r>
            <a:r>
              <a:rPr lang="en-US" dirty="0"/>
              <a:t> Turns voice into data packets, allowing calls and internet use to happen concurrently on the same network.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Key Benefit:</a:t>
            </a:r>
            <a:r>
              <a:rPr lang="en-US" dirty="0"/>
              <a:t> Enables HD quality calls, faster call setup, and simultaneous voice &amp; data.</a:t>
            </a:r>
          </a:p>
          <a:p>
            <a:r>
              <a:rPr lang="en-US" b="1" dirty="0"/>
              <a:t>Functionality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4K video streaming</a:t>
            </a:r>
            <a:r>
              <a:rPr lang="en-US" dirty="0"/>
              <a:t> - Netflix, YouTube in ultra HD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Video conferencing</a:t>
            </a:r>
            <a:r>
              <a:rPr lang="en-US" dirty="0"/>
              <a:t> - Zoom, Teams on mobile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Augmented Reality</a:t>
            </a:r>
            <a:r>
              <a:rPr lang="en-US" dirty="0"/>
              <a:t> - </a:t>
            </a:r>
            <a:r>
              <a:rPr lang="en-US" dirty="0" err="1"/>
              <a:t>Pokemon</a:t>
            </a:r>
            <a:r>
              <a:rPr lang="en-US" dirty="0"/>
              <a:t> Go, filters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Mobile live streaming</a:t>
            </a:r>
            <a:r>
              <a:rPr lang="en-US" dirty="0"/>
              <a:t> - Facebook Live, Twitch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Instant cloud sync</a:t>
            </a:r>
            <a:r>
              <a:rPr lang="en-US" dirty="0"/>
              <a:t> - Photos, files sync automatically</a:t>
            </a:r>
          </a:p>
          <a:p>
            <a:r>
              <a:rPr lang="en-US" b="1" dirty="0"/>
              <a:t>What STILL Limited: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Massive IoT</a:t>
            </a:r>
            <a:r>
              <a:rPr lang="en-US" dirty="0"/>
              <a:t> - Limited for billions of devices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Mission-critical apps</a:t>
            </a:r>
            <a:r>
              <a:rPr lang="en-US" dirty="0"/>
              <a:t> - Not reliable enough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Tactile internet</a:t>
            </a:r>
            <a:r>
              <a:rPr lang="en-US" dirty="0"/>
              <a:t> - Not low latency enough</a:t>
            </a:r>
          </a:p>
          <a:p>
            <a:endParaRPr lang="en-US" dirty="0"/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sz="2000" b="1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dirty="0"/>
          </a:p>
          <a:p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39145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8D66-BCED-9AAB-1E7D-19F837D9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2093-1715-5F6F-AFE3-BC4E0232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4503"/>
            <a:ext cx="8229600" cy="1522141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Amazing Journey: 1G to 6G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BCEB62-BE1F-5A8B-C3B7-B12C9D6C6ADE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4FAFE0-C282-F619-4B86-DBEA5DD7CABC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820CCE-7F18-68DF-BEC7-366262589150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0AEF3E-8BA6-37C4-8BB0-1F6A9A29CDFF}"/>
              </a:ext>
            </a:extLst>
          </p:cNvPr>
          <p:cNvSpPr txBox="1"/>
          <p:nvPr/>
        </p:nvSpPr>
        <p:spPr>
          <a:xfrm>
            <a:off x="744583" y="1002346"/>
            <a:ext cx="12514217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6G: The Intelligent World Revolution</a:t>
            </a:r>
          </a:p>
          <a:p>
            <a:endParaRPr lang="en-US" sz="2000" b="1" dirty="0"/>
          </a:p>
          <a:p>
            <a:r>
              <a:rPr lang="en-US" i="1" dirty="0"/>
              <a:t>									</a:t>
            </a:r>
            <a:r>
              <a:rPr lang="en-US" dirty="0"/>
              <a:t>The Era of Converged Physical-Digital Reality (2030s)</a:t>
            </a:r>
          </a:p>
          <a:p>
            <a:r>
              <a:rPr lang="en-US" sz="2000" b="1" dirty="0"/>
              <a:t>What Will 6G Be?</a:t>
            </a:r>
          </a:p>
          <a:p>
            <a:r>
              <a:rPr lang="en-US" sz="2000" b="1" dirty="0"/>
              <a:t>The Sixth Generation - AI-Native, Sensing Networks</a:t>
            </a:r>
            <a:endParaRPr lang="en-US" sz="20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Terahertz speeds</a:t>
            </a:r>
            <a:r>
              <a:rPr lang="en-US" dirty="0"/>
              <a:t> - 1 </a:t>
            </a:r>
            <a:r>
              <a:rPr lang="en-US" dirty="0" err="1"/>
              <a:t>Tbps</a:t>
            </a:r>
            <a:r>
              <a:rPr lang="en-US" dirty="0"/>
              <a:t> and beyond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Native AI integration</a:t>
            </a:r>
            <a:r>
              <a:rPr lang="en-US" dirty="0"/>
              <a:t> - Networks that think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Integrated sensing</a:t>
            </a:r>
            <a:r>
              <a:rPr lang="en-US" dirty="0"/>
              <a:t> - Networks that "see" the environment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Holographic communications</a:t>
            </a:r>
            <a:r>
              <a:rPr lang="en-US" dirty="0"/>
              <a:t> - Full 3D presence</a:t>
            </a:r>
          </a:p>
          <a:p>
            <a:r>
              <a:rPr lang="en-US" b="1" dirty="0"/>
              <a:t>What You'll Be Able to Do: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Real-time holograms</a:t>
            </a:r>
            <a:r>
              <a:rPr lang="en-US" dirty="0"/>
              <a:t> - 3D video calls with physical presence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Digital twin worlds</a:t>
            </a:r>
            <a:r>
              <a:rPr lang="en-US" dirty="0"/>
              <a:t> - Mirror physical world in real-time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Brain-computer interfaces</a:t>
            </a:r>
            <a:r>
              <a:rPr lang="en-US" dirty="0"/>
              <a:t> - Thought-controlled devices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 </a:t>
            </a:r>
            <a:r>
              <a:rPr lang="en-US" b="1" dirty="0"/>
              <a:t>Tactile internet</a:t>
            </a:r>
            <a:r>
              <a:rPr lang="en-US" dirty="0"/>
              <a:t> - Remote touch and feel</a:t>
            </a:r>
          </a:p>
          <a:p>
            <a:endParaRPr lang="en-US" sz="2000" b="1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endParaRPr lang="en-US" dirty="0"/>
          </a:p>
          <a:p>
            <a:br>
              <a:rPr lang="en-US" sz="2000" dirty="0"/>
            </a:br>
            <a:endParaRPr lang="en-US" sz="2000" dirty="0"/>
          </a:p>
        </p:txBody>
      </p:sp>
      <p:pic>
        <p:nvPicPr>
          <p:cNvPr id="2050" name="Picture 2" descr="The Emergence of Holographic Communication in Asia-Pacific  Telecommunications - Telecom Review Asia">
            <a:extLst>
              <a:ext uri="{FF2B5EF4-FFF2-40B4-BE49-F238E27FC236}">
                <a16:creationId xmlns:a16="http://schemas.microsoft.com/office/drawing/2014/main" id="{9D90044D-F940-BF34-6FF3-55B8632C8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80" y="2097661"/>
            <a:ext cx="6781256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843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B090E-AA5D-F443-F93C-D5F372B9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3ABAD-CFD6-E240-3699-A49E1F110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The Amazing Journey: 1G to 6G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695A24D-F7AA-9DDB-5341-F4D7B7C4FE83}"/>
              </a:ext>
            </a:extLst>
          </p:cNvPr>
          <p:cNvSpPr/>
          <p:nvPr/>
        </p:nvSpPr>
        <p:spPr>
          <a:xfrm>
            <a:off x="457200" y="1828800"/>
            <a:ext cx="1371600" cy="1371600"/>
          </a:xfrm>
          <a:prstGeom prst="ellipse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C476D-111B-DBCD-D7C1-40FCA8551BC4}"/>
              </a:ext>
            </a:extLst>
          </p:cNvPr>
          <p:cNvSpPr txBox="1"/>
          <p:nvPr/>
        </p:nvSpPr>
        <p:spPr>
          <a:xfrm>
            <a:off x="228600" y="338328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5A24"/>
                </a:solidFill>
              </a:defRPr>
            </a:pPr>
            <a:r>
              <a:t>1980s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Voice</a:t>
            </a:r>
          </a:p>
          <a:p>
            <a:pPr algn="ctr">
              <a:defRPr sz="1400" i="1">
                <a:solidFill>
                  <a:srgbClr val="7F7F7F"/>
                </a:solidFill>
              </a:defRPr>
            </a:pPr>
            <a:r>
              <a:t>2.4 kbps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5C7F666-6EEC-A923-D6A3-22AB8C6369FE}"/>
              </a:ext>
            </a:extLst>
          </p:cNvPr>
          <p:cNvSpPr/>
          <p:nvPr/>
        </p:nvSpPr>
        <p:spPr>
          <a:xfrm>
            <a:off x="1920240" y="2377440"/>
            <a:ext cx="731520" cy="27432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5182F22-EDDF-BE08-3E48-5F4B666AA061}"/>
              </a:ext>
            </a:extLst>
          </p:cNvPr>
          <p:cNvSpPr/>
          <p:nvPr/>
        </p:nvSpPr>
        <p:spPr>
          <a:xfrm>
            <a:off x="2743200" y="1828800"/>
            <a:ext cx="1371600" cy="1371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AF008-B1DE-60F5-C744-06F0358C4E8A}"/>
              </a:ext>
            </a:extLst>
          </p:cNvPr>
          <p:cNvSpPr txBox="1"/>
          <p:nvPr/>
        </p:nvSpPr>
        <p:spPr>
          <a:xfrm>
            <a:off x="2514600" y="338328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B050"/>
                </a:solidFill>
              </a:defRPr>
            </a:pPr>
            <a:r>
              <a:t>1990s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SMS</a:t>
            </a:r>
          </a:p>
          <a:p>
            <a:pPr algn="ctr">
              <a:defRPr sz="1400" i="1">
                <a:solidFill>
                  <a:srgbClr val="7F7F7F"/>
                </a:solidFill>
              </a:defRPr>
            </a:pPr>
            <a:r>
              <a:t>64 kbps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E72B565-BCAA-F3D2-4730-F052243B6A3D}"/>
              </a:ext>
            </a:extLst>
          </p:cNvPr>
          <p:cNvSpPr/>
          <p:nvPr/>
        </p:nvSpPr>
        <p:spPr>
          <a:xfrm>
            <a:off x="4206240" y="2377440"/>
            <a:ext cx="731520" cy="27432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431F6F-3311-BA2D-B06F-B81832502031}"/>
              </a:ext>
            </a:extLst>
          </p:cNvPr>
          <p:cNvSpPr/>
          <p:nvPr/>
        </p:nvSpPr>
        <p:spPr>
          <a:xfrm>
            <a:off x="5029200" y="1828800"/>
            <a:ext cx="1371600" cy="1371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877BB-41D8-F830-08C0-909BC2016E85}"/>
              </a:ext>
            </a:extLst>
          </p:cNvPr>
          <p:cNvSpPr txBox="1"/>
          <p:nvPr/>
        </p:nvSpPr>
        <p:spPr>
          <a:xfrm>
            <a:off x="4800600" y="338328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0C0"/>
                </a:solidFill>
              </a:defRPr>
            </a:pPr>
            <a:r>
              <a:t>2000s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Internet</a:t>
            </a:r>
          </a:p>
          <a:p>
            <a:pPr algn="ctr">
              <a:defRPr sz="1400" i="1">
                <a:solidFill>
                  <a:srgbClr val="7F7F7F"/>
                </a:solidFill>
              </a:defRPr>
            </a:pPr>
            <a:r>
              <a:t>2 Mbps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C8658D0A-2202-B9E5-61E0-8CBC052FADA3}"/>
              </a:ext>
            </a:extLst>
          </p:cNvPr>
          <p:cNvSpPr/>
          <p:nvPr/>
        </p:nvSpPr>
        <p:spPr>
          <a:xfrm>
            <a:off x="6492240" y="2377440"/>
            <a:ext cx="731520" cy="27432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AD1AD3-B898-A1FD-821D-A238D93D5DF2}"/>
              </a:ext>
            </a:extLst>
          </p:cNvPr>
          <p:cNvSpPr/>
          <p:nvPr/>
        </p:nvSpPr>
        <p:spPr>
          <a:xfrm>
            <a:off x="7315200" y="1828800"/>
            <a:ext cx="1371600" cy="1371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D513F3-D0C8-91C7-DC35-B321825A0800}"/>
              </a:ext>
            </a:extLst>
          </p:cNvPr>
          <p:cNvSpPr txBox="1"/>
          <p:nvPr/>
        </p:nvSpPr>
        <p:spPr>
          <a:xfrm>
            <a:off x="7086600" y="338328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030A0"/>
                </a:solidFill>
              </a:defRPr>
            </a:pPr>
            <a:r>
              <a:t>2010s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Video</a:t>
            </a:r>
          </a:p>
          <a:p>
            <a:pPr algn="ctr">
              <a:defRPr sz="1400" i="1">
                <a:solidFill>
                  <a:srgbClr val="7F7F7F"/>
                </a:solidFill>
              </a:defRPr>
            </a:pPr>
            <a:r>
              <a:t>100 Mbps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9682337F-1EA9-4D35-83A7-98087A9B3179}"/>
              </a:ext>
            </a:extLst>
          </p:cNvPr>
          <p:cNvSpPr/>
          <p:nvPr/>
        </p:nvSpPr>
        <p:spPr>
          <a:xfrm>
            <a:off x="8778240" y="2377440"/>
            <a:ext cx="731520" cy="27432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B679AB-8449-F840-2313-B2881744F13F}"/>
              </a:ext>
            </a:extLst>
          </p:cNvPr>
          <p:cNvSpPr/>
          <p:nvPr/>
        </p:nvSpPr>
        <p:spPr>
          <a:xfrm>
            <a:off x="9601200" y="1828800"/>
            <a:ext cx="1371600" cy="1371600"/>
          </a:xfrm>
          <a:prstGeom prst="ellipse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CFD30A-4F26-D069-4D13-8FB98B7D026D}"/>
              </a:ext>
            </a:extLst>
          </p:cNvPr>
          <p:cNvSpPr txBox="1"/>
          <p:nvPr/>
        </p:nvSpPr>
        <p:spPr>
          <a:xfrm>
            <a:off x="9372600" y="338328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5A24"/>
                </a:solidFill>
              </a:defRPr>
            </a:pPr>
            <a:r>
              <a:t>2020s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IoT</a:t>
            </a:r>
          </a:p>
          <a:p>
            <a:pPr algn="ctr">
              <a:defRPr sz="1400" i="1">
                <a:solidFill>
                  <a:srgbClr val="7F7F7F"/>
                </a:solidFill>
              </a:defRPr>
            </a:pPr>
            <a:r>
              <a:t>10 Gbps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C473E711-BE42-AC1C-A993-6DDFDDCADB4A}"/>
              </a:ext>
            </a:extLst>
          </p:cNvPr>
          <p:cNvSpPr/>
          <p:nvPr/>
        </p:nvSpPr>
        <p:spPr>
          <a:xfrm>
            <a:off x="11064240" y="2377440"/>
            <a:ext cx="731520" cy="27432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40275F-D864-F283-3F4F-C7EC0365313F}"/>
              </a:ext>
            </a:extLst>
          </p:cNvPr>
          <p:cNvSpPr/>
          <p:nvPr/>
        </p:nvSpPr>
        <p:spPr>
          <a:xfrm>
            <a:off x="11887200" y="1828800"/>
            <a:ext cx="1371600" cy="1371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8EA464-E77E-DB72-FD1D-7957371CF4A5}"/>
              </a:ext>
            </a:extLst>
          </p:cNvPr>
          <p:cNvSpPr txBox="1"/>
          <p:nvPr/>
        </p:nvSpPr>
        <p:spPr>
          <a:xfrm>
            <a:off x="11658600" y="3383280"/>
            <a:ext cx="1828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B050"/>
                </a:solidFill>
              </a:defRPr>
            </a:pPr>
            <a:r>
              <a:t>2030s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AI</a:t>
            </a:r>
          </a:p>
          <a:p>
            <a:pPr algn="ctr">
              <a:defRPr sz="1400" i="1">
                <a:solidFill>
                  <a:srgbClr val="7F7F7F"/>
                </a:solidFill>
              </a:defRPr>
            </a:pPr>
            <a:r>
              <a:t>1 Tbps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07CD1C-D36E-BFC4-9608-EDE7AF8335AC}"/>
              </a:ext>
            </a:extLst>
          </p:cNvPr>
          <p:cNvSpPr txBox="1"/>
          <p:nvPr/>
        </p:nvSpPr>
        <p:spPr>
          <a:xfrm>
            <a:off x="18288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15A24"/>
                </a:solidFill>
              </a:defRPr>
            </a:pPr>
            <a:r>
              <a:t>📈 Speed increased 400,000x in 40 years!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060F30-98C8-5383-704F-46B26168DB3E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7D07C3-05A0-06D1-08FE-AD6A0E2FB934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812236-74C1-0F25-6196-32501360C6BC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54647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39D0E-B399-D22F-5BB7-E5D7382F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CAEB-9244-8534-B376-0E1748077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2971418" cy="1143000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lang="en-US" dirty="0"/>
              <a:t>Activities</a:t>
            </a:r>
            <a:endParaRPr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97042D-0DBC-AFFC-7E28-D59EC3E7286C}"/>
              </a:ext>
            </a:extLst>
          </p:cNvPr>
          <p:cNvSpPr/>
          <p:nvPr/>
        </p:nvSpPr>
        <p:spPr>
          <a:xfrm>
            <a:off x="4767943" y="1675469"/>
            <a:ext cx="4611188" cy="395462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lang="en-US" sz="3000" dirty="0"/>
              <a:t>Let’s Think and Try</a:t>
            </a:r>
            <a:endParaRPr sz="3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D5E991-4847-46C8-43FB-B5A59A10CA6D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EBBC84-4746-5DAE-CF56-463A31E49F29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32401B-3FBD-7219-1B60-300BA4294E8A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30509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C8084-C1EA-443C-E5AE-2310C75D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599A-A71C-EA2D-1685-2E20E25D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7"/>
            <a:ext cx="12971418" cy="1723979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lang="en-US" dirty="0"/>
              <a:t>Activity 1</a:t>
            </a:r>
            <a:endParaRPr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BB45A2-1A1A-AE1B-8CB2-82876803D680}"/>
              </a:ext>
            </a:extLst>
          </p:cNvPr>
          <p:cNvSpPr/>
          <p:nvPr/>
        </p:nvSpPr>
        <p:spPr>
          <a:xfrm>
            <a:off x="4781006" y="2276361"/>
            <a:ext cx="4611188" cy="395462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BB42B6-CA32-BA6C-13F6-73361E3F7651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A58135-40EB-A605-979C-40457EF205D4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6692FA-F411-B16D-DE22-071B13D0E840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44000-5415-9288-EDA7-78542D65DFA2}"/>
              </a:ext>
            </a:extLst>
          </p:cNvPr>
          <p:cNvSpPr txBox="1"/>
          <p:nvPr/>
        </p:nvSpPr>
        <p:spPr>
          <a:xfrm>
            <a:off x="5551714" y="2599509"/>
            <a:ext cx="30697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كل مجموعة تختار تحدٍ من عصر اتصالات معين</a:t>
            </a:r>
          </a:p>
          <a:p>
            <a:pPr algn="ctr"/>
            <a:r>
              <a:rPr lang="ar-EG" sz="2400" b="1" dirty="0">
                <a:solidFill>
                  <a:schemeClr val="bg1"/>
                </a:solidFill>
              </a:rPr>
              <a:t>يقدموا حل باستخدام تقنيات العصر التالي</a:t>
            </a:r>
          </a:p>
          <a:p>
            <a:pPr algn="ctr"/>
            <a:r>
              <a:rPr lang="ar-EG" sz="2400" b="1" dirty="0">
                <a:solidFill>
                  <a:schemeClr val="bg1"/>
                </a:solidFill>
              </a:rPr>
              <a:t>مثال:</a:t>
            </a:r>
          </a:p>
          <a:p>
            <a:pPr algn="ctr"/>
            <a:r>
              <a:rPr lang="ar-EG" sz="2400" b="1" dirty="0">
                <a:solidFill>
                  <a:schemeClr val="bg1"/>
                </a:solidFill>
              </a:rPr>
              <a:t>التحدي (من زمن 2</a:t>
            </a:r>
            <a:r>
              <a:rPr lang="en-US" sz="2400" b="1" dirty="0">
                <a:solidFill>
                  <a:schemeClr val="bg1"/>
                </a:solidFill>
              </a:rPr>
              <a:t>G): </a:t>
            </a:r>
            <a:r>
              <a:rPr lang="ar-EG" sz="2400" b="1" dirty="0">
                <a:solidFill>
                  <a:schemeClr val="bg1"/>
                </a:solidFill>
              </a:rPr>
              <a:t>بطء الإنترنت</a:t>
            </a:r>
          </a:p>
          <a:p>
            <a:pPr algn="ctr"/>
            <a:r>
              <a:rPr lang="ar-EG" sz="2400" b="1" dirty="0">
                <a:solidFill>
                  <a:schemeClr val="bg1"/>
                </a:solidFill>
              </a:rPr>
              <a:t>الحل (باستخدام 3</a:t>
            </a:r>
            <a:r>
              <a:rPr lang="en-US" sz="2400" b="1" dirty="0">
                <a:solidFill>
                  <a:schemeClr val="bg1"/>
                </a:solidFill>
              </a:rPr>
              <a:t>G): </a:t>
            </a:r>
            <a:r>
              <a:rPr lang="ar-EG" sz="2400" b="1" dirty="0">
                <a:solidFill>
                  <a:schemeClr val="bg1"/>
                </a:solidFill>
              </a:rPr>
              <a:t>تقنية </a:t>
            </a:r>
            <a:r>
              <a:rPr lang="en-US" sz="2400" b="1" dirty="0">
                <a:solidFill>
                  <a:schemeClr val="bg1"/>
                </a:solidFill>
              </a:rPr>
              <a:t>UMTS </a:t>
            </a:r>
            <a:r>
              <a:rPr lang="ar-EG" sz="2400" b="1" dirty="0">
                <a:solidFill>
                  <a:schemeClr val="bg1"/>
                </a:solidFill>
              </a:rPr>
              <a:t>لسرعات أعلى</a:t>
            </a:r>
          </a:p>
          <a:p>
            <a:pPr algn="ctr"/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515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100C4-DDF4-B731-8116-7B7BC69B6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9A480-6359-4F24-E1F3-AEBA3588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7"/>
            <a:ext cx="12971418" cy="1723979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lang="en-US" dirty="0"/>
              <a:t>Activity 2</a:t>
            </a:r>
            <a:endParaRPr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C4E374-9558-63A6-D8B3-5882621C3F77}"/>
              </a:ext>
            </a:extLst>
          </p:cNvPr>
          <p:cNvSpPr/>
          <p:nvPr/>
        </p:nvSpPr>
        <p:spPr>
          <a:xfrm>
            <a:off x="4781006" y="2142309"/>
            <a:ext cx="4846320" cy="476794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85E703-BD12-96C8-36A2-D94488F51680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AF583E-5204-E052-71B8-2EA4C306082E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286660-8B16-FC6A-0433-C0D92C6C4F43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7C008-2AAD-1F01-BBB2-C99465932F5E}"/>
              </a:ext>
            </a:extLst>
          </p:cNvPr>
          <p:cNvSpPr txBox="1"/>
          <p:nvPr/>
        </p:nvSpPr>
        <p:spPr>
          <a:xfrm>
            <a:off x="5447211" y="2599509"/>
            <a:ext cx="3592285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500" b="1" dirty="0">
                <a:solidFill>
                  <a:schemeClr val="bg1"/>
                </a:solidFill>
              </a:rPr>
              <a:t>كل مهندس يختار خدمة أو تطبيق محبوب</a:t>
            </a:r>
          </a:p>
          <a:p>
            <a:pPr algn="ctr"/>
            <a:r>
              <a:rPr lang="ar-EG" sz="2500" b="1" dirty="0">
                <a:solidFill>
                  <a:schemeClr val="bg1"/>
                </a:solidFill>
              </a:rPr>
              <a:t>يبحث عن أي جيل من الاتصالات جعل هذا التطبيق ممكناً</a:t>
            </a:r>
          </a:p>
          <a:p>
            <a:pPr algn="ctr"/>
            <a:r>
              <a:rPr lang="ar-EG" sz="2500" b="1" dirty="0">
                <a:solidFill>
                  <a:schemeClr val="bg1"/>
                </a:solidFill>
              </a:rPr>
              <a:t>الأمثلة:</a:t>
            </a:r>
          </a:p>
          <a:p>
            <a:pPr algn="ctr"/>
            <a:r>
              <a:rPr lang="ar-EG" sz="2500" b="1" dirty="0">
                <a:solidFill>
                  <a:schemeClr val="bg1"/>
                </a:solidFill>
              </a:rPr>
              <a:t>واتساب → ممكن بوجود 3</a:t>
            </a:r>
            <a:r>
              <a:rPr lang="en-US" sz="2500" b="1" dirty="0">
                <a:solidFill>
                  <a:schemeClr val="bg1"/>
                </a:solidFill>
              </a:rPr>
              <a:t>G</a:t>
            </a:r>
          </a:p>
          <a:p>
            <a:pPr algn="ctr"/>
            <a:r>
              <a:rPr lang="ar-EG" sz="2500" b="1" dirty="0">
                <a:solidFill>
                  <a:schemeClr val="bg1"/>
                </a:solidFill>
              </a:rPr>
              <a:t>نتفليكس → ازدهر مع 4</a:t>
            </a:r>
            <a:r>
              <a:rPr lang="en-US" sz="2500" b="1" dirty="0">
                <a:solidFill>
                  <a:schemeClr val="bg1"/>
                </a:solidFill>
              </a:rPr>
              <a:t>G</a:t>
            </a:r>
          </a:p>
          <a:p>
            <a:pPr algn="ctr"/>
            <a:r>
              <a:rPr lang="ar-EG" sz="2500" b="1" dirty="0">
                <a:solidFill>
                  <a:schemeClr val="bg1"/>
                </a:solidFill>
              </a:rPr>
              <a:t>الساعات الذكية → تعمل بكفاءة مع 5</a:t>
            </a:r>
            <a:r>
              <a:rPr lang="en-US" sz="2500" b="1" dirty="0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995446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2F94-1307-14BA-37E2-2C63EBAF5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8FD8-7C66-2050-4266-EF7E06F9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7"/>
            <a:ext cx="12971418" cy="1723979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lang="en-US" dirty="0"/>
              <a:t>Activity </a:t>
            </a:r>
            <a:r>
              <a:rPr lang="ar-EG" dirty="0"/>
              <a:t>3</a:t>
            </a:r>
            <a:endParaRPr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10E449-4806-FFA4-8C0C-F68071D4F899}"/>
              </a:ext>
            </a:extLst>
          </p:cNvPr>
          <p:cNvSpPr/>
          <p:nvPr/>
        </p:nvSpPr>
        <p:spPr>
          <a:xfrm>
            <a:off x="4585063" y="1810702"/>
            <a:ext cx="4950823" cy="476794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F96598-BFA5-A52F-C6EB-6EDCFA30919B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C84654-402F-8615-5086-5CD1E1E453C3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AD9EF9-9A9F-4C30-3A9E-4CC8CC02BF4D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DCC89F-40A9-3852-7EF7-465BD8955C17}"/>
              </a:ext>
            </a:extLst>
          </p:cNvPr>
          <p:cNvSpPr txBox="1"/>
          <p:nvPr/>
        </p:nvSpPr>
        <p:spPr>
          <a:xfrm>
            <a:off x="5447211" y="2599509"/>
            <a:ext cx="3592285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500" b="1" dirty="0">
                <a:solidFill>
                  <a:schemeClr val="bg1"/>
                </a:solidFill>
              </a:rPr>
              <a:t>عرض حالات نجاح شركات استفادت من كل جيل</a:t>
            </a:r>
          </a:p>
          <a:p>
            <a:pPr algn="ctr"/>
            <a:r>
              <a:rPr lang="ar-EG" sz="2500" b="1" dirty="0">
                <a:solidFill>
                  <a:schemeClr val="bg1"/>
                </a:solidFill>
              </a:rPr>
              <a:t> يحللوا أسباب النجاح</a:t>
            </a:r>
          </a:p>
          <a:p>
            <a:pPr algn="ctr"/>
            <a:r>
              <a:rPr lang="ar-EG" sz="2500" b="1" dirty="0">
                <a:solidFill>
                  <a:schemeClr val="bg1"/>
                </a:solidFill>
              </a:rPr>
              <a:t>الحالات:</a:t>
            </a:r>
          </a:p>
          <a:p>
            <a:pPr algn="ctr"/>
            <a:r>
              <a:rPr lang="ar-EG" sz="2500" b="1" dirty="0">
                <a:solidFill>
                  <a:schemeClr val="bg1"/>
                </a:solidFill>
              </a:rPr>
              <a:t>فودافون وانتقالها من 2</a:t>
            </a:r>
            <a:r>
              <a:rPr lang="en-US" sz="2500" b="1" dirty="0">
                <a:solidFill>
                  <a:schemeClr val="bg1"/>
                </a:solidFill>
              </a:rPr>
              <a:t>G </a:t>
            </a:r>
            <a:r>
              <a:rPr lang="ar-EG" sz="2500" b="1" dirty="0">
                <a:solidFill>
                  <a:schemeClr val="bg1"/>
                </a:solidFill>
              </a:rPr>
              <a:t>لـ 3</a:t>
            </a:r>
            <a:r>
              <a:rPr lang="en-US" sz="2500" b="1" dirty="0">
                <a:solidFill>
                  <a:schemeClr val="bg1"/>
                </a:solidFill>
              </a:rPr>
              <a:t>G</a:t>
            </a:r>
          </a:p>
          <a:p>
            <a:pPr algn="ctr"/>
            <a:r>
              <a:rPr lang="ar-EG" sz="2500" b="1" dirty="0">
                <a:solidFill>
                  <a:schemeClr val="bg1"/>
                </a:solidFill>
              </a:rPr>
              <a:t>نيتفليكس واستفادتها من 4</a:t>
            </a:r>
            <a:r>
              <a:rPr lang="en-US" sz="2500" b="1" dirty="0">
                <a:solidFill>
                  <a:schemeClr val="bg1"/>
                </a:solidFill>
              </a:rPr>
              <a:t>G</a:t>
            </a:r>
          </a:p>
          <a:p>
            <a:pPr algn="ctr"/>
            <a:r>
              <a:rPr lang="ar-EG" sz="2500" b="1" dirty="0">
                <a:solidFill>
                  <a:schemeClr val="bg1"/>
                </a:solidFill>
              </a:rPr>
              <a:t>تسلا وتكاملها مع 5</a:t>
            </a:r>
            <a:r>
              <a:rPr lang="en-US" sz="2500" b="1" dirty="0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680088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5G: The Game Changer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rPr dirty="0"/>
              <a:t>What Makes 5G Revolutionary?</a:t>
            </a:r>
          </a:p>
          <a:p>
            <a:br>
              <a:rPr dirty="0"/>
            </a:br>
            <a:r>
              <a:rPr dirty="0"/>
              <a:t>⚡ Ultra-Fast Speed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10 Gbps: Download 4K movie in 6 seconds</a:t>
            </a:r>
          </a:p>
          <a:p>
            <a:br>
              <a:rPr dirty="0"/>
            </a:br>
            <a:r>
              <a:rPr dirty="0"/>
              <a:t>🎯 Ultra-Low Latency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1 millisecond: Real-time response (4G = 50ms)</a:t>
            </a:r>
          </a:p>
          <a:p>
            <a:br>
              <a:rPr dirty="0"/>
            </a:br>
            <a:r>
              <a:rPr dirty="0"/>
              <a:t>📱 Massive Connectivity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1M devices/km²: Smart cities become reality</a:t>
            </a:r>
          </a:p>
          <a:p>
            <a:br>
              <a:rPr dirty="0"/>
            </a:br>
            <a:r>
              <a:rPr dirty="0"/>
              <a:t>🔋 Energy Efficiency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90% less power: 10-year battery for IoT devices</a:t>
            </a:r>
          </a:p>
          <a:p>
            <a:br>
              <a:rPr dirty="0"/>
            </a:br>
            <a:r>
              <a:rPr dirty="0"/>
              <a:t>🌐 Network Slicing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Virtual networks: Custom network for each use case</a:t>
            </a:r>
            <a:r>
              <a:rPr lang="ar-EG" dirty="0"/>
              <a:t>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5G Core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943600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B050"/>
                </a:solidFill>
              </a:defRPr>
            </a:pPr>
            <a:r>
              <a:rPr dirty="0"/>
              <a:t>📡 Massive MIMO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64-256 antennas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Beamforming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3x capacity</a:t>
            </a:r>
          </a:p>
          <a:p>
            <a:pPr>
              <a:defRPr sz="1200" i="1">
                <a:solidFill>
                  <a:srgbClr val="7F7F7F"/>
                </a:solidFill>
              </a:defRPr>
            </a:pPr>
            <a:r>
              <a:rPr dirty="0"/>
              <a:t>💡 Like having 100 </a:t>
            </a:r>
            <a:r>
              <a:rPr dirty="0" err="1"/>
              <a:t>WiFi</a:t>
            </a:r>
            <a:r>
              <a:rPr dirty="0"/>
              <a:t> routers in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5943600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🌊 </a:t>
            </a:r>
            <a:r>
              <a:rPr dirty="0" err="1"/>
              <a:t>mmWave</a:t>
            </a:r>
            <a:r>
              <a:rPr lang="en-US" dirty="0"/>
              <a:t>(</a:t>
            </a:r>
            <a:r>
              <a:rPr lang="en-US" sz="2000" b="1" dirty="0"/>
              <a:t>millimeter wave)</a:t>
            </a:r>
            <a:endParaRPr dirty="0"/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24-100 GHz spectrum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Ultra-high speed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Short range</a:t>
            </a:r>
          </a:p>
          <a:p>
            <a:pPr>
              <a:defRPr sz="1200" i="1">
                <a:solidFill>
                  <a:srgbClr val="7F7F7F"/>
                </a:solidFill>
              </a:defRPr>
            </a:pPr>
            <a:r>
              <a:rPr dirty="0"/>
              <a:t>💡 Using new radio highways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5943600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t>🔪 Network Slicing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t>• Virtual networks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t>• Custom QoS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t>• Isolated resources</a:t>
            </a:r>
          </a:p>
          <a:p>
            <a:pPr>
              <a:defRPr sz="1200" i="1">
                <a:solidFill>
                  <a:srgbClr val="7F7F7F"/>
                </a:solidFill>
              </a:defRPr>
            </a:pPr>
            <a:r>
              <a:t>💡 One network, infinite possibilities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114800"/>
            <a:ext cx="5943600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7030A0"/>
                </a:solidFill>
              </a:defRPr>
            </a:pPr>
            <a:r>
              <a:t>☁️ Edge Computing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t>• Local processing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t>• 1ms latency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t>• Real-time apps</a:t>
            </a:r>
          </a:p>
          <a:p>
            <a:pPr>
              <a:defRPr sz="1200" i="1">
                <a:solidFill>
                  <a:srgbClr val="7F7F7F"/>
                </a:solidFill>
              </a:defRPr>
            </a:pPr>
            <a:r>
              <a:t>💡 Cloud at your doorstep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C920-12E6-598E-973B-815D3895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D8F3-9E07-B264-8F35-E6F73B077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74638"/>
            <a:ext cx="8229600" cy="1143000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lang="en-US" dirty="0"/>
              <a:t>Think for Minute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B47C58-AF6D-4BF1-FAE6-E7BB9932D24B}"/>
              </a:ext>
            </a:extLst>
          </p:cNvPr>
          <p:cNvSpPr/>
          <p:nvPr/>
        </p:nvSpPr>
        <p:spPr>
          <a:xfrm>
            <a:off x="1528354" y="2129245"/>
            <a:ext cx="10881360" cy="2913017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EG" sz="3000" b="1" dirty="0">
                <a:solidFill>
                  <a:schemeClr val="tx1"/>
                </a:solidFill>
              </a:rPr>
              <a:t>السؤال:</a:t>
            </a:r>
          </a:p>
          <a:p>
            <a:r>
              <a:rPr lang="ar-EG" sz="3000" b="1" dirty="0">
                <a:solidFill>
                  <a:schemeClr val="tx1"/>
                </a:solidFill>
              </a:rPr>
              <a:t>"التردد العالي في </a:t>
            </a:r>
            <a:r>
              <a:rPr lang="en-US" sz="3000" b="1" dirty="0" err="1">
                <a:solidFill>
                  <a:schemeClr val="tx1"/>
                </a:solidFill>
              </a:rPr>
              <a:t>mmWave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ar-EG" sz="3000" b="1" dirty="0">
                <a:solidFill>
                  <a:schemeClr val="tx1"/>
                </a:solidFill>
              </a:rPr>
              <a:t>زاد السرعة، لكنه قلل المدى. إذن هل هو حل عملي؟"</a:t>
            </a:r>
          </a:p>
          <a:p>
            <a:pPr algn="l">
              <a:defRPr sz="2000" b="1">
                <a:solidFill>
                  <a:srgbClr val="F15A24"/>
                </a:solidFill>
              </a:defRPr>
            </a:pPr>
            <a:endParaRPr sz="30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4CDE9F-56F1-AEB6-1A1B-6EC61E76324D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1176D-DDD5-814F-BBC6-56DE32016AB4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2B853-4C19-A012-87EB-311BBCEAF549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17205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FC60-EE43-83BC-74C0-276FC91A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B848-E5DA-EB55-DC0A-B65309DC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74638"/>
            <a:ext cx="8229600" cy="1143000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lang="en-US" dirty="0"/>
              <a:t>Think for Minute</a:t>
            </a: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AA3086B-57C5-9146-B189-66026FFB8B54}"/>
              </a:ext>
            </a:extLst>
          </p:cNvPr>
          <p:cNvSpPr/>
          <p:nvPr/>
        </p:nvSpPr>
        <p:spPr>
          <a:xfrm>
            <a:off x="1894114" y="2129246"/>
            <a:ext cx="10842171" cy="378822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🌊📡</a:t>
            </a:r>
          </a:p>
          <a:p>
            <a:pPr algn="ctr"/>
            <a:r>
              <a:rPr lang="en-US" sz="3000" b="1" dirty="0" err="1">
                <a:solidFill>
                  <a:schemeClr val="tx1"/>
                </a:solidFill>
              </a:rPr>
              <a:t>mmWave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  <a:r>
              <a:rPr lang="ar-EG" sz="3000" b="1" dirty="0">
                <a:solidFill>
                  <a:schemeClr val="tx1"/>
                </a:solidFill>
              </a:rPr>
              <a:t>هو الحل الأمثل لأماكن محددة، وليس للتغطية الشاملة:</a:t>
            </a:r>
          </a:p>
          <a:p>
            <a:pPr algn="ctr"/>
            <a:r>
              <a:rPr lang="en-US" sz="3000" b="1" dirty="0">
                <a:solidFill>
                  <a:schemeClr val="tx1"/>
                </a:solidFill>
              </a:rPr>
              <a:t> </a:t>
            </a:r>
            <a:r>
              <a:rPr lang="ar-EG" sz="3000" b="1" dirty="0">
                <a:solidFill>
                  <a:schemeClr val="tx1"/>
                </a:solidFill>
              </a:rPr>
              <a:t>ممتاز للأماكن المزدحمة: ملاعب، مطارات، مراكز تجارية</a:t>
            </a:r>
          </a:p>
          <a:p>
            <a:pPr algn="ctr"/>
            <a:r>
              <a:rPr lang="en-US" sz="3000" b="1" dirty="0">
                <a:solidFill>
                  <a:schemeClr val="tx1"/>
                </a:solidFill>
              </a:rPr>
              <a:t> </a:t>
            </a:r>
            <a:r>
              <a:rPr lang="ar-EG" sz="3000" b="1" dirty="0">
                <a:solidFill>
                  <a:schemeClr val="tx1"/>
                </a:solidFill>
              </a:rPr>
              <a:t>ضروري للتطبيقات فائقة السرعة: مصانع ذكية، جراحة عن بُعد</a:t>
            </a:r>
          </a:p>
          <a:p>
            <a:pPr algn="ctr"/>
            <a:br>
              <a:rPr lang="ar-EG" sz="3000" b="1" dirty="0">
                <a:solidFill>
                  <a:schemeClr val="tx1"/>
                </a:solidFill>
              </a:rPr>
            </a:br>
            <a:endParaRPr sz="30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5BFA38-42B0-E6AB-B221-059473F40CC2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9EBCE-D49F-20FF-1D48-69C3643BABF1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EA7D21-07AB-9C14-A2CA-60DBB7E0D167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45249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5G in Action: Real Applications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defRPr sz="2200" b="1">
                <a:solidFill>
                  <a:srgbClr val="F15A24"/>
                </a:solidFill>
              </a:defRPr>
            </a:pPr>
            <a:r>
              <a:rPr dirty="0"/>
              <a:t>🏥 Smart Healthcare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Remote Surgery: Doctor in NY operates in LA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AI Diagnostics: Real-time MRI analysis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Ambulance Connected: Hospital prepares before arrival</a:t>
            </a:r>
          </a:p>
          <a:p>
            <a:pPr>
              <a:defRPr sz="2200" b="1">
                <a:solidFill>
                  <a:srgbClr val="F15A24"/>
                </a:solidFill>
              </a:defRPr>
            </a:pPr>
            <a:r>
              <a:rPr dirty="0"/>
              <a:t>🏭 Industry 4.0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Smart Factories: 1000s of sensors connected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AR Maintenance: See instructions overlaid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Robot Collaboration: Humans &amp; robots work together</a:t>
            </a:r>
          </a:p>
          <a:p>
            <a:pPr>
              <a:defRPr sz="2200" b="1">
                <a:solidFill>
                  <a:srgbClr val="F15A24"/>
                </a:solidFill>
              </a:defRPr>
            </a:pPr>
            <a:r>
              <a:rPr dirty="0"/>
              <a:t>🚗 Connected Vehicles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V2X Communication: Cars talk to everything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Real-time Maps: See accidents instantly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Remote Driving: Control car from anywhere</a:t>
            </a:r>
          </a:p>
          <a:p>
            <a:pPr>
              <a:defRPr sz="2200" b="1">
                <a:solidFill>
                  <a:srgbClr val="F15A24"/>
                </a:solidFill>
              </a:defRPr>
            </a:pPr>
            <a:r>
              <a:rPr dirty="0"/>
              <a:t>🎮 Entertainment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Cloud Gaming: No console needed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8K VR Streaming: Like being there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• Holographic Calls: Star Wars is here!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5G Impact: The Numbers Speak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5486400" cy="182880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$13.2 Trillion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Global economic impact by 2035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2286000"/>
            <a:ext cx="5486400" cy="1828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22.3 Million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New jobs created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5486400" cy="18288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75%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Mobile traffic will be 5G by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4572000"/>
            <a:ext cx="5486400" cy="18288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$1.5 Trillion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Revenue for industries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Turn: Design a 5G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4572000"/>
          </a:xfrm>
          <a:prstGeom prst="roundRect">
            <a:avLst/>
          </a:prstGeom>
          <a:solidFill>
            <a:srgbClr val="F0FFF0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B050"/>
                </a:solidFill>
              </a:defRPr>
            </a:pPr>
            <a:r>
              <a:t>🚀 Challenge: Create Your 5G Application</a:t>
            </a:r>
          </a:p>
          <a:p>
            <a:br/>
            <a:r>
              <a:t>Think of a problem in Egypt that 5G could solve:</a:t>
            </a:r>
          </a:p>
          <a:p>
            <a:pPr algn="ctr">
              <a:defRPr sz="2000">
                <a:solidFill>
                  <a:srgbClr val="0070C0"/>
                </a:solidFill>
              </a:defRPr>
            </a:pPr>
            <a:r>
              <a:t>🚦 Traffic Management</a:t>
            </a:r>
          </a:p>
          <a:p>
            <a:pPr algn="ctr">
              <a:defRPr sz="2000">
                <a:solidFill>
                  <a:srgbClr val="0070C0"/>
                </a:solidFill>
              </a:defRPr>
            </a:pPr>
            <a:r>
              <a:t>🌾 Smart Agriculture</a:t>
            </a:r>
          </a:p>
          <a:p>
            <a:pPr algn="ctr">
              <a:defRPr sz="2000">
                <a:solidFill>
                  <a:srgbClr val="0070C0"/>
                </a:solidFill>
              </a:defRPr>
            </a:pPr>
            <a:r>
              <a:t>📚 Remote Education</a:t>
            </a:r>
          </a:p>
          <a:p>
            <a:pPr algn="ctr">
              <a:defRPr sz="2000">
                <a:solidFill>
                  <a:srgbClr val="0070C0"/>
                </a:solidFill>
              </a:defRPr>
            </a:pPr>
            <a:r>
              <a:t>🏺 Tourism Enhancement</a:t>
            </a:r>
          </a:p>
          <a:p>
            <a:br/>
            <a:r>
              <a:t>⏱️ 3 minutes to design → 2 minutes to share!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6G: Beyond Imagination (2030+)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400" b="1">
                <a:solidFill>
                  <a:srgbClr val="F15A24"/>
                </a:solidFill>
              </a:defRPr>
            </a:pPr>
            <a:r>
              <a:rPr dirty="0"/>
              <a:t>If 5G is Revolutionary, 6G is Evolutionary!</a:t>
            </a:r>
          </a:p>
          <a:p>
            <a:br>
              <a:rPr dirty="0"/>
            </a:br>
            <a:r>
              <a:rPr dirty="0"/>
              <a:t>🧠 AI-Native Networks: Networks that think and learn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→ Self-optimizing, self-healing, self-configuring</a:t>
            </a:r>
          </a:p>
          <a:p>
            <a:br>
              <a:rPr dirty="0"/>
            </a:br>
            <a:r>
              <a:rPr dirty="0"/>
              <a:t>🌍 Truly Global Coverage: Internet everywhere on Earth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→ Satellites + terrestrial + underwater networks</a:t>
            </a:r>
          </a:p>
          <a:p>
            <a:br>
              <a:rPr dirty="0"/>
            </a:br>
            <a:r>
              <a:rPr dirty="0"/>
              <a:t>⚡ Terabit Speeds: 1000x faster than 5G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→ Download entire Netflix library in 1 second</a:t>
            </a:r>
          </a:p>
          <a:p>
            <a:br>
              <a:rPr dirty="0"/>
            </a:br>
            <a:r>
              <a:rPr dirty="0"/>
              <a:t>🔮 Digital Twin Everything: Virtual copy of physical world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→ Test changes before implementing</a:t>
            </a:r>
          </a:p>
          <a:p>
            <a:br>
              <a:rPr dirty="0"/>
            </a:b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6G Breakthrough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3429000"/>
            <a:ext cx="2743200" cy="1371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🛰️ Satellite Integration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Space-terrestrial networks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6600" y="5408734"/>
            <a:ext cx="2743200" cy="137160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🤖 AI Everywhere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Intelligence at every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5408734"/>
            <a:ext cx="2743200" cy="1371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🌐 Holographic Communication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True 3D presence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429000"/>
            <a:ext cx="2743200" cy="13716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⚛️ Quantum Security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Unhackable networks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599" y="1449265"/>
            <a:ext cx="2743200" cy="1371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🔬 THz Frequencies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rPr dirty="0"/>
              <a:t>Using 0.1-10 THz spectrum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449265"/>
            <a:ext cx="2743200" cy="1371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🌊 Underwater Networks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Connecting the oceans</a:t>
            </a:r>
          </a:p>
        </p:txBody>
      </p:sp>
      <p:sp>
        <p:nvSpPr>
          <p:cNvPr id="9" name="Oval 8"/>
          <p:cNvSpPr/>
          <p:nvPr/>
        </p:nvSpPr>
        <p:spPr>
          <a:xfrm>
            <a:off x="6172200" y="2971800"/>
            <a:ext cx="2286000" cy="2286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15A24"/>
                </a:solidFill>
              </a:defRPr>
            </a:pPr>
            <a:r>
              <a:t>6G</a:t>
            </a:r>
          </a:p>
          <a:p>
            <a:r>
              <a:t>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6G Will Enable Science Fiction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900" b="1">
                <a:solidFill>
                  <a:srgbClr val="7030A0"/>
                </a:solidFill>
              </a:defRPr>
            </a:pPr>
            <a:r>
              <a:rPr dirty="0"/>
              <a:t>🧠 Brain-Computer Interface: Think it, do it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Control devices with thoughts, help paralyzed walk</a:t>
            </a:r>
          </a:p>
          <a:p>
            <a:pPr>
              <a:defRPr sz="1900" b="1">
                <a:solidFill>
                  <a:srgbClr val="7030A0"/>
                </a:solidFill>
              </a:defRPr>
            </a:pPr>
            <a:r>
              <a:rPr dirty="0"/>
              <a:t>🏛️ Digital Nations: Countries in metaverse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Work, study, live in virtual worlds</a:t>
            </a:r>
          </a:p>
          <a:p>
            <a:pPr>
              <a:defRPr sz="1900" b="1">
                <a:solidFill>
                  <a:srgbClr val="7030A0"/>
                </a:solidFill>
              </a:defRPr>
            </a:pPr>
            <a:r>
              <a:rPr dirty="0"/>
              <a:t>🌍 Climate AI: Predict &amp; prevent disasters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Save lives with 100% accuracy</a:t>
            </a:r>
          </a:p>
          <a:p>
            <a:pPr>
              <a:defRPr sz="1900" b="1">
                <a:solidFill>
                  <a:srgbClr val="7030A0"/>
                </a:solidFill>
              </a:defRPr>
            </a:pPr>
            <a:r>
              <a:rPr dirty="0"/>
              <a:t>👻 Holographic Presence: Be in 10 places at once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Physical presence anywhere instantly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5G vs 6G: Evolution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 b="1">
                <a:solidFill>
                  <a:srgbClr val="F15A24"/>
                </a:solidFill>
              </a:defRPr>
            </a:pPr>
            <a:r>
              <a:t>Feature         5G (Now)             6G (2030+)</a:t>
            </a:r>
          </a:p>
          <a:p>
            <a:pPr>
              <a:defRPr sz="1200">
                <a:solidFill>
                  <a:srgbClr val="7F7F7F"/>
                </a:solidFill>
              </a:defRPr>
            </a:pPr>
            <a:r>
              <a:t>━━━━━━━━━━━━ ━━━━━━━━━━ ━━━━━━━━━━</a:t>
            </a:r>
          </a:p>
          <a:p>
            <a:pPr>
              <a:defRPr sz="1600">
                <a:solidFill>
                  <a:srgbClr val="00B050"/>
                </a:solidFill>
                <a:latin typeface="Consolas"/>
              </a:defRPr>
            </a:pPr>
            <a:r>
              <a:t>Speed           10 Gbps              1 Tbps (100x)</a:t>
            </a:r>
          </a:p>
          <a:p>
            <a:pPr>
              <a:defRPr sz="1600">
                <a:solidFill>
                  <a:srgbClr val="00B050"/>
                </a:solidFill>
                <a:latin typeface="Consolas"/>
              </a:defRPr>
            </a:pPr>
            <a:r>
              <a:t>Latency         1 ms                 0.1 ms (10x)</a:t>
            </a:r>
          </a:p>
          <a:p>
            <a:pPr>
              <a:defRPr sz="1600">
                <a:solidFill>
                  <a:srgbClr val="00B050"/>
                </a:solidFill>
                <a:latin typeface="Consolas"/>
              </a:defRPr>
            </a:pPr>
            <a:r>
              <a:t>Connections     1M/km²               10M/km² (10x)</a:t>
            </a:r>
          </a:p>
          <a:p>
            <a:pPr>
              <a:defRPr sz="1600">
                <a:solidFill>
                  <a:srgbClr val="2C2C2C"/>
                </a:solidFill>
                <a:latin typeface="Consolas"/>
              </a:defRPr>
            </a:pPr>
            <a:r>
              <a:t>Energy          90% efficient        Near zero energy</a:t>
            </a:r>
          </a:p>
          <a:p>
            <a:pPr>
              <a:defRPr sz="1600">
                <a:solidFill>
                  <a:srgbClr val="2C2C2C"/>
                </a:solidFill>
                <a:latin typeface="Consolas"/>
              </a:defRPr>
            </a:pPr>
            <a:r>
              <a:t>Coverage        Ground only          Ground + Air + Space</a:t>
            </a:r>
          </a:p>
          <a:p>
            <a:pPr>
              <a:defRPr sz="1600">
                <a:solidFill>
                  <a:srgbClr val="2C2C2C"/>
                </a:solidFill>
                <a:latin typeface="Consolas"/>
              </a:defRPr>
            </a:pPr>
            <a:r>
              <a:t>Intelligence    Some AI              AI-native</a:t>
            </a:r>
          </a:p>
          <a:p>
            <a:pPr>
              <a:defRPr sz="1600">
                <a:solidFill>
                  <a:srgbClr val="2C2C2C"/>
                </a:solidFill>
                <a:latin typeface="Consolas"/>
              </a:defRPr>
            </a:pPr>
            <a:r>
              <a:t>Security        Enhanced             Quantum-safe</a:t>
            </a:r>
          </a:p>
          <a:p>
            <a:pPr>
              <a:defRPr sz="1600">
                <a:solidFill>
                  <a:srgbClr val="2C2C2C"/>
                </a:solidFill>
                <a:latin typeface="Consolas"/>
              </a:defRPr>
            </a:pPr>
            <a:r>
              <a:t>Use Cases       IoT, AR/VR           Brain interfaces, Holograms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Transforming Every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🏥 Healthcare 2030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Remote surgery from any distance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AI diagnosis in real-time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Digital twins of patients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🏭 Manufacturing 2030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Fully autonomous factories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Zero-defect production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Predictive maintenance AI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🎓 Education 2030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Holographic teachers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Virtual field trips anywhere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Personalized AI tutors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🌾 Agriculture 2030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Drone swarms monitoring crops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AI predicting exact harvest time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Automated precision farming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Egypt's Digital Future with 5G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50292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15A24"/>
                </a:solidFill>
              </a:defRPr>
            </a:pPr>
            <a:r>
              <a:t>Egypt's 5G Roadmap 🇪🇬</a:t>
            </a:r>
          </a:p>
          <a:p>
            <a:endParaRPr/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✓ $1.8B investment in 5G infrastructure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✓ Smart cities: New Administrative Capital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✓ Digital Egypt Vision 2030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✓ 5G licenses awarded to operators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✓ Focus on tourism, agriculture, healthcare</a:t>
            </a:r>
          </a:p>
          <a:p>
            <a:br/>
            <a:r>
              <a:t>🚀 Egypt aims to be MENA's 5G leader!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Security: The Foundation of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rPr dirty="0"/>
              <a:t>Next-Gen Security Features:</a:t>
            </a:r>
          </a:p>
          <a:p>
            <a:br>
              <a:rPr dirty="0"/>
            </a:br>
            <a:r>
              <a:rPr dirty="0"/>
              <a:t>🔐 5G Security Enhancements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End-to-end encryption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Network slice isolation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AI threat detection</a:t>
            </a:r>
          </a:p>
          <a:p>
            <a:br>
              <a:rPr dirty="0"/>
            </a:br>
            <a:r>
              <a:rPr dirty="0"/>
              <a:t>⚛️ 6G Quantum Security</a:t>
            </a:r>
          </a:p>
          <a:p>
            <a:pPr lvl="1"/>
            <a:r>
              <a:rPr sz="2100" dirty="0"/>
              <a:t>• Quantum key distribution</a:t>
            </a:r>
            <a:r>
              <a:rPr lang="en-US" sz="2100" dirty="0"/>
              <a:t>  </a:t>
            </a:r>
            <a:r>
              <a:rPr lang="en-US" sz="2100" b="1" dirty="0"/>
              <a:t>(QKD)</a:t>
            </a:r>
          </a:p>
          <a:p>
            <a:pPr lvl="2"/>
            <a:r>
              <a:rPr lang="en-US" sz="1700" b="1" dirty="0"/>
              <a:t>What it protects:</a:t>
            </a:r>
            <a:r>
              <a:rPr lang="en-US" sz="1700" dirty="0"/>
              <a:t> The </a:t>
            </a:r>
            <a:r>
              <a:rPr lang="en-US" sz="1700" b="1" dirty="0"/>
              <a:t>key exchange process</a:t>
            </a:r>
            <a:endParaRPr lang="en-US" sz="1700" dirty="0"/>
          </a:p>
          <a:p>
            <a:pPr lvl="2">
              <a:defRPr sz="1600">
                <a:solidFill>
                  <a:srgbClr val="2C2C2C"/>
                </a:solidFill>
              </a:defRPr>
            </a:pPr>
            <a:endParaRPr sz="2100" dirty="0"/>
          </a:p>
          <a:p>
            <a:pPr lvl="1"/>
            <a:r>
              <a:rPr sz="2100" dirty="0"/>
              <a:t>• Post-quantum cryptography</a:t>
            </a:r>
            <a:r>
              <a:rPr lang="en-US" sz="2100" dirty="0"/>
              <a:t> </a:t>
            </a:r>
            <a:r>
              <a:rPr lang="en-US" sz="2100" b="1" dirty="0"/>
              <a:t>(PQC)</a:t>
            </a:r>
          </a:p>
          <a:p>
            <a:pPr lvl="2"/>
            <a:r>
              <a:rPr lang="en-US" sz="1700" b="1" dirty="0"/>
              <a:t>What it protects:</a:t>
            </a:r>
            <a:r>
              <a:rPr lang="en-US" sz="1700" dirty="0"/>
              <a:t> The </a:t>
            </a:r>
            <a:r>
              <a:rPr lang="en-US" sz="1700" b="1" dirty="0"/>
              <a:t>actual data encryption</a:t>
            </a:r>
            <a:r>
              <a:rPr lang="en-US" sz="1700" dirty="0"/>
              <a:t> itself</a:t>
            </a:r>
          </a:p>
          <a:p>
            <a:pPr lvl="2">
              <a:defRPr sz="1600">
                <a:solidFill>
                  <a:srgbClr val="2C2C2C"/>
                </a:solidFill>
              </a:defRPr>
            </a:pPr>
            <a:endParaRPr sz="2100" dirty="0"/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sz="2500" dirty="0"/>
              <a:t>• </a:t>
            </a:r>
            <a:r>
              <a:rPr sz="2500" dirty="0" err="1"/>
              <a:t>Unhackable</a:t>
            </a:r>
            <a:r>
              <a:rPr sz="2500" dirty="0"/>
              <a:t> communications</a:t>
            </a:r>
          </a:p>
          <a:p>
            <a:br>
              <a:rPr dirty="0"/>
            </a:br>
            <a:r>
              <a:rPr dirty="0"/>
              <a:t>🛡️ Zero Trust Architecture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Never trust, always verify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Micro-segmentation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Continuous authentication</a:t>
            </a:r>
          </a:p>
          <a:p>
            <a:br>
              <a:rPr dirty="0"/>
            </a:br>
            <a:r>
              <a:rPr dirty="0"/>
              <a:t>🤖 AI-Powered Defense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Real-time anomaly detection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Predictive threat analysis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Self-healing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Sustainable Connectivity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4572000"/>
          </a:xfrm>
          <a:prstGeom prst="roundRect">
            <a:avLst/>
          </a:prstGeom>
          <a:solidFill>
            <a:srgbClr val="F0FFF0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0B050"/>
                </a:solidFill>
              </a:defRPr>
            </a:pPr>
            <a:r>
              <a:rPr dirty="0"/>
              <a:t>🌱 Green 5G/6G Networks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☀️ Solar-powered base stations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🔋 90% less energy per bit in 5G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♻️ 100% renewable energy goal for 6G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🌡️ AI-optimized cooling systems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📉 Carbon-neutral networks by 2030</a:t>
            </a:r>
          </a:p>
          <a:p>
            <a:br>
              <a:rPr dirty="0"/>
            </a:br>
            <a:r>
              <a:rPr dirty="0"/>
              <a:t>💚 Technology serving planet and people!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Lab Time: Experience 5G Technology!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4572000"/>
          </a:xfrm>
          <a:prstGeom prst="roundRect">
            <a:avLst/>
          </a:prstGeom>
          <a:solidFill>
            <a:srgbClr val="F0FFF0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0B050"/>
                </a:solidFill>
              </a:defRPr>
            </a:pPr>
            <a:r>
              <a:t>🔬 Today's Lab Activities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📊 Speed Test: Compare 4G vs 5G performance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🎮 Latency Demo: Real-time gaming experience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📹 Stream Test: 8K video without buffering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🤖 IoT Simulation: Connect 100 devices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🗺️ Coverage Map: Explore 5G in your area</a:t>
            </a:r>
          </a:p>
          <a:p>
            <a:br/>
            <a:r>
              <a:t>⏱️ 25 minutes of hands-on exploration!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t>Lab Exercise: 5G Network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Step 1: Access Simulator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Go to: 5g-simulator.perfect-tc.com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Login with provided credentials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Select 'Egypt Region'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Step 2: Run Speed Tests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Click 'Speed Test' module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Test 4G baseline first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Switch to 5G and compare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Screenshot your results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Step 3: Latency Comparison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Open 'Latency Lab'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Try video call simulation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Play cloud gaming demo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Notice the difference!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Step 4: IoT Density Test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Go to 'IoT Simulator'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Add 100 virtual devices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Monitor network performance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Try with 1000 devices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Future-Proof Your Career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t>Hot Jobs in 5G/6G Era:</a:t>
            </a:r>
          </a:p>
          <a:p>
            <a:br/>
            <a:r>
              <a:t>🔧 5G Network Engineer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$85,000-150,000 | Design &amp; deploy 5G networks</a:t>
            </a:r>
          </a:p>
          <a:p>
            <a:br/>
            <a:r>
              <a:t>🤖 AI Network Specialist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$95,000-180,000 | AI-powered network optimization</a:t>
            </a:r>
          </a:p>
          <a:p>
            <a:br/>
            <a:r>
              <a:t>🔒 6G Security Expert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$100,000-200,000 | Quantum-safe security</a:t>
            </a:r>
          </a:p>
          <a:p>
            <a:br/>
            <a:r>
              <a:t>📡 Spectrum Manager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$80,000-140,000 | Manage radio frequencies</a:t>
            </a:r>
          </a:p>
          <a:p>
            <a:br/>
            <a:r>
              <a:t>☁️ Edge Computing Architect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$90,000-170,000 | Design edge solutions</a:t>
            </a:r>
          </a:p>
          <a:p>
            <a:br/>
            <a:r>
              <a:t>🏥 Telehealth Engineer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$75,000-130,000 | Healthcare connectivity</a:t>
            </a:r>
          </a:p>
          <a:p>
            <a:br/>
            <a:r>
              <a:t>🎯 Start preparing TODAY!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Today's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1️⃣ Network Evolution is Exponential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Each generation is 10-100x better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2️⃣ 5G is HERE and NOW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Already transforming industries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3️⃣ 6G Will Change Everything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AI-native, space-connected, quantum-secure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lang="en-US" dirty="0"/>
              <a:t>4️⃣</a:t>
            </a:r>
            <a:r>
              <a:rPr dirty="0"/>
              <a:t> The Future is Connected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Everything and everyone,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Continue Your 5G/6G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📚 Online Courses: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5G Technology (Coursera) - Free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5G Networks (edX) - Certificate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6G Research (FutureLearn) - Preview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🎥 YouTube Channels: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5G Explained - Simple videos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Telecom Tech Talk - Deep dives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6G Vision - Future tech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📖 Must-Read Papers: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ITU's 6G Vision 2030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3GPP Release 18 (5G Advanced)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IEEE Future Networks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🌐 Communities: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LinkedIn: 5G Professionals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Reddit: r/5GNetworks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• Discord: Next-Gen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Mission: 5G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📝 Part 1: Research (45 min)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Find 3 real 5G deployments in MENA region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Compare their use cases and benefits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Identify challenges they faced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💡 Part 2: Innovation (60 min)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Design a 5G solution for Egyptian problem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Calculate potential impact (users, savings)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Create simple presentation (3 slides)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🔮 Part 3: Future Vision (30 min)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Imagine Egypt in 2035 with 6G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Write 1-page vision statement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Include 3 specific applications</a:t>
            </a:r>
          </a:p>
          <a:p>
            <a:br/>
            <a:r>
              <a:t>📧 Submit to: 5g@perfect-tc.com by next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Let's Discuss the Future!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4572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15A24"/>
                </a:solidFill>
              </a:defRPr>
            </a:pPr>
            <a:r>
              <a:rPr dirty="0"/>
              <a:t>🤚 Your Questions Matter!</a:t>
            </a:r>
          </a:p>
          <a:p>
            <a:br>
              <a:rPr dirty="0"/>
            </a:br>
            <a:r>
              <a:rPr dirty="0"/>
              <a:t>Common questions: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• When will 5G be everywhere in Egypt?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• Is 5G radiation safe?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• How to start a career in 5G?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• Will 6G replace </a:t>
            </a:r>
            <a:r>
              <a:rPr dirty="0" err="1"/>
              <a:t>WiFi</a:t>
            </a:r>
            <a:r>
              <a:rPr dirty="0"/>
              <a:t>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• What about security concerns?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You're Part of the Revolution!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457200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15A24"/>
                </a:solidFill>
              </a:defRPr>
            </a:pPr>
            <a:r>
              <a:t>🚀 The Future Needs YOU!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✨ Every expert started as a beginner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💪 You now understand more than 95% of people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🎯 5G/6G careers are waiting for you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🌟 Egypt's digital future is in your hands</a:t>
            </a:r>
          </a:p>
          <a:p>
            <a:br/>
            <a:r>
              <a:t>'The best time to start was yesterday.</a:t>
            </a:r>
          </a:p>
          <a:p>
            <a:pPr algn="ctr">
              <a:defRPr sz="2000" i="1">
                <a:solidFill>
                  <a:srgbClr val="7F7F7F"/>
                </a:solidFill>
              </a:defRPr>
            </a:pPr>
            <a:r>
              <a:t>The second best time is NOW!'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5A24"/>
                </a:solidFill>
              </a:defRPr>
            </a:pPr>
            <a:r>
              <a:t>See you tomorrow for IoT &amp; Edge Computing!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486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Stay Connected: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📧 5g@perfect-tc.com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🌐 www.perfect-tc.com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💬 WhatsApp: +20-XXX-XXX-XXXX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315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15A24"/>
                </a:solidFill>
              </a:defRPr>
            </a:pPr>
            <a:r>
              <a:t>Perfect Training Center - Building Tomorrow's Network Leaders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3432</Words>
  <Application>Microsoft Office PowerPoint</Application>
  <PresentationFormat>Custom</PresentationFormat>
  <Paragraphs>667</Paragraphs>
  <Slides>42</Slides>
  <Notes>0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Courier New</vt:lpstr>
      <vt:lpstr>Wingdings</vt:lpstr>
      <vt:lpstr>Office Theme</vt:lpstr>
      <vt:lpstr>PowerPoint Presentation</vt:lpstr>
      <vt:lpstr>Welcome Back! Quick Recap</vt:lpstr>
      <vt:lpstr>Today's Learning Adventure</vt:lpstr>
      <vt:lpstr>Quick Game: Match the Generation!</vt:lpstr>
      <vt:lpstr>The Amazing Journey: 1G to 6G</vt:lpstr>
      <vt:lpstr>The Amazing Journey: 1G to 6G</vt:lpstr>
      <vt:lpstr>The Amazing Journey: 1G to 6G</vt:lpstr>
      <vt:lpstr>The Amazing Journey: 1G to 6G</vt:lpstr>
      <vt:lpstr>The Amazing Journey: 1G to 6G</vt:lpstr>
      <vt:lpstr>The Amazing Journey: 1G to 6G</vt:lpstr>
      <vt:lpstr>The Amazing Journey: 1G to 6G</vt:lpstr>
      <vt:lpstr>The Amazing Journey: 1G to 6G</vt:lpstr>
      <vt:lpstr>The Amazing Journey: 1G to 6G</vt:lpstr>
      <vt:lpstr>The Amazing Journey: 1G to 6G</vt:lpstr>
      <vt:lpstr>Activities</vt:lpstr>
      <vt:lpstr>Activity 1</vt:lpstr>
      <vt:lpstr>Activity 2</vt:lpstr>
      <vt:lpstr>Activity 3</vt:lpstr>
      <vt:lpstr>5G: The Game Changer</vt:lpstr>
      <vt:lpstr>5G Core Technologies</vt:lpstr>
      <vt:lpstr>Think for Minute</vt:lpstr>
      <vt:lpstr>Think for Minute</vt:lpstr>
      <vt:lpstr>5G in Action: Real Applications Today</vt:lpstr>
      <vt:lpstr>5G Impact: The Numbers Speak</vt:lpstr>
      <vt:lpstr>Your Turn: Design a 5G Solution</vt:lpstr>
      <vt:lpstr>6G: Beyond Imagination (2030+)</vt:lpstr>
      <vt:lpstr>6G Breakthrough Technologies</vt:lpstr>
      <vt:lpstr>6G Will Enable Science Fiction</vt:lpstr>
      <vt:lpstr>5G vs 6G: Evolution Comparison</vt:lpstr>
      <vt:lpstr>Transforming Every Industry</vt:lpstr>
      <vt:lpstr>Egypt's Digital Future with 5G</vt:lpstr>
      <vt:lpstr>Security: The Foundation of Trust</vt:lpstr>
      <vt:lpstr>Sustainable Connectivity</vt:lpstr>
      <vt:lpstr>Lab Time: Experience 5G Technology!</vt:lpstr>
      <vt:lpstr>Lab Exercise: 5G Network Simulation</vt:lpstr>
      <vt:lpstr>Future-Proof Your Career</vt:lpstr>
      <vt:lpstr>Today's Key Insights</vt:lpstr>
      <vt:lpstr>Continue Your 5G/6G Journey</vt:lpstr>
      <vt:lpstr>Your Mission: 5G Project</vt:lpstr>
      <vt:lpstr>Let's Discuss the Future!</vt:lpstr>
      <vt:lpstr>You're Part of the Revolution!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عمرو سيد صادق عبدالرحمن</cp:lastModifiedBy>
  <cp:revision>2</cp:revision>
  <dcterms:created xsi:type="dcterms:W3CDTF">2013-01-27T09:14:16Z</dcterms:created>
  <dcterms:modified xsi:type="dcterms:W3CDTF">2025-11-17T00:25:18Z</dcterms:modified>
  <cp:category/>
</cp:coreProperties>
</file>