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83" r:id="rId8"/>
    <p:sldId id="284" r:id="rId9"/>
    <p:sldId id="285" r:id="rId10"/>
    <p:sldId id="286" r:id="rId11"/>
    <p:sldId id="262" r:id="rId12"/>
    <p:sldId id="287" r:id="rId13"/>
    <p:sldId id="288" r:id="rId14"/>
    <p:sldId id="289" r:id="rId15"/>
    <p:sldId id="290" r:id="rId16"/>
    <p:sldId id="291" r:id="rId17"/>
    <p:sldId id="263" r:id="rId18"/>
    <p:sldId id="292" r:id="rId19"/>
    <p:sldId id="264" r:id="rId20"/>
    <p:sldId id="265" r:id="rId21"/>
    <p:sldId id="294" r:id="rId22"/>
    <p:sldId id="295" r:id="rId23"/>
    <p:sldId id="293" r:id="rId24"/>
    <p:sldId id="266" r:id="rId25"/>
    <p:sldId id="267" r:id="rId26"/>
    <p:sldId id="296" r:id="rId27"/>
    <p:sldId id="297" r:id="rId28"/>
    <p:sldId id="298" r:id="rId29"/>
    <p:sldId id="299" r:id="rId30"/>
    <p:sldId id="268" r:id="rId31"/>
    <p:sldId id="269" r:id="rId32"/>
    <p:sldId id="270" r:id="rId33"/>
    <p:sldId id="271" r:id="rId34"/>
    <p:sldId id="272" r:id="rId35"/>
    <p:sldId id="273" r:id="rId36"/>
    <p:sldId id="274" r:id="rId37"/>
    <p:sldId id="275" r:id="rId38"/>
    <p:sldId id="276" r:id="rId39"/>
    <p:sldId id="277" r:id="rId40"/>
    <p:sldId id="278" r:id="rId41"/>
    <p:sldId id="279" r:id="rId42"/>
    <p:sldId id="280" r:id="rId43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F15A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AF6BA5-0A74-4424-8BDF-7EB4F6B53A5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A02805-0814-46E1-8AD4-14990142A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238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02805-0814-46E1-8AD4-14990142A24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415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48194" y="404949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4630400" cy="2743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Smart Cloud Platforms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800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rPr dirty="0" err="1"/>
              <a:t>المنصات</a:t>
            </a:r>
            <a:r>
              <a:rPr dirty="0"/>
              <a:t> </a:t>
            </a:r>
            <a:r>
              <a:rPr dirty="0" err="1"/>
              <a:t>السحابية</a:t>
            </a:r>
            <a:r>
              <a:rPr dirty="0"/>
              <a:t> </a:t>
            </a:r>
            <a:r>
              <a:rPr dirty="0" err="1"/>
              <a:t>الذكية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572000" y="6400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15A24"/>
                </a:solidFill>
              </a:defRPr>
            </a:pPr>
            <a:r>
              <a:t>Day 1 - Foundation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Welcome! Let's Start Our Journey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2801600" cy="5029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0070C0"/>
                </a:solidFill>
              </a:defRPr>
            </a:pPr>
            <a:r>
              <a:rPr dirty="0"/>
              <a:t>Quick Poll - Join Now!</a:t>
            </a:r>
            <a:endParaRPr lang="ar-EG" dirty="0"/>
          </a:p>
          <a:p>
            <a:pPr algn="ctr">
              <a:defRPr sz="3600" b="1">
                <a:solidFill>
                  <a:srgbClr val="0070C0"/>
                </a:solidFill>
              </a:defRPr>
            </a:pPr>
            <a:r>
              <a:rPr lang="en-US" sz="3600" b="1" dirty="0"/>
              <a:t>Let's Get to Know Each Other! 👋</a:t>
            </a:r>
          </a:p>
          <a:p>
            <a:pPr algn="ctr">
              <a:defRPr sz="3600" b="1">
                <a:solidFill>
                  <a:srgbClr val="0070C0"/>
                </a:solidFill>
              </a:defRPr>
            </a:pP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384663" y="274638"/>
            <a:ext cx="10071463" cy="1143000"/>
          </a:xfrm>
        </p:spPr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Our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6106568"/>
          </a:xfrm>
        </p:spPr>
        <p:txBody>
          <a:bodyPr>
            <a:normAutofit lnSpcReduction="10000"/>
          </a:bodyPr>
          <a:lstStyle/>
          <a:p>
            <a:pPr>
              <a:defRPr sz="2800" b="1">
                <a:solidFill>
                  <a:srgbClr val="F15A24"/>
                </a:solidFill>
              </a:defRPr>
            </a:pPr>
            <a:r>
              <a:rPr dirty="0"/>
              <a:t>What We'll Achieve Today:</a:t>
            </a:r>
          </a:p>
          <a:p>
            <a:br>
              <a:rPr dirty="0"/>
            </a:br>
            <a:r>
              <a:rPr dirty="0"/>
              <a:t>1. Understanding Cloud</a:t>
            </a:r>
          </a:p>
          <a:p>
            <a:pPr lvl="1">
              <a:defRPr sz="2000">
                <a:solidFill>
                  <a:srgbClr val="2C2C2C"/>
                </a:solidFill>
              </a:defRPr>
            </a:pPr>
            <a:r>
              <a:rPr dirty="0"/>
              <a:t>   ➜ What it really means (10 min)</a:t>
            </a:r>
          </a:p>
          <a:p>
            <a:br>
              <a:rPr dirty="0"/>
            </a:br>
            <a:r>
              <a:rPr dirty="0"/>
              <a:t>2. Smart Features</a:t>
            </a:r>
          </a:p>
          <a:p>
            <a:pPr lvl="1">
              <a:defRPr sz="2000">
                <a:solidFill>
                  <a:srgbClr val="2C2C2C"/>
                </a:solidFill>
              </a:defRPr>
            </a:pPr>
            <a:r>
              <a:rPr dirty="0"/>
              <a:t>   ➜ AI, Automation, Self-healing (15 min)</a:t>
            </a:r>
          </a:p>
          <a:p>
            <a:br>
              <a:rPr dirty="0"/>
            </a:br>
            <a:r>
              <a:rPr dirty="0"/>
              <a:t>3. Three Types</a:t>
            </a:r>
          </a:p>
          <a:p>
            <a:pPr lvl="1">
              <a:defRPr sz="2000">
                <a:solidFill>
                  <a:srgbClr val="2C2C2C"/>
                </a:solidFill>
              </a:defRPr>
            </a:pPr>
            <a:r>
              <a:rPr dirty="0"/>
              <a:t>   ➜ Public vs Private vs Hybrid (20 min)</a:t>
            </a:r>
          </a:p>
          <a:p>
            <a:br>
              <a:rPr dirty="0"/>
            </a:br>
            <a:r>
              <a:rPr dirty="0"/>
              <a:t>4. Telecom Revolution</a:t>
            </a:r>
          </a:p>
          <a:p>
            <a:pPr lvl="1">
              <a:defRPr sz="2000">
                <a:solidFill>
                  <a:srgbClr val="2C2C2C"/>
                </a:solidFill>
              </a:defRPr>
            </a:pPr>
            <a:r>
              <a:rPr dirty="0"/>
              <a:t>   ➜ 5G, NFV, Edge Computing (15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What Exactly is Cloud Computing?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9901646" cy="5871436"/>
          </a:xfrm>
        </p:spPr>
        <p:txBody>
          <a:bodyPr>
            <a:normAutofit fontScale="85000" lnSpcReduction="10000"/>
          </a:bodyPr>
          <a:lstStyle/>
          <a:p>
            <a:pPr>
              <a:defRPr sz="2400" b="1">
                <a:solidFill>
                  <a:srgbClr val="F15A24"/>
                </a:solidFill>
              </a:defRPr>
            </a:pPr>
            <a:r>
              <a:rPr dirty="0"/>
              <a:t>Official Definition:</a:t>
            </a:r>
          </a:p>
          <a:p>
            <a:pPr>
              <a:defRPr sz="2000" i="1">
                <a:solidFill>
                  <a:srgbClr val="2C2C2C"/>
                </a:solidFill>
              </a:defRPr>
            </a:pPr>
            <a:r>
              <a:rPr dirty="0"/>
              <a:t>On-demand access to computing resources via internet with pay-per-use model</a:t>
            </a:r>
          </a:p>
          <a:p>
            <a:br>
              <a:rPr dirty="0"/>
            </a:br>
            <a:r>
              <a:rPr dirty="0"/>
              <a:t>Let's Make It Simple:</a:t>
            </a:r>
          </a:p>
          <a:p>
            <a:br>
              <a:rPr dirty="0"/>
            </a:br>
            <a:r>
              <a:rPr dirty="0"/>
              <a:t>💡 Electricity: You don't build a power plant to use electricity</a:t>
            </a:r>
          </a:p>
          <a:p>
            <a:br>
              <a:rPr dirty="0"/>
            </a:br>
            <a:r>
              <a:rPr dirty="0"/>
              <a:t>🚗 Transportation: Uber vs buying a car - use when needed</a:t>
            </a:r>
          </a:p>
          <a:p>
            <a:br>
              <a:rPr dirty="0"/>
            </a:br>
            <a:r>
              <a:rPr dirty="0"/>
              <a:t>🏨 Accommodation: Hotel vs buying a house for vacation</a:t>
            </a:r>
          </a:p>
          <a:p>
            <a:br>
              <a:rPr dirty="0"/>
            </a:br>
            <a:r>
              <a:rPr dirty="0"/>
              <a:t>📺 Entertainment: Netflix vs buying DVDs - instant access</a:t>
            </a:r>
          </a:p>
          <a:p>
            <a:br>
              <a:rPr dirty="0"/>
            </a:br>
            <a:r>
              <a:rPr dirty="0"/>
              <a:t>☁️ Computing: Cloud vs buying servers - same concept!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You Already Use Cloud Every Day!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1337"/>
            <a:ext cx="8229600" cy="6662057"/>
          </a:xfrm>
        </p:spPr>
        <p:txBody>
          <a:bodyPr>
            <a:normAutofit fontScale="92500" lnSpcReduction="10000"/>
          </a:bodyPr>
          <a:lstStyle/>
          <a:p>
            <a:endParaRPr dirty="0"/>
          </a:p>
          <a:p>
            <a:pPr>
              <a:defRPr sz="2400" b="1">
                <a:solidFill>
                  <a:srgbClr val="0070C0"/>
                </a:solidFill>
              </a:defRPr>
            </a:pPr>
            <a:r>
              <a:rPr dirty="0"/>
              <a:t>📱 WhatsApp</a:t>
            </a:r>
          </a:p>
          <a:p>
            <a:pPr lvl="1">
              <a:defRPr sz="2000">
                <a:solidFill>
                  <a:srgbClr val="F15A24"/>
                </a:solidFill>
              </a:defRPr>
            </a:pPr>
            <a:r>
              <a:rPr dirty="0"/>
              <a:t>   • 250 billion messages/day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   • All stored in cloud servers</a:t>
            </a:r>
          </a:p>
          <a:p>
            <a:pPr>
              <a:defRPr sz="2400" b="1">
                <a:solidFill>
                  <a:srgbClr val="0070C0"/>
                </a:solidFill>
              </a:defRPr>
            </a:pPr>
            <a:r>
              <a:rPr dirty="0"/>
              <a:t>📧 Gmail</a:t>
            </a:r>
          </a:p>
          <a:p>
            <a:pPr lvl="1">
              <a:defRPr sz="2000">
                <a:solidFill>
                  <a:srgbClr val="F15A24"/>
                </a:solidFill>
              </a:defRPr>
            </a:pPr>
            <a:r>
              <a:rPr dirty="0"/>
              <a:t>   • 1.8 billion users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   • 15GB free storage per person</a:t>
            </a:r>
          </a:p>
          <a:p>
            <a:pPr>
              <a:defRPr sz="2400" b="1">
                <a:solidFill>
                  <a:srgbClr val="0070C0"/>
                </a:solidFill>
              </a:defRPr>
            </a:pPr>
            <a:r>
              <a:rPr dirty="0"/>
              <a:t>📸 Instagram</a:t>
            </a:r>
          </a:p>
          <a:p>
            <a:pPr lvl="1">
              <a:defRPr sz="2000">
                <a:solidFill>
                  <a:srgbClr val="F15A24"/>
                </a:solidFill>
              </a:defRPr>
            </a:pPr>
            <a:r>
              <a:rPr dirty="0"/>
              <a:t>   • 95 million photos/day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   • Instantly available worldwide</a:t>
            </a:r>
          </a:p>
          <a:p>
            <a:pPr>
              <a:defRPr sz="2400" b="1">
                <a:solidFill>
                  <a:srgbClr val="0070C0"/>
                </a:solidFill>
              </a:defRPr>
            </a:pPr>
            <a:r>
              <a:rPr dirty="0"/>
              <a:t>🎵 Spotify</a:t>
            </a:r>
          </a:p>
          <a:p>
            <a:pPr lvl="1">
              <a:defRPr sz="2000">
                <a:solidFill>
                  <a:srgbClr val="F15A24"/>
                </a:solidFill>
              </a:defRPr>
            </a:pPr>
            <a:r>
              <a:rPr dirty="0"/>
              <a:t>   • 456 million users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   • 70 million songs streamed</a:t>
            </a:r>
          </a:p>
          <a:p>
            <a:pPr>
              <a:defRPr sz="2400" b="1">
                <a:solidFill>
                  <a:srgbClr val="0070C0"/>
                </a:solidFill>
              </a:defRPr>
            </a:pPr>
            <a:r>
              <a:rPr dirty="0"/>
              <a:t>🎮 PUBG Mobile</a:t>
            </a:r>
          </a:p>
          <a:p>
            <a:pPr lvl="1">
              <a:defRPr sz="2000">
                <a:solidFill>
                  <a:srgbClr val="F15A24"/>
                </a:solidFill>
              </a:defRPr>
            </a:pPr>
            <a:r>
              <a:rPr dirty="0"/>
              <a:t>   • 1 billion downloads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   • Real-time gaming servers</a:t>
            </a:r>
          </a:p>
          <a:p>
            <a:pPr>
              <a:defRPr sz="2400" b="1">
                <a:solidFill>
                  <a:srgbClr val="0070C0"/>
                </a:solidFill>
              </a:defRPr>
            </a:pPr>
            <a:r>
              <a:rPr dirty="0"/>
              <a:t>💳 Online Banking</a:t>
            </a:r>
          </a:p>
          <a:p>
            <a:pPr lvl="1">
              <a:defRPr sz="2000">
                <a:solidFill>
                  <a:srgbClr val="F15A24"/>
                </a:solidFill>
              </a:defRPr>
            </a:pPr>
            <a:r>
              <a:rPr dirty="0"/>
              <a:t>   • Your bank account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   • Accessible 24/7 from anywhere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9940834" cy="1143000"/>
          </a:xfrm>
        </p:spPr>
        <p:txBody>
          <a:bodyPr/>
          <a:lstStyle/>
          <a:p>
            <a:pPr>
              <a:defRPr sz="4000" b="1">
                <a:solidFill>
                  <a:srgbClr val="0070C0"/>
                </a:solidFill>
              </a:defRPr>
            </a:pPr>
            <a:r>
              <a:rPr dirty="0"/>
              <a:t>5 Must-Have Cloud Features (NIST Definition)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836023"/>
            <a:ext cx="12749349" cy="6844937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defRPr sz="2200" b="1">
                <a:solidFill>
                  <a:srgbClr val="0070C0"/>
                </a:solidFill>
              </a:defRPr>
            </a:pPr>
            <a:r>
              <a:rPr dirty="0"/>
              <a:t>1. On-Demand Self-Service ⚡</a:t>
            </a:r>
          </a:p>
          <a:p>
            <a:r>
              <a:rPr lang="en-US" sz="2000" dirty="0"/>
              <a:t>On-demand self-service means that cloud users can provision computing resources </a:t>
            </a:r>
            <a:r>
              <a:rPr lang="en-US" sz="2000" b="1" dirty="0"/>
              <a:t>automatically</a:t>
            </a:r>
            <a:r>
              <a:rPr lang="en-US" sz="2000" dirty="0"/>
              <a:t> whenever they need them — without requiring any human interaction with the service provider.</a:t>
            </a:r>
          </a:p>
          <a:p>
            <a:r>
              <a:rPr lang="en-US" sz="2000" dirty="0"/>
              <a:t>You can launch servers, storage, databases, or applications instantly, at any time, with just a few clicks or API calls</a:t>
            </a:r>
            <a:r>
              <a:rPr lang="en-US" sz="2200" dirty="0">
                <a:solidFill>
                  <a:srgbClr val="0070C0"/>
                </a:solidFill>
              </a:rPr>
              <a:t>.</a:t>
            </a:r>
          </a:p>
          <a:p>
            <a:r>
              <a:rPr lang="en-US" sz="2200" b="1" dirty="0">
                <a:solidFill>
                  <a:srgbClr val="0070C0"/>
                </a:solidFill>
              </a:rPr>
              <a:t>Example</a:t>
            </a:r>
          </a:p>
          <a:p>
            <a:r>
              <a:rPr lang="en-US" sz="2000" dirty="0"/>
              <a:t>At 3 AM, if your system suddenly needs more power,</a:t>
            </a:r>
            <a:br>
              <a:rPr lang="en-US" sz="2000" dirty="0"/>
            </a:br>
            <a:r>
              <a:rPr lang="en-US" sz="2000" dirty="0"/>
              <a:t>you can </a:t>
            </a:r>
            <a:r>
              <a:rPr lang="en-US" sz="2000" b="1" dirty="0"/>
              <a:t>launch 100 virtual servers in 2 minutes</a:t>
            </a:r>
            <a:r>
              <a:rPr lang="en-US" sz="2000" dirty="0"/>
              <a:t>, completely automatically.</a:t>
            </a:r>
          </a:p>
          <a:p>
            <a:r>
              <a:rPr lang="en-US" sz="2000" dirty="0"/>
              <a:t>No phone calls.</a:t>
            </a:r>
            <a:br>
              <a:rPr lang="en-US" sz="2000" dirty="0"/>
            </a:br>
            <a:r>
              <a:rPr lang="en-US" sz="2000" dirty="0"/>
              <a:t>No approvals.</a:t>
            </a:r>
            <a:br>
              <a:rPr lang="en-US" sz="2000" dirty="0"/>
            </a:br>
            <a:r>
              <a:rPr lang="en-US" sz="2000" dirty="0"/>
              <a:t>No engineers.</a:t>
            </a:r>
          </a:p>
          <a:p>
            <a:r>
              <a:rPr lang="en-US" sz="2000" dirty="0"/>
              <a:t>Just click → and resources are ready.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10FC1-6D44-6AE8-4C8C-7B53A6B3F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11AC2-9EFC-C745-8919-D088E7E9A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9940834" cy="1143000"/>
          </a:xfrm>
        </p:spPr>
        <p:txBody>
          <a:bodyPr/>
          <a:lstStyle/>
          <a:p>
            <a:pPr>
              <a:defRPr sz="4000" b="1">
                <a:solidFill>
                  <a:srgbClr val="0070C0"/>
                </a:solidFill>
              </a:defRPr>
            </a:pPr>
            <a:r>
              <a:rPr dirty="0"/>
              <a:t>5 Must-Have Cloud Features (NIST Definition)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0DE4D-D6EB-671B-6725-2738A547D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36023"/>
            <a:ext cx="12749349" cy="6844937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defRPr sz="2200" b="1">
                <a:solidFill>
                  <a:srgbClr val="0070C0"/>
                </a:solidFill>
              </a:defRPr>
            </a:pPr>
            <a:r>
              <a:rPr lang="en-US" dirty="0"/>
              <a:t>2</a:t>
            </a:r>
            <a:r>
              <a:rPr dirty="0"/>
              <a:t>. </a:t>
            </a:r>
            <a:r>
              <a:rPr lang="en-US" sz="2200" b="1" dirty="0"/>
              <a:t>Broad Network Access 🌐</a:t>
            </a:r>
            <a:endParaRPr dirty="0"/>
          </a:p>
          <a:p>
            <a:r>
              <a:rPr lang="en-US" sz="2000" dirty="0"/>
              <a:t>Broad Network Access means that cloud services are available over the network and can be accessed from </a:t>
            </a:r>
            <a:r>
              <a:rPr lang="en-US" sz="2000" b="1" dirty="0"/>
              <a:t>anywhere</a:t>
            </a:r>
            <a:r>
              <a:rPr lang="en-US" sz="2000" dirty="0"/>
              <a:t> using </a:t>
            </a:r>
            <a:r>
              <a:rPr lang="en-US" sz="2000" b="1" dirty="0"/>
              <a:t>any device</a:t>
            </a:r>
            <a:r>
              <a:rPr lang="en-US" sz="2000" dirty="0"/>
              <a:t> — such as laptops, smartphones, tablets, or even smart TVs.</a:t>
            </a:r>
          </a:p>
          <a:p>
            <a:r>
              <a:rPr lang="en-US" sz="2200" b="1" dirty="0">
                <a:solidFill>
                  <a:srgbClr val="0070C0"/>
                </a:solidFill>
              </a:rPr>
              <a:t>Example</a:t>
            </a:r>
          </a:p>
          <a:p>
            <a:r>
              <a:rPr lang="en-US" sz="2000" dirty="0"/>
              <a:t>You can start working on a project from your </a:t>
            </a:r>
            <a:r>
              <a:rPr lang="en-US" sz="2000" b="1" dirty="0"/>
              <a:t>phone in a café</a:t>
            </a:r>
            <a:r>
              <a:rPr lang="en-US" sz="2000" dirty="0"/>
              <a:t>,</a:t>
            </a:r>
            <a:br>
              <a:rPr lang="en-US" sz="2000" dirty="0"/>
            </a:br>
            <a:r>
              <a:rPr lang="en-US" sz="2000" dirty="0"/>
              <a:t>then continue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1D0A26-B1BF-646C-1144-F727E6183B94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AF93E2-91B1-D56F-D0B1-CAA3CB65571D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745108-F9A0-5250-1A85-BEC1C42F01BB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34958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7DC4B-60FA-1276-ACE5-8A633D76B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51E85-C807-8B22-5CC7-76260A5BB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9940834" cy="1143000"/>
          </a:xfrm>
        </p:spPr>
        <p:txBody>
          <a:bodyPr/>
          <a:lstStyle/>
          <a:p>
            <a:pPr>
              <a:defRPr sz="4000" b="1">
                <a:solidFill>
                  <a:srgbClr val="0070C0"/>
                </a:solidFill>
              </a:defRPr>
            </a:pPr>
            <a:r>
              <a:rPr dirty="0"/>
              <a:t>5 Must-Have Cloud Features (NIST Definition)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A921B-B7AC-38C2-DF63-0F190EDC6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36023"/>
            <a:ext cx="12749349" cy="6844937"/>
          </a:xfrm>
        </p:spPr>
        <p:txBody>
          <a:bodyPr>
            <a:normAutofit fontScale="85000" lnSpcReduction="20000"/>
          </a:bodyPr>
          <a:lstStyle/>
          <a:p>
            <a:endParaRPr dirty="0"/>
          </a:p>
          <a:p>
            <a:pPr>
              <a:defRPr sz="2200" b="1">
                <a:solidFill>
                  <a:srgbClr val="0070C0"/>
                </a:solidFill>
              </a:defRPr>
            </a:pPr>
            <a:r>
              <a:rPr lang="en-US" dirty="0"/>
              <a:t>3</a:t>
            </a:r>
            <a:r>
              <a:rPr dirty="0"/>
              <a:t>. </a:t>
            </a:r>
            <a:r>
              <a:rPr lang="en-US" sz="2600" b="1" dirty="0"/>
              <a:t>Resource Pooling</a:t>
            </a:r>
            <a:endParaRPr lang="en-US" sz="2600" dirty="0"/>
          </a:p>
          <a:p>
            <a:r>
              <a:rPr lang="en-US" sz="2000" dirty="0"/>
              <a:t>Resource Pooling means that the cloud provider (like AWS, Azure, Google Cloud) has a </a:t>
            </a:r>
            <a:r>
              <a:rPr lang="en-US" sz="2000" b="1" dirty="0"/>
              <a:t>massive pool of computing resources</a:t>
            </a:r>
            <a:r>
              <a:rPr lang="en-US" sz="2000" dirty="0"/>
              <a:t> — servers, CPU, RAM, storage, and networking — and these resources are </a:t>
            </a:r>
            <a:r>
              <a:rPr lang="en-US" sz="2000" b="1" dirty="0"/>
              <a:t>shared dynamically</a:t>
            </a:r>
            <a:r>
              <a:rPr lang="en-US" sz="2000" dirty="0"/>
              <a:t> among many customers.</a:t>
            </a:r>
          </a:p>
          <a:p>
            <a:r>
              <a:rPr lang="en-US" sz="2000" dirty="0"/>
              <a:t>This is done using a model called </a:t>
            </a:r>
            <a:r>
              <a:rPr lang="en-US" sz="2000" b="1" dirty="0"/>
              <a:t>Multi-Tenancy</a:t>
            </a:r>
            <a:r>
              <a:rPr lang="en-US" sz="2000" dirty="0"/>
              <a:t>.</a:t>
            </a:r>
          </a:p>
          <a:p>
            <a:r>
              <a:rPr lang="en-US" sz="2200" b="1" dirty="0">
                <a:solidFill>
                  <a:srgbClr val="0070C0"/>
                </a:solidFill>
              </a:rPr>
              <a:t>What is Multi-Tenancy?</a:t>
            </a:r>
          </a:p>
          <a:p>
            <a:r>
              <a:rPr lang="en-US" sz="2000" dirty="0"/>
              <a:t>Multi-Tenancy means:</a:t>
            </a:r>
          </a:p>
          <a:p>
            <a:r>
              <a:rPr lang="en-US" sz="2000" dirty="0"/>
              <a:t>Many customers (“tenants”) use the </a:t>
            </a:r>
            <a:r>
              <a:rPr lang="en-US" sz="2000" b="1" dirty="0"/>
              <a:t>same physical infrastructure</a:t>
            </a:r>
            <a:endParaRPr lang="en-US" sz="2000" dirty="0"/>
          </a:p>
          <a:p>
            <a:r>
              <a:rPr lang="en-US" sz="2000" dirty="0"/>
              <a:t>Each one gets their </a:t>
            </a:r>
            <a:r>
              <a:rPr lang="en-US" sz="2000" b="1" dirty="0"/>
              <a:t>own isolated environment</a:t>
            </a:r>
            <a:endParaRPr lang="en-US" sz="2000" dirty="0"/>
          </a:p>
          <a:p>
            <a:r>
              <a:rPr lang="en-US" sz="2400" dirty="0"/>
              <a:t>No one can see or affect anyone else’s data or performance</a:t>
            </a:r>
          </a:p>
          <a:p>
            <a:r>
              <a:rPr lang="en-US" sz="2400" b="1" dirty="0">
                <a:solidFill>
                  <a:srgbClr val="0070C0"/>
                </a:solidFill>
              </a:rPr>
              <a:t>Why is it called “Pooling”?</a:t>
            </a:r>
          </a:p>
          <a:p>
            <a:r>
              <a:rPr lang="en-US" sz="2200" dirty="0"/>
              <a:t>Because all resources are collected in one big </a:t>
            </a:r>
            <a:r>
              <a:rPr lang="en-US" sz="2200" b="1" dirty="0"/>
              <a:t>pool</a:t>
            </a:r>
            <a:r>
              <a:rPr lang="en-US" sz="2200" dirty="0"/>
              <a:t>, and the cloud provider assigns resources to customers </a:t>
            </a:r>
            <a:r>
              <a:rPr lang="en-US" sz="2200" b="1" dirty="0"/>
              <a:t>as needed</a:t>
            </a:r>
            <a:r>
              <a:rPr lang="en-US" sz="2200" dirty="0"/>
              <a:t>, then returns them to the pool when they’re no longer in use.</a:t>
            </a:r>
          </a:p>
          <a:p>
            <a:r>
              <a:rPr lang="en-US" sz="2400" b="1" dirty="0"/>
              <a:t>Just like:</a:t>
            </a:r>
          </a:p>
          <a:p>
            <a:r>
              <a:rPr lang="en-US" sz="2400" dirty="0"/>
              <a:t>A shared pool of cars</a:t>
            </a:r>
          </a:p>
          <a:p>
            <a:r>
              <a:rPr lang="en-US" sz="2400" dirty="0"/>
              <a:t>Or a shared water tank</a:t>
            </a:r>
          </a:p>
          <a:p>
            <a:r>
              <a:rPr lang="en-US" sz="2400" dirty="0"/>
              <a:t>Or seats in a restaurant</a:t>
            </a:r>
          </a:p>
          <a:p>
            <a:r>
              <a:rPr lang="en-US" sz="2400" dirty="0"/>
              <a:t>You use what you need, then give it back.</a:t>
            </a:r>
            <a:endParaRPr lang="en-US" sz="2400" b="1" dirty="0">
              <a:solidFill>
                <a:srgbClr val="0070C0"/>
              </a:solidFill>
            </a:endParaRPr>
          </a:p>
          <a:p>
            <a:r>
              <a:rPr lang="en-US" sz="2200" b="1" dirty="0">
                <a:solidFill>
                  <a:srgbClr val="0070C0"/>
                </a:solidFill>
              </a:rPr>
              <a:t>Example</a:t>
            </a:r>
          </a:p>
          <a:p>
            <a:r>
              <a:rPr lang="en-US" sz="2000" dirty="0"/>
              <a:t>On </a:t>
            </a:r>
            <a:r>
              <a:rPr lang="en-US" sz="2000" b="1" dirty="0"/>
              <a:t>Amazon EC2</a:t>
            </a:r>
            <a:r>
              <a:rPr lang="en-US" sz="2000" dirty="0"/>
              <a:t>:</a:t>
            </a:r>
          </a:p>
          <a:p>
            <a:r>
              <a:rPr lang="en-US" sz="2000" dirty="0"/>
              <a:t>Your virtual machine (VM) may run on the same physical server as VMs from other companies</a:t>
            </a:r>
          </a:p>
          <a:p>
            <a:r>
              <a:rPr lang="en-US" sz="2000" dirty="0"/>
              <a:t>Everything is fully isolated</a:t>
            </a:r>
          </a:p>
          <a:p>
            <a:r>
              <a:rPr lang="en-US" sz="2000" dirty="0"/>
              <a:t>Cloud automatically balances and distributes resources</a:t>
            </a:r>
          </a:p>
          <a:p>
            <a:r>
              <a:rPr lang="en-US" sz="2000" dirty="0"/>
              <a:t>No customer affects the performance of another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79809C-2423-F749-8746-9725C3D5F228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BE339B-8525-470C-53F2-7EB2A3158270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AE6748-CD49-B653-8FB2-68A302EDE4DA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579946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C43A2-2AE6-ECC4-B3E1-9072A1B0C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C5072-08C2-B5DE-117C-D82701C15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9940834" cy="1143000"/>
          </a:xfrm>
        </p:spPr>
        <p:txBody>
          <a:bodyPr/>
          <a:lstStyle/>
          <a:p>
            <a:pPr>
              <a:defRPr sz="4000" b="1">
                <a:solidFill>
                  <a:srgbClr val="0070C0"/>
                </a:solidFill>
              </a:defRPr>
            </a:pPr>
            <a:r>
              <a:rPr dirty="0"/>
              <a:t>5 Must-Have Cloud Features (NIST Definition)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B256D-8AF4-A52E-F5A0-44C25DE33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36023"/>
            <a:ext cx="12749349" cy="6844937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defRPr sz="2200" b="1">
                <a:solidFill>
                  <a:srgbClr val="0070C0"/>
                </a:solidFill>
              </a:defRPr>
            </a:pPr>
            <a:r>
              <a:rPr lang="ar-EG" dirty="0"/>
              <a:t>4</a:t>
            </a:r>
            <a:r>
              <a:rPr dirty="0"/>
              <a:t>. </a:t>
            </a:r>
            <a:r>
              <a:rPr lang="en-US" sz="2200" b="1" dirty="0"/>
              <a:t>Rapid Elasticity</a:t>
            </a:r>
            <a:endParaRPr dirty="0"/>
          </a:p>
          <a:p>
            <a:r>
              <a:rPr lang="en-US" sz="2000" dirty="0"/>
              <a:t>Rapid Elasticity means that cloud resources can be </a:t>
            </a:r>
            <a:r>
              <a:rPr lang="en-US" sz="2000" b="1" dirty="0"/>
              <a:t>scaled up or down very quickly</a:t>
            </a:r>
            <a:r>
              <a:rPr lang="en-US" sz="2000" dirty="0"/>
              <a:t>, often automatically, to match the current demand.</a:t>
            </a:r>
            <a:endParaRPr lang="ar-EG" sz="2000" dirty="0"/>
          </a:p>
          <a:p>
            <a:r>
              <a:rPr lang="en-US" sz="2200" b="1" dirty="0">
                <a:solidFill>
                  <a:srgbClr val="0070C0"/>
                </a:solidFill>
              </a:rPr>
              <a:t>Example</a:t>
            </a:r>
          </a:p>
          <a:p>
            <a:r>
              <a:rPr lang="en-US" sz="2000" dirty="0"/>
              <a:t>Imagine an </a:t>
            </a:r>
            <a:r>
              <a:rPr lang="en-US" sz="2000" b="1" dirty="0"/>
              <a:t>e-commerce website</a:t>
            </a:r>
            <a:r>
              <a:rPr lang="en-US" sz="2000" dirty="0"/>
              <a:t> during </a:t>
            </a:r>
            <a:r>
              <a:rPr lang="en-US" sz="2000" b="1" dirty="0"/>
              <a:t>Black Friday</a:t>
            </a:r>
            <a:r>
              <a:rPr lang="en-US" sz="2000" dirty="0"/>
              <a:t>:</a:t>
            </a:r>
          </a:p>
          <a:p>
            <a:r>
              <a:rPr lang="en-US" sz="2000" dirty="0"/>
              <a:t>Normally, the site uses </a:t>
            </a:r>
            <a:r>
              <a:rPr lang="en-US" sz="2000" b="1" dirty="0"/>
              <a:t>10 servers</a:t>
            </a:r>
            <a:r>
              <a:rPr lang="en-US" sz="2000" dirty="0"/>
              <a:t>.   											</a:t>
            </a:r>
          </a:p>
          <a:p>
            <a:r>
              <a:rPr lang="en-US" sz="2000" dirty="0"/>
              <a:t>Traffic suddenly spikes </a:t>
            </a:r>
            <a:r>
              <a:rPr lang="en-US" sz="2000" b="1" dirty="0"/>
              <a:t>10x</a:t>
            </a:r>
            <a:r>
              <a:rPr lang="en-US" sz="2000" dirty="0"/>
              <a:t> in a few hours.</a:t>
            </a:r>
          </a:p>
          <a:p>
            <a:r>
              <a:rPr lang="en-US" sz="2000" dirty="0"/>
              <a:t>The cloud </a:t>
            </a:r>
            <a:r>
              <a:rPr lang="en-US" sz="2000" b="1" dirty="0"/>
              <a:t>automatically launches 100 servers</a:t>
            </a:r>
            <a:r>
              <a:rPr lang="en-US" sz="2000" dirty="0"/>
              <a:t> to handle the load.</a:t>
            </a:r>
          </a:p>
          <a:p>
            <a:r>
              <a:rPr lang="en-US" sz="2000" dirty="0"/>
              <a:t>After the peak, unused servers are </a:t>
            </a:r>
            <a:r>
              <a:rPr lang="en-US" sz="2000" b="1" dirty="0"/>
              <a:t>shut down</a:t>
            </a:r>
            <a:r>
              <a:rPr lang="en-US" sz="2000" dirty="0"/>
              <a:t> automatically.</a:t>
            </a:r>
          </a:p>
          <a:p>
            <a:r>
              <a:rPr lang="en-US" sz="2000" dirty="0"/>
              <a:t>✅ You pay only for what you actually used — no waste.</a:t>
            </a:r>
            <a:br>
              <a:rPr lang="en-US" sz="2000" dirty="0"/>
            </a:br>
            <a:r>
              <a:rPr lang="en-US" sz="2000" dirty="0"/>
              <a:t>✅ Users experience no downtime, everything stays fast.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4838F4-44C3-15A3-B55F-87CA7FE5CCC8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C62009-CAE9-27E2-D8D9-59CBBBE7E8D3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67F0F4-D1F9-80CA-9385-B629A2571C42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pic>
        <p:nvPicPr>
          <p:cNvPr id="2054" name="Picture 6" descr="Selling on Amazon: Black Friday Data to Help You Prepare">
            <a:extLst>
              <a:ext uri="{FF2B5EF4-FFF2-40B4-BE49-F238E27FC236}">
                <a16:creationId xmlns:a16="http://schemas.microsoft.com/office/drawing/2014/main" id="{98266CD1-D7A5-8EF2-99B3-C2C146738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726055"/>
            <a:ext cx="6096000" cy="2695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1918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74A48-B1A2-F33C-F70E-A607A1DD9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F8E89-4B5F-E49D-DC76-B46DAF8A7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9940834" cy="1143000"/>
          </a:xfrm>
        </p:spPr>
        <p:txBody>
          <a:bodyPr/>
          <a:lstStyle/>
          <a:p>
            <a:pPr>
              <a:defRPr sz="4000" b="1">
                <a:solidFill>
                  <a:srgbClr val="0070C0"/>
                </a:solidFill>
              </a:defRPr>
            </a:pPr>
            <a:r>
              <a:rPr dirty="0"/>
              <a:t>5 Must-Have Cloud Features (NIST Definition)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C9174-26DE-3E59-5955-6D6D4EF4E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836023"/>
            <a:ext cx="12749349" cy="6844937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defRPr sz="2200" b="1">
                <a:solidFill>
                  <a:srgbClr val="0070C0"/>
                </a:solidFill>
              </a:defRPr>
            </a:pPr>
            <a:r>
              <a:rPr lang="ar-EG" dirty="0"/>
              <a:t>5</a:t>
            </a:r>
            <a:r>
              <a:rPr dirty="0"/>
              <a:t>. </a:t>
            </a:r>
            <a:r>
              <a:rPr lang="en-US" sz="2200" b="1" dirty="0"/>
              <a:t>Measured Service</a:t>
            </a:r>
            <a:endParaRPr dirty="0"/>
          </a:p>
          <a:p>
            <a:r>
              <a:rPr lang="en-US" sz="2000" dirty="0"/>
              <a:t>Measured Service means that cloud systems </a:t>
            </a:r>
            <a:r>
              <a:rPr lang="en-US" sz="2000" b="1" dirty="0"/>
              <a:t>monitor and measure usage</a:t>
            </a:r>
            <a:r>
              <a:rPr lang="en-US" sz="2000" dirty="0"/>
              <a:t> of computing resources — such as CPU, storage, bandwidth, and memory — and customers are </a:t>
            </a:r>
            <a:r>
              <a:rPr lang="en-US" sz="2000" b="1" dirty="0"/>
              <a:t>billed only for what they actually use</a:t>
            </a:r>
            <a:r>
              <a:rPr lang="en-US" sz="2000" dirty="0"/>
              <a:t>.</a:t>
            </a:r>
          </a:p>
          <a:p>
            <a:r>
              <a:rPr lang="en-US" sz="2000" dirty="0"/>
              <a:t>This ensures</a:t>
            </a:r>
            <a:r>
              <a:rPr lang="en-US" sz="2000" b="1" dirty="0"/>
              <a:t> fair pricing</a:t>
            </a:r>
            <a:r>
              <a:rPr lang="en-US" sz="2000" dirty="0"/>
              <a:t> and helps optimize costs.</a:t>
            </a:r>
          </a:p>
          <a:p>
            <a:r>
              <a:rPr lang="en-US" sz="2200" b="1" dirty="0">
                <a:solidFill>
                  <a:srgbClr val="0070C0"/>
                </a:solidFill>
              </a:rPr>
              <a:t>Example</a:t>
            </a:r>
          </a:p>
          <a:p>
            <a:r>
              <a:rPr lang="en-US" sz="2000" dirty="0"/>
              <a:t>Just like </a:t>
            </a:r>
            <a:r>
              <a:rPr lang="en-US" sz="2000" b="1" dirty="0"/>
              <a:t>your electricity bill</a:t>
            </a:r>
            <a:r>
              <a:rPr lang="en-US" sz="2000" dirty="0"/>
              <a:t>:</a:t>
            </a:r>
          </a:p>
          <a:p>
            <a:r>
              <a:rPr lang="en-US" sz="2000" dirty="0"/>
              <a:t>Use 500 kWh → pay for 500 kWh</a:t>
            </a:r>
          </a:p>
          <a:p>
            <a:r>
              <a:rPr lang="en-US" sz="2000" dirty="0"/>
              <a:t>Use 200 kWh → pay less</a:t>
            </a:r>
          </a:p>
          <a:p>
            <a:r>
              <a:rPr lang="en-US" sz="2000" dirty="0"/>
              <a:t>Similarly in cloud:</a:t>
            </a:r>
          </a:p>
          <a:p>
            <a:r>
              <a:rPr lang="en-US" sz="2000" dirty="0"/>
              <a:t>If your app used </a:t>
            </a:r>
            <a:r>
              <a:rPr lang="en-US" sz="2000" b="1" dirty="0"/>
              <a:t>50 GB storage + 10 CPU hours</a:t>
            </a:r>
            <a:r>
              <a:rPr lang="en-US" sz="2000" dirty="0"/>
              <a:t> → billed only for that</a:t>
            </a:r>
          </a:p>
          <a:p>
            <a:r>
              <a:rPr lang="en-US" sz="2000" dirty="0"/>
              <a:t>If traffic drops → bill automatically decreases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3AEBB5-B80B-854D-7E1E-B9EC0DA3F214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B019F0-FFEC-7C0F-DCE1-567A7A1544DA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501BBD-71CD-D96A-805E-9095FA322F81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03910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From Cloud to SMART Cloud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8497" y="1286691"/>
            <a:ext cx="12553406" cy="5656217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1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0070C0"/>
                </a:solidFill>
              </a:defRPr>
            </a:pP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BDEC67-234E-E91B-FDE9-B89F0DFC1A78}"/>
              </a:ext>
            </a:extLst>
          </p:cNvPr>
          <p:cNvSpPr txBox="1"/>
          <p:nvPr/>
        </p:nvSpPr>
        <p:spPr>
          <a:xfrm>
            <a:off x="1528354" y="1640363"/>
            <a:ext cx="1165206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Definition:</a:t>
            </a:r>
            <a:r>
              <a:rPr lang="en-US" sz="2000" dirty="0">
                <a:solidFill>
                  <a:srgbClr val="0070C0"/>
                </a:solidFill>
              </a:rPr>
              <a:t> </a:t>
            </a:r>
            <a:r>
              <a:rPr lang="en-US" dirty="0"/>
              <a:t>The Smart Cloud is a cloud environment </a:t>
            </a:r>
            <a:r>
              <a:rPr lang="en-US" b="1" dirty="0"/>
              <a:t>infused with advanced technologies</a:t>
            </a:r>
            <a:r>
              <a:rPr lang="en-US" dirty="0"/>
              <a:t> like Artificial Intelligence (AI), Machine Learning (ML), and Internet of Things (IoT).</a:t>
            </a:r>
          </a:p>
          <a:p>
            <a:r>
              <a:rPr lang="en-US" b="1" dirty="0">
                <a:solidFill>
                  <a:srgbClr val="0070C0"/>
                </a:solidFill>
              </a:rPr>
              <a:t>Core Concept:</a:t>
            </a:r>
            <a:r>
              <a:rPr lang="en-US" dirty="0">
                <a:solidFill>
                  <a:srgbClr val="0070C0"/>
                </a:solidFill>
              </a:rPr>
              <a:t> </a:t>
            </a:r>
            <a:r>
              <a:rPr lang="en-US" b="1" dirty="0">
                <a:solidFill>
                  <a:srgbClr val="0070C0"/>
                </a:solidFill>
              </a:rPr>
              <a:t>"From Storage to Insight."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Key Characteristics:</a:t>
            </a:r>
            <a:endParaRPr lang="en-US" dirty="0">
              <a:solidFill>
                <a:srgbClr val="0070C0"/>
              </a:solidFill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70C0"/>
                </a:solidFill>
              </a:rPr>
              <a:t>Data-Driven:</a:t>
            </a:r>
            <a:r>
              <a:rPr lang="en-US" dirty="0"/>
              <a:t> It doesn't just store data; it learns from it.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70C0"/>
                </a:solidFill>
              </a:rPr>
              <a:t>Predictive:</a:t>
            </a:r>
            <a:r>
              <a:rPr lang="en-US" dirty="0">
                <a:solidFill>
                  <a:srgbClr val="0070C0"/>
                </a:solidFill>
              </a:rPr>
              <a:t> </a:t>
            </a:r>
            <a:r>
              <a:rPr lang="en-US" dirty="0"/>
              <a:t>Analyzes patterns to forecast future outcomes.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70C0"/>
                </a:solidFill>
              </a:rPr>
              <a:t>Automated:</a:t>
            </a:r>
            <a:r>
              <a:rPr lang="en-US" dirty="0">
                <a:solidFill>
                  <a:srgbClr val="0070C0"/>
                </a:solidFill>
              </a:rPr>
              <a:t> </a:t>
            </a:r>
            <a:r>
              <a:rPr lang="en-US" dirty="0"/>
              <a:t>Makes intelligent decisions and automates complex processes.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Cognitive</a:t>
            </a:r>
            <a:r>
              <a:rPr lang="en-US" b="1" dirty="0"/>
              <a:t>:</a:t>
            </a:r>
            <a:r>
              <a:rPr lang="en-US" dirty="0"/>
              <a:t> Can understand, reason, and interact.</a:t>
            </a:r>
          </a:p>
          <a:p>
            <a:r>
              <a:rPr lang="en-US" b="1" dirty="0">
                <a:solidFill>
                  <a:srgbClr val="0070C0"/>
                </a:solidFill>
              </a:rPr>
              <a:t>Common Services:</a:t>
            </a:r>
            <a:r>
              <a:rPr lang="en-US" dirty="0">
                <a:solidFill>
                  <a:srgbClr val="0070C0"/>
                </a:solidFill>
              </a:rPr>
              <a:t> </a:t>
            </a:r>
            <a:r>
              <a:rPr lang="en-US" dirty="0"/>
              <a:t>AI/ML Analytics, Predictive Modeling, Intelligent Process Automation, Cognitive APIs.</a:t>
            </a:r>
          </a:p>
          <a:p>
            <a:r>
              <a:rPr lang="en-US" sz="2000" b="1" dirty="0">
                <a:solidFill>
                  <a:srgbClr val="0070C0"/>
                </a:solidFill>
              </a:rPr>
              <a:t>Real-World Analogy</a:t>
            </a:r>
          </a:p>
          <a:p>
            <a:r>
              <a:rPr lang="en-US" b="1" dirty="0">
                <a:solidFill>
                  <a:srgbClr val="0070C0"/>
                </a:solidFill>
              </a:rPr>
              <a:t>Traditional Cloud: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/>
              <a:t>A </a:t>
            </a:r>
            <a:r>
              <a:rPr lang="en-US" b="1" dirty="0"/>
              <a:t>fitness tracker</a:t>
            </a:r>
            <a:r>
              <a:rPr lang="en-US" dirty="0"/>
              <a:t> that stores your step count and heart rate data in the cloud.</a:t>
            </a:r>
          </a:p>
          <a:p>
            <a:r>
              <a:rPr lang="en-US" b="1" dirty="0">
                <a:solidFill>
                  <a:srgbClr val="0070C0"/>
                </a:solidFill>
              </a:rPr>
              <a:t>Smart Cloud: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/>
              <a:t>The same tracker </a:t>
            </a:r>
            <a:r>
              <a:rPr lang="en-US" b="1" dirty="0"/>
              <a:t>analyzing</a:t>
            </a:r>
            <a:r>
              <a:rPr lang="en-US" dirty="0"/>
              <a:t> your data to </a:t>
            </a:r>
            <a:r>
              <a:rPr lang="en-US" b="1" dirty="0"/>
              <a:t>predict</a:t>
            </a:r>
            <a:r>
              <a:rPr lang="en-US" dirty="0"/>
              <a:t> your sleep quality, </a:t>
            </a:r>
            <a:r>
              <a:rPr lang="en-US" b="1" dirty="0"/>
              <a:t>recommend</a:t>
            </a:r>
            <a:r>
              <a:rPr lang="en-US" dirty="0"/>
              <a:t> a personalized workout, and </a:t>
            </a:r>
            <a:r>
              <a:rPr lang="en-US" b="1" dirty="0"/>
              <a:t>alert</a:t>
            </a:r>
            <a:r>
              <a:rPr lang="en-US" dirty="0"/>
              <a:t> you to potential health trends.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E2AE9-DAD0-D693-D3BA-A532632A0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8284D-FB47-4642-6F10-C88A70F94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From Cloud to SMART Cloud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12443E0-D50D-38FA-650B-3CB2B4C2A8EE}"/>
              </a:ext>
            </a:extLst>
          </p:cNvPr>
          <p:cNvSpPr/>
          <p:nvPr/>
        </p:nvSpPr>
        <p:spPr>
          <a:xfrm>
            <a:off x="914400" y="1828800"/>
            <a:ext cx="5943600" cy="2286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1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0070C0"/>
                </a:solidFill>
              </a:defRPr>
            </a:pPr>
            <a:r>
              <a:rPr dirty="0"/>
              <a:t>🧠 AI Integration</a:t>
            </a:r>
          </a:p>
          <a:p>
            <a:pPr lvl="1">
              <a:defRPr sz="1400">
                <a:solidFill>
                  <a:srgbClr val="2C2C2C"/>
                </a:solidFill>
              </a:defRPr>
            </a:pPr>
            <a:r>
              <a:rPr dirty="0"/>
              <a:t>• Machine Learning built-in</a:t>
            </a:r>
          </a:p>
          <a:p>
            <a:pPr lvl="1">
              <a:defRPr sz="1400">
                <a:solidFill>
                  <a:srgbClr val="2C2C2C"/>
                </a:solidFill>
              </a:defRPr>
            </a:pPr>
            <a:r>
              <a:rPr dirty="0"/>
              <a:t>• Predictive analytics</a:t>
            </a:r>
          </a:p>
          <a:p>
            <a:pPr lvl="1">
              <a:defRPr sz="1400">
                <a:solidFill>
                  <a:srgbClr val="2C2C2C"/>
                </a:solidFill>
              </a:defRPr>
            </a:pPr>
            <a:r>
              <a:rPr dirty="0"/>
              <a:t>• Natural language processing</a:t>
            </a:r>
          </a:p>
          <a:p>
            <a:pPr>
              <a:defRPr sz="1200" i="1">
                <a:solidFill>
                  <a:srgbClr val="F15A24"/>
                </a:solidFill>
              </a:defRPr>
            </a:pPr>
            <a:r>
              <a:rPr dirty="0"/>
              <a:t>💡 Netflix: Recommends shows before you search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DA9B250-BEB5-4F92-4AD7-7AB18D71C7B2}"/>
              </a:ext>
            </a:extLst>
          </p:cNvPr>
          <p:cNvSpPr/>
          <p:nvPr/>
        </p:nvSpPr>
        <p:spPr>
          <a:xfrm>
            <a:off x="7772400" y="1828800"/>
            <a:ext cx="5943600" cy="2286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1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0070C0"/>
                </a:solidFill>
              </a:defRPr>
            </a:pPr>
            <a:r>
              <a:rPr dirty="0"/>
              <a:t>🔧 Self-Healing</a:t>
            </a:r>
          </a:p>
          <a:p>
            <a:pPr lvl="1">
              <a:defRPr sz="1400">
                <a:solidFill>
                  <a:srgbClr val="2C2C2C"/>
                </a:solidFill>
              </a:defRPr>
            </a:pPr>
            <a:r>
              <a:rPr dirty="0"/>
              <a:t>• Detects failures instantly</a:t>
            </a:r>
          </a:p>
          <a:p>
            <a:pPr lvl="1">
              <a:defRPr sz="1400">
                <a:solidFill>
                  <a:srgbClr val="2C2C2C"/>
                </a:solidFill>
              </a:defRPr>
            </a:pPr>
            <a:r>
              <a:rPr dirty="0"/>
              <a:t>• Fixes problems automatically</a:t>
            </a:r>
          </a:p>
          <a:p>
            <a:pPr lvl="1">
              <a:defRPr sz="1400">
                <a:solidFill>
                  <a:srgbClr val="2C2C2C"/>
                </a:solidFill>
              </a:defRPr>
            </a:pPr>
            <a:r>
              <a:rPr dirty="0"/>
              <a:t>• Zero downtime</a:t>
            </a:r>
          </a:p>
          <a:p>
            <a:pPr>
              <a:defRPr sz="1200" i="1">
                <a:solidFill>
                  <a:srgbClr val="F15A24"/>
                </a:solidFill>
              </a:defRPr>
            </a:pPr>
            <a:r>
              <a:rPr dirty="0"/>
              <a:t>💡 Facebook: 2.9B users, never down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48B34E6-03B5-B746-DE58-4A74C3CE3525}"/>
              </a:ext>
            </a:extLst>
          </p:cNvPr>
          <p:cNvSpPr/>
          <p:nvPr/>
        </p:nvSpPr>
        <p:spPr>
          <a:xfrm>
            <a:off x="914400" y="4572000"/>
            <a:ext cx="5943600" cy="2286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1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0070C0"/>
                </a:solidFill>
              </a:defRPr>
            </a:pPr>
            <a:r>
              <a:rPr dirty="0"/>
              <a:t>📈 Auto-Scaling</a:t>
            </a:r>
          </a:p>
          <a:p>
            <a:pPr lvl="1">
              <a:defRPr sz="1400">
                <a:solidFill>
                  <a:srgbClr val="2C2C2C"/>
                </a:solidFill>
              </a:defRPr>
            </a:pPr>
            <a:r>
              <a:rPr dirty="0"/>
              <a:t>• Predicts traffic patterns</a:t>
            </a:r>
          </a:p>
          <a:p>
            <a:pPr lvl="1">
              <a:defRPr sz="1400">
                <a:solidFill>
                  <a:srgbClr val="2C2C2C"/>
                </a:solidFill>
              </a:defRPr>
            </a:pPr>
            <a:r>
              <a:rPr dirty="0"/>
              <a:t>• Scales before peak hits</a:t>
            </a:r>
          </a:p>
          <a:p>
            <a:pPr lvl="1">
              <a:defRPr sz="1400">
                <a:solidFill>
                  <a:srgbClr val="2C2C2C"/>
                </a:solidFill>
              </a:defRPr>
            </a:pPr>
            <a:r>
              <a:rPr dirty="0"/>
              <a:t>• Saves money when quiet</a:t>
            </a:r>
          </a:p>
          <a:p>
            <a:pPr>
              <a:defRPr sz="1200" i="1">
                <a:solidFill>
                  <a:srgbClr val="F15A24"/>
                </a:solidFill>
              </a:defRPr>
            </a:pPr>
            <a:r>
              <a:rPr dirty="0"/>
              <a:t>💡 Zoom: From 10M to 300M users seamlessly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2FBEB43-77F2-2147-CF69-0E9E426F6944}"/>
              </a:ext>
            </a:extLst>
          </p:cNvPr>
          <p:cNvSpPr/>
          <p:nvPr/>
        </p:nvSpPr>
        <p:spPr>
          <a:xfrm>
            <a:off x="7772400" y="4572000"/>
            <a:ext cx="5943600" cy="2286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1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0070C0"/>
                </a:solidFill>
              </a:defRPr>
            </a:pPr>
            <a:r>
              <a:rPr dirty="0"/>
              <a:t>🛡️ Smart Security</a:t>
            </a:r>
          </a:p>
          <a:p>
            <a:pPr lvl="1">
              <a:defRPr sz="1400">
                <a:solidFill>
                  <a:srgbClr val="2C2C2C"/>
                </a:solidFill>
              </a:defRPr>
            </a:pPr>
            <a:r>
              <a:rPr dirty="0"/>
              <a:t>• AI threat detection</a:t>
            </a:r>
          </a:p>
          <a:p>
            <a:pPr lvl="1">
              <a:defRPr sz="1400">
                <a:solidFill>
                  <a:srgbClr val="2C2C2C"/>
                </a:solidFill>
              </a:defRPr>
            </a:pPr>
            <a:r>
              <a:rPr dirty="0"/>
              <a:t>• Automated responses</a:t>
            </a:r>
          </a:p>
          <a:p>
            <a:pPr lvl="1">
              <a:defRPr sz="1400">
                <a:solidFill>
                  <a:srgbClr val="2C2C2C"/>
                </a:solidFill>
              </a:defRPr>
            </a:pPr>
            <a:r>
              <a:rPr dirty="0"/>
              <a:t>• 24/7 protection</a:t>
            </a:r>
          </a:p>
          <a:p>
            <a:pPr>
              <a:defRPr sz="1200" i="1">
                <a:solidFill>
                  <a:srgbClr val="F15A24"/>
                </a:solidFill>
              </a:defRPr>
            </a:pPr>
            <a:r>
              <a:rPr dirty="0"/>
              <a:t>💡 Google: Blocks 100M phishing emails daily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41D916-7F08-FC7B-D081-7FE0BABED3FC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1EC564-C5C8-B37B-7054-B4DB4FA7E73F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DD44AE-810C-C429-7A13-FD186E784AAB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441815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AB37C-924F-B7C3-BC05-2F7131A4C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05DD3-7540-B188-7597-CF12A35C2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6400800" cy="992459"/>
          </a:xfrm>
        </p:spPr>
        <p:txBody>
          <a:bodyPr>
            <a:normAutofit/>
          </a:bodyPr>
          <a:lstStyle/>
          <a:p>
            <a:r>
              <a:rPr lang="it-IT" sz="2200" b="1" dirty="0">
                <a:solidFill>
                  <a:srgbClr val="0070C0"/>
                </a:solidFill>
              </a:rPr>
              <a:t>Scenario 1: E-commerce Website Handling a Sale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B589C36-7768-F8E4-CBD9-42E80B2B1C0A}"/>
              </a:ext>
            </a:extLst>
          </p:cNvPr>
          <p:cNvSpPr/>
          <p:nvPr/>
        </p:nvSpPr>
        <p:spPr>
          <a:xfrm>
            <a:off x="640080" y="1267097"/>
            <a:ext cx="12710160" cy="5402205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1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0070C0"/>
                </a:solidFill>
              </a:defRPr>
            </a:pP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91A60A-C048-5530-D4B8-D6B804C80579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23383E-7FD5-0B55-1C74-C1899EF2EABF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92A873-F8B5-2428-56E0-FE50133BF012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539281-70C3-DD1A-D292-27D6869FBBF7}"/>
              </a:ext>
            </a:extLst>
          </p:cNvPr>
          <p:cNvSpPr txBox="1"/>
          <p:nvPr/>
        </p:nvSpPr>
        <p:spPr>
          <a:xfrm>
            <a:off x="1097280" y="1714143"/>
            <a:ext cx="1225296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Scenario 1: E-commerce Website Handling a Sale</a:t>
            </a:r>
          </a:p>
          <a:p>
            <a:r>
              <a:rPr lang="en-US" b="1" dirty="0"/>
              <a:t>🟥 Before Smart Cloud (Traditional Cloud)</a:t>
            </a:r>
          </a:p>
          <a:p>
            <a:r>
              <a:rPr lang="en-US" b="1" dirty="0"/>
              <a:t>The Situation:</a:t>
            </a:r>
            <a:r>
              <a:rPr lang="en-US" dirty="0"/>
              <a:t> "Tech</a:t>
            </a:r>
            <a:r>
              <a:rPr lang="ar-EG" dirty="0"/>
              <a:t> </a:t>
            </a:r>
            <a:r>
              <a:rPr lang="en-US" dirty="0"/>
              <a:t>Deals" announces a 50% flash sale.</a:t>
            </a:r>
          </a:p>
          <a:p>
            <a:r>
              <a:rPr lang="en-US" b="1" dirty="0"/>
              <a:t>What Happens:</a:t>
            </a:r>
            <a:endParaRPr lang="en-US" dirty="0"/>
          </a:p>
          <a:p>
            <a:pPr lvl="1"/>
            <a:r>
              <a:rPr lang="en-US" b="1" dirty="0"/>
              <a:t>Traffic Spike:</a:t>
            </a:r>
            <a:r>
              <a:rPr lang="en-US" dirty="0"/>
              <a:t> At the sale time, the website is flooded with visitors.</a:t>
            </a:r>
          </a:p>
          <a:p>
            <a:pPr lvl="1"/>
            <a:r>
              <a:rPr lang="en-US" b="1" dirty="0"/>
              <a:t>Static Resources:</a:t>
            </a:r>
            <a:r>
              <a:rPr lang="en-US" dirty="0"/>
              <a:t> The IT team had to </a:t>
            </a:r>
            <a:r>
              <a:rPr lang="en-US" i="1" dirty="0"/>
              <a:t>manually guess</a:t>
            </a:r>
            <a:r>
              <a:rPr lang="en-US" dirty="0"/>
              <a:t> and pre-allocate extra servers a day before, which is costly and often inaccurate.</a:t>
            </a:r>
          </a:p>
          <a:p>
            <a:pPr lvl="1"/>
            <a:r>
              <a:rPr lang="en-US" b="1" dirty="0"/>
              <a:t>The Crash:</a:t>
            </a:r>
            <a:r>
              <a:rPr lang="en-US" dirty="0"/>
              <a:t> Traffic is higher than expected. The servers can't handle the load.</a:t>
            </a:r>
          </a:p>
          <a:p>
            <a:pPr lvl="1"/>
            <a:r>
              <a:rPr lang="en-US" b="1" dirty="0"/>
              <a:t>Result:</a:t>
            </a:r>
            <a:r>
              <a:rPr lang="en-US" dirty="0"/>
              <a:t> The website </a:t>
            </a:r>
            <a:r>
              <a:rPr lang="en-US" b="1" dirty="0"/>
              <a:t>crashes or becomes extremely slow</a:t>
            </a:r>
            <a:r>
              <a:rPr lang="en-US" dirty="0"/>
              <a:t>. Customers see error messages, get frustrated, and leave their carts. The company loses sales and damages its reputation.</a:t>
            </a:r>
          </a:p>
          <a:p>
            <a:r>
              <a:rPr lang="en-US" b="1" dirty="0"/>
              <a:t>Features Demonstrated (The Problem):</a:t>
            </a:r>
            <a:endParaRPr lang="en-US" dirty="0"/>
          </a:p>
          <a:p>
            <a:pPr lvl="1"/>
            <a:r>
              <a:rPr lang="en-US" b="1" dirty="0"/>
              <a:t>Manual Scaling:</a:t>
            </a:r>
            <a:r>
              <a:rPr lang="en-US" dirty="0"/>
              <a:t> Requires human intervention and guesswork.</a:t>
            </a:r>
          </a:p>
          <a:p>
            <a:pPr lvl="1"/>
            <a:r>
              <a:rPr lang="en-US" b="1" dirty="0"/>
              <a:t>Reactive, Not Proactive:</a:t>
            </a:r>
            <a:r>
              <a:rPr lang="en-US" dirty="0"/>
              <a:t> Responds to failure after it happens.</a:t>
            </a:r>
          </a:p>
          <a:p>
            <a:pPr lvl="1"/>
            <a:r>
              <a:rPr lang="en-US" b="1" dirty="0"/>
              <a:t>Static Infrastructure:</a:t>
            </a:r>
            <a:r>
              <a:rPr lang="en-US" dirty="0"/>
              <a:t> Inflexible and inefficient.</a:t>
            </a:r>
          </a:p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830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887EF-4354-5AF4-AA5F-62896C600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D6D92-37CF-09A5-B0DB-02C86E595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6400800" cy="992459"/>
          </a:xfrm>
        </p:spPr>
        <p:txBody>
          <a:bodyPr>
            <a:normAutofit/>
          </a:bodyPr>
          <a:lstStyle/>
          <a:p>
            <a:r>
              <a:rPr lang="it-IT" sz="2200" b="1" dirty="0">
                <a:solidFill>
                  <a:srgbClr val="0070C0"/>
                </a:solidFill>
              </a:rPr>
              <a:t>Scenario 1: E-commerce Website Handling a Sale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33E4D88-87C7-7043-8370-E9F0D5293044}"/>
              </a:ext>
            </a:extLst>
          </p:cNvPr>
          <p:cNvSpPr/>
          <p:nvPr/>
        </p:nvSpPr>
        <p:spPr>
          <a:xfrm>
            <a:off x="640080" y="1413697"/>
            <a:ext cx="12710160" cy="5402205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1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0070C0"/>
                </a:solidFill>
              </a:defRPr>
            </a:pP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C88BB4-EC71-45CA-32A3-7B2D6FD7ABEE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3094EC-72FB-A25B-57A6-1A4D073BFAB0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DBC957-3DD7-7D77-FD16-A40E7256108F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012EB7-1E61-00AD-2D64-A750D06E67D2}"/>
              </a:ext>
            </a:extLst>
          </p:cNvPr>
          <p:cNvSpPr txBox="1"/>
          <p:nvPr/>
        </p:nvSpPr>
        <p:spPr>
          <a:xfrm>
            <a:off x="1097280" y="1298643"/>
            <a:ext cx="1225296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dirty="0"/>
            </a:br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✅ After Smart Cloud (Intelligent Cloud)</a:t>
            </a:r>
          </a:p>
          <a:p>
            <a:r>
              <a:rPr lang="en-US" b="1" dirty="0"/>
              <a:t>The Same Situation:</a:t>
            </a:r>
            <a:r>
              <a:rPr lang="en-US" dirty="0"/>
              <a:t> "Tech Deals" announces a 50% flash sale.</a:t>
            </a:r>
          </a:p>
          <a:p>
            <a:r>
              <a:rPr lang="en-US" b="1" dirty="0"/>
              <a:t>What Happens:</a:t>
            </a:r>
            <a:endParaRPr lang="en-US" dirty="0"/>
          </a:p>
          <a:p>
            <a:pPr lvl="1"/>
            <a:r>
              <a:rPr lang="en-US" b="1" dirty="0"/>
              <a:t>Anticipation:</a:t>
            </a:r>
            <a:r>
              <a:rPr lang="en-US" dirty="0"/>
              <a:t> The smart cloud's AI analyzes past sale data and marketing campaign reach to </a:t>
            </a:r>
            <a:r>
              <a:rPr lang="en-US" b="1" dirty="0"/>
              <a:t>predict</a:t>
            </a:r>
            <a:r>
              <a:rPr lang="en-US" dirty="0"/>
              <a:t> a 200% traffic increase.</a:t>
            </a:r>
          </a:p>
          <a:p>
            <a:pPr lvl="1"/>
            <a:r>
              <a:rPr lang="en-US" b="1" dirty="0"/>
              <a:t>Auto-Scaling:</a:t>
            </a:r>
            <a:r>
              <a:rPr lang="en-US" dirty="0"/>
              <a:t> One hour before the sale, the system </a:t>
            </a:r>
            <a:r>
              <a:rPr lang="en-US" b="1" dirty="0"/>
              <a:t>automatically provisions</a:t>
            </a:r>
            <a:r>
              <a:rPr lang="en-US" dirty="0"/>
              <a:t> the exact number of servers needed to handle the predicted load.</a:t>
            </a:r>
          </a:p>
          <a:p>
            <a:pPr lvl="1"/>
            <a:r>
              <a:rPr lang="en-US" b="1" dirty="0"/>
              <a:t>Real-Time Optimization:</a:t>
            </a:r>
            <a:r>
              <a:rPr lang="en-US" dirty="0"/>
              <a:t> During the sale, the system continuously monitors performance and adjusts resources in real-time to maintain speed.</a:t>
            </a:r>
          </a:p>
          <a:p>
            <a:pPr lvl="1"/>
            <a:r>
              <a:rPr lang="en-US" b="1" dirty="0"/>
              <a:t>Result:</a:t>
            </a:r>
            <a:r>
              <a:rPr lang="en-US" dirty="0"/>
              <a:t> The website </a:t>
            </a:r>
            <a:r>
              <a:rPr lang="en-US" b="1" dirty="0"/>
              <a:t>remains fast and stable</a:t>
            </a:r>
            <a:r>
              <a:rPr lang="en-US" dirty="0"/>
              <a:t>. Customers complete their purchases smoothly. The company maximizes sales and customer satisfaction.</a:t>
            </a:r>
          </a:p>
          <a:p>
            <a:r>
              <a:rPr lang="en-US" b="1" dirty="0"/>
              <a:t>Smart Cloud Features Demonstrated:</a:t>
            </a:r>
            <a:endParaRPr lang="en-US" dirty="0"/>
          </a:p>
          <a:p>
            <a:pPr lvl="1"/>
            <a:r>
              <a:rPr lang="en-US" b="1" dirty="0"/>
              <a:t>Predictive Analytics:</a:t>
            </a:r>
            <a:r>
              <a:rPr lang="en-US" dirty="0"/>
              <a:t> Uses AI to forecast demand.</a:t>
            </a:r>
          </a:p>
          <a:p>
            <a:pPr lvl="1"/>
            <a:r>
              <a:rPr lang="en-US" b="1" dirty="0"/>
              <a:t>Fully Automated Scaling:</a:t>
            </a:r>
            <a:r>
              <a:rPr lang="en-US" dirty="0"/>
              <a:t> No human intervention needed.</a:t>
            </a:r>
          </a:p>
          <a:p>
            <a:pPr lvl="1"/>
            <a:r>
              <a:rPr lang="en-US" b="1" dirty="0"/>
              <a:t>Real-time Optimization:</a:t>
            </a:r>
            <a:r>
              <a:rPr lang="en-US" dirty="0"/>
              <a:t> Dynamically adjusts to changing conditions.</a:t>
            </a:r>
          </a:p>
          <a:p>
            <a:pPr lvl="1"/>
            <a:r>
              <a:rPr lang="en-US" b="1" dirty="0"/>
              <a:t>Cost-Efficiency:</a:t>
            </a:r>
            <a:r>
              <a:rPr lang="en-US" dirty="0"/>
              <a:t> You only pay for the resources you use, only when you use them.</a:t>
            </a:r>
          </a:p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288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D08DC-CDD4-0B54-E5E1-DA8BE6936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BD9EC-FAC8-F414-AFF1-917B3BB62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6400800" cy="992459"/>
          </a:xfrm>
        </p:spPr>
        <p:txBody>
          <a:bodyPr>
            <a:normAutofit/>
          </a:bodyPr>
          <a:lstStyle/>
          <a:p>
            <a:r>
              <a:rPr lang="en-US" sz="2200" b="1" dirty="0">
                <a:solidFill>
                  <a:srgbClr val="0070C0"/>
                </a:solidFill>
              </a:rPr>
              <a:t>Scenario 2: Detecting a Security Breach in a Bank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4E927E4-C555-3AA7-CC84-51E7FACD8F1E}"/>
              </a:ext>
            </a:extLst>
          </p:cNvPr>
          <p:cNvSpPr/>
          <p:nvPr/>
        </p:nvSpPr>
        <p:spPr>
          <a:xfrm>
            <a:off x="640080" y="1413697"/>
            <a:ext cx="12710160" cy="5402205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1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0070C0"/>
                </a:solidFill>
              </a:defRPr>
            </a:pP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69D6A7-0A53-1695-E8B3-865A1E147C89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5108CD-FC25-58C9-FCE1-A34DBBA5C91F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F73A9F-F936-301E-D148-0B7F65EA7AE6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6562F5-AAAC-4217-DF97-2957FB1F5277}"/>
              </a:ext>
            </a:extLst>
          </p:cNvPr>
          <p:cNvSpPr txBox="1"/>
          <p:nvPr/>
        </p:nvSpPr>
        <p:spPr>
          <a:xfrm>
            <a:off x="1097280" y="1812905"/>
            <a:ext cx="1225296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Scenario 2: Detecting a Security Breach in a Bank</a:t>
            </a:r>
          </a:p>
          <a:p>
            <a:r>
              <a:rPr lang="en-US" b="1" dirty="0"/>
              <a:t>🟥 Before Smart Cloud (Traditional Cloud)</a:t>
            </a:r>
          </a:p>
          <a:p>
            <a:r>
              <a:rPr lang="en-US" b="1" dirty="0"/>
              <a:t>The Situation:</a:t>
            </a:r>
            <a:r>
              <a:rPr lang="en-US" dirty="0"/>
              <a:t> A hacker steals an employee's login credentials.</a:t>
            </a:r>
          </a:p>
          <a:p>
            <a:r>
              <a:rPr lang="en-US" b="1" dirty="0"/>
              <a:t>What Happens:</a:t>
            </a:r>
            <a:endParaRPr lang="en-US" dirty="0"/>
          </a:p>
          <a:p>
            <a:pPr lvl="1"/>
            <a:r>
              <a:rPr lang="en-US" b="1" dirty="0"/>
              <a:t>The Breach:</a:t>
            </a:r>
            <a:r>
              <a:rPr lang="en-US" dirty="0"/>
              <a:t> The hacker logs in from a foreign country and starts downloading customer data files.</a:t>
            </a:r>
          </a:p>
          <a:p>
            <a:pPr lvl="1"/>
            <a:r>
              <a:rPr lang="en-US" b="1" dirty="0"/>
              <a:t>Delayed Detection:</a:t>
            </a:r>
            <a:r>
              <a:rPr lang="en-US" dirty="0"/>
              <a:t> The traditional security system only looks for "known" malware signatures. Since the hacker is using a legitimate login, no immediate alarm is raised.</a:t>
            </a:r>
          </a:p>
          <a:p>
            <a:pPr lvl="1"/>
            <a:r>
              <a:rPr lang="en-US" b="1" dirty="0"/>
              <a:t>Manual Investigation:</a:t>
            </a:r>
            <a:r>
              <a:rPr lang="en-US" dirty="0"/>
              <a:t> A day later, a security analyst notices the unusual download spike during a routine check and starts a manual investigation.</a:t>
            </a:r>
          </a:p>
          <a:p>
            <a:pPr lvl="1"/>
            <a:r>
              <a:rPr lang="en-US" b="1" dirty="0"/>
              <a:t>Result:</a:t>
            </a:r>
            <a:r>
              <a:rPr lang="en-US" dirty="0"/>
              <a:t> By the time the breach is confirmed, </a:t>
            </a:r>
            <a:r>
              <a:rPr lang="en-US" b="1" dirty="0"/>
              <a:t>thousands of customer records have already been stolen.</a:t>
            </a:r>
            <a:r>
              <a:rPr lang="en-US" dirty="0"/>
              <a:t> The response is slow and damage is done.</a:t>
            </a:r>
          </a:p>
          <a:p>
            <a:r>
              <a:rPr lang="en-US" b="1" dirty="0"/>
              <a:t>Features Demonstrated (The Problem):</a:t>
            </a:r>
            <a:endParaRPr lang="en-US" dirty="0"/>
          </a:p>
          <a:p>
            <a:pPr lvl="1"/>
            <a:r>
              <a:rPr lang="en-US" b="1" dirty="0"/>
              <a:t>Signature-Based Security:</a:t>
            </a:r>
            <a:r>
              <a:rPr lang="en-US" dirty="0"/>
              <a:t> Only stops known threats.</a:t>
            </a:r>
          </a:p>
          <a:p>
            <a:pPr lvl="1"/>
            <a:r>
              <a:rPr lang="en-US" b="1" dirty="0"/>
              <a:t>Lack of Behavioral Analysis:</a:t>
            </a:r>
            <a:r>
              <a:rPr lang="en-US" dirty="0"/>
              <a:t> Cannot detect anomalies in normal activity.</a:t>
            </a:r>
          </a:p>
          <a:p>
            <a:pPr lvl="1"/>
            <a:r>
              <a:rPr lang="en-US" b="1" dirty="0"/>
              <a:t>Manual &amp; Slow Response:</a:t>
            </a:r>
            <a:r>
              <a:rPr lang="en-US" dirty="0"/>
              <a:t> Relies on human speed for detection and reaction.</a:t>
            </a:r>
          </a:p>
        </p:txBody>
      </p:sp>
    </p:spTree>
    <p:extLst>
      <p:ext uri="{BB962C8B-B14F-4D97-AF65-F5344CB8AC3E}">
        <p14:creationId xmlns:p14="http://schemas.microsoft.com/office/powerpoint/2010/main" val="11891621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11E7F-0B2B-0B84-ED89-4C62B86F7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D342B-EB7E-66A6-B8EF-82BC52F36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6400800" cy="992459"/>
          </a:xfrm>
        </p:spPr>
        <p:txBody>
          <a:bodyPr>
            <a:normAutofit/>
          </a:bodyPr>
          <a:lstStyle/>
          <a:p>
            <a:r>
              <a:rPr lang="en-US" sz="2200" b="1" dirty="0">
                <a:solidFill>
                  <a:srgbClr val="0070C0"/>
                </a:solidFill>
              </a:rPr>
              <a:t>Scenario 2: Detecting a Security Breach in a Bank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81CDFF5-5495-5AAB-E288-FE2EFB82F671}"/>
              </a:ext>
            </a:extLst>
          </p:cNvPr>
          <p:cNvSpPr/>
          <p:nvPr/>
        </p:nvSpPr>
        <p:spPr>
          <a:xfrm>
            <a:off x="640080" y="1413697"/>
            <a:ext cx="12710160" cy="5402205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1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0070C0"/>
                </a:solidFill>
              </a:defRPr>
            </a:pP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DF4530-C9E8-FCFB-C5A8-0276F130420D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AAE3FB-EAB1-9814-E679-6CDD39344F97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F16FEA-59E0-50B3-D6EB-C324FB67E8C0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FEC2E7-2028-3D86-5009-0D8A01903829}"/>
              </a:ext>
            </a:extLst>
          </p:cNvPr>
          <p:cNvSpPr txBox="1"/>
          <p:nvPr/>
        </p:nvSpPr>
        <p:spPr>
          <a:xfrm>
            <a:off x="1097280" y="1551648"/>
            <a:ext cx="1225296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✅ After Smart Cloud (Intelligent Cloud)</a:t>
            </a:r>
          </a:p>
          <a:p>
            <a:r>
              <a:rPr lang="en-US" b="1" dirty="0"/>
              <a:t>The Same Situation:</a:t>
            </a:r>
            <a:r>
              <a:rPr lang="en-US" dirty="0"/>
              <a:t> A hacker steals an employee's login credentials.</a:t>
            </a:r>
          </a:p>
          <a:p>
            <a:r>
              <a:rPr lang="en-US" b="1" dirty="0"/>
              <a:t>What Happens:</a:t>
            </a:r>
            <a:endParaRPr lang="en-US" dirty="0"/>
          </a:p>
          <a:p>
            <a:pPr lvl="1"/>
            <a:r>
              <a:rPr lang="en-US" b="1" dirty="0"/>
              <a:t>The Breach:</a:t>
            </a:r>
            <a:r>
              <a:rPr lang="en-US" dirty="0"/>
              <a:t> The hacker logs in from a foreign country and starts downloading files.</a:t>
            </a:r>
          </a:p>
          <a:p>
            <a:pPr lvl="1"/>
            <a:r>
              <a:rPr lang="en-US" b="1" dirty="0"/>
              <a:t>AI Detection:</a:t>
            </a:r>
            <a:r>
              <a:rPr lang="en-US" dirty="0"/>
              <a:t> The Smart Cloud's AI immediately flags this as highly suspicious because:</a:t>
            </a:r>
          </a:p>
          <a:p>
            <a:pPr lvl="2"/>
            <a:r>
              <a:rPr lang="en-US" dirty="0"/>
              <a:t>The login is from an unusual geographic location.</a:t>
            </a:r>
          </a:p>
          <a:p>
            <a:pPr lvl="2"/>
            <a:r>
              <a:rPr lang="en-US" dirty="0"/>
              <a:t>The user is downloading data at an abnormal rate and volume they never have before.</a:t>
            </a:r>
          </a:p>
          <a:p>
            <a:pPr lvl="1"/>
            <a:r>
              <a:rPr lang="en-US" b="1" dirty="0"/>
              <a:t>Automated Response:</a:t>
            </a:r>
            <a:r>
              <a:rPr lang="en-US" dirty="0"/>
              <a:t> Within </a:t>
            </a:r>
            <a:r>
              <a:rPr lang="en-US" b="1" dirty="0"/>
              <a:t>seconds</a:t>
            </a:r>
            <a:r>
              <a:rPr lang="en-US" dirty="0"/>
              <a:t>, the system automatically:</a:t>
            </a:r>
          </a:p>
          <a:p>
            <a:pPr lvl="2"/>
            <a:r>
              <a:rPr lang="en-US" b="1" dirty="0"/>
              <a:t>Blocks the user session.</a:t>
            </a:r>
            <a:endParaRPr lang="en-US" dirty="0"/>
          </a:p>
          <a:p>
            <a:pPr lvl="2"/>
            <a:r>
              <a:rPr lang="en-US" b="1" dirty="0"/>
              <a:t>Isolate the downloaded files.</a:t>
            </a:r>
            <a:endParaRPr lang="en-US" dirty="0"/>
          </a:p>
          <a:p>
            <a:pPr lvl="2"/>
            <a:r>
              <a:rPr lang="en-US" b="1" dirty="0"/>
              <a:t>Alerts the security team with a full incident report.</a:t>
            </a:r>
            <a:endParaRPr lang="en-US" dirty="0"/>
          </a:p>
          <a:p>
            <a:pPr lvl="1"/>
            <a:r>
              <a:rPr lang="en-US" b="1" dirty="0"/>
              <a:t>Result:</a:t>
            </a:r>
            <a:r>
              <a:rPr lang="en-US" dirty="0"/>
              <a:t> The breach is </a:t>
            </a:r>
            <a:r>
              <a:rPr lang="en-US" b="1" dirty="0"/>
              <a:t>stopped instantly</a:t>
            </a:r>
            <a:r>
              <a:rPr lang="en-US" dirty="0"/>
              <a:t>. Only a few non-critical files are exposed. The threat is contained before any real damage occurs.</a:t>
            </a:r>
          </a:p>
          <a:p>
            <a:r>
              <a:rPr lang="en-US" b="1" dirty="0"/>
              <a:t>Smart Cloud Features Demonstrated:</a:t>
            </a:r>
            <a:endParaRPr lang="en-US" dirty="0"/>
          </a:p>
          <a:p>
            <a:pPr lvl="1"/>
            <a:r>
              <a:rPr lang="en-US" b="1" dirty="0"/>
              <a:t>AI-Powered Anomaly Detection:</a:t>
            </a:r>
            <a:r>
              <a:rPr lang="en-US" dirty="0"/>
              <a:t> Learns normal behavior and spots deviations.</a:t>
            </a:r>
          </a:p>
          <a:p>
            <a:pPr lvl="1"/>
            <a:r>
              <a:rPr lang="en-US" b="1" dirty="0"/>
              <a:t>Real-Time Threat Intelligence:</a:t>
            </a:r>
            <a:r>
              <a:rPr lang="en-US" dirty="0"/>
              <a:t> Instantly recognizes malicious patterns.</a:t>
            </a:r>
          </a:p>
          <a:p>
            <a:pPr lvl="1"/>
            <a:r>
              <a:rPr lang="en-US" b="1" dirty="0"/>
              <a:t>Automated Incident Response:</a:t>
            </a:r>
            <a:r>
              <a:rPr lang="en-US" dirty="0"/>
              <a:t> Takes immediate action to neutralize threats.</a:t>
            </a:r>
          </a:p>
          <a:p>
            <a:pPr lvl="1"/>
            <a:r>
              <a:rPr lang="en-US" b="1" dirty="0"/>
              <a:t>24/7 Intelligent Monitoring:</a:t>
            </a:r>
            <a:r>
              <a:rPr lang="en-US" dirty="0"/>
              <a:t> Operates constantly without fatigue.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657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417638"/>
          </a:xfrm>
        </p:spPr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Why Businesses Love Smart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705394"/>
            <a:ext cx="13480869" cy="7067006"/>
          </a:xfrm>
        </p:spPr>
        <p:txBody>
          <a:bodyPr>
            <a:normAutofit fontScale="92500" lnSpcReduction="10000"/>
          </a:bodyPr>
          <a:lstStyle/>
          <a:p>
            <a:endParaRPr dirty="0"/>
          </a:p>
          <a:p>
            <a:pPr>
              <a:defRPr sz="2200" b="1">
                <a:solidFill>
                  <a:srgbClr val="0070C0"/>
                </a:solidFill>
              </a:defRPr>
            </a:pPr>
            <a:r>
              <a:rPr sz="2600" dirty="0"/>
              <a:t>💰 Cost Savings</a:t>
            </a:r>
          </a:p>
          <a:p>
            <a:pPr lvl="1">
              <a:defRPr sz="2000">
                <a:solidFill>
                  <a:srgbClr val="F15A24"/>
                </a:solidFill>
              </a:defRPr>
            </a:pPr>
            <a:r>
              <a:rPr dirty="0"/>
              <a:t>➜ </a:t>
            </a:r>
            <a:r>
              <a:rPr b="1" dirty="0"/>
              <a:t>37% average </a:t>
            </a:r>
            <a:r>
              <a:rPr dirty="0"/>
              <a:t>reduction</a:t>
            </a:r>
            <a:r>
              <a:rPr lang="en-US" dirty="0"/>
              <a:t> in IT costs.</a:t>
            </a:r>
            <a:endParaRPr dirty="0"/>
          </a:p>
          <a:p>
            <a:pPr lvl="1"/>
            <a:r>
              <a:rPr sz="2000" dirty="0"/>
              <a:t>   </a:t>
            </a:r>
            <a:r>
              <a:rPr lang="en-US" sz="2000" b="1" dirty="0"/>
              <a:t>The Idea:</a:t>
            </a:r>
            <a:r>
              <a:rPr lang="en-US" sz="2000" dirty="0"/>
              <a:t> Shift from high capital expenditure (buying hardware) to flexible operational expenditure (paying for what you use).</a:t>
            </a:r>
          </a:p>
          <a:p>
            <a:r>
              <a:rPr lang="en-US" sz="2400" b="1" dirty="0"/>
              <a:t>Real-World Proof:</a:t>
            </a:r>
            <a:endParaRPr lang="en-US" sz="2400" dirty="0"/>
          </a:p>
          <a:p>
            <a:pPr lvl="1"/>
            <a:r>
              <a:rPr lang="en-US" sz="2400" b="1" dirty="0"/>
              <a:t>Dropbox</a:t>
            </a:r>
            <a:r>
              <a:rPr lang="en-US" sz="2400" dirty="0"/>
              <a:t> moved its infrastructure in-house to AWS, optimizing its cloud spend and saving an estimated </a:t>
            </a:r>
            <a:r>
              <a:rPr lang="en-US" sz="2400" b="1" dirty="0"/>
              <a:t>$75 million</a:t>
            </a:r>
            <a:r>
              <a:rPr lang="en-US" sz="2400" dirty="0"/>
              <a:t> annually.</a:t>
            </a:r>
          </a:p>
          <a:p>
            <a:pPr>
              <a:defRPr sz="2200" b="1">
                <a:solidFill>
                  <a:srgbClr val="0070C0"/>
                </a:solidFill>
              </a:defRPr>
            </a:pPr>
            <a:r>
              <a:rPr sz="2600" dirty="0"/>
              <a:t>⚡ Speed to Market</a:t>
            </a:r>
          </a:p>
          <a:p>
            <a:pPr lvl="1">
              <a:defRPr sz="2000">
                <a:solidFill>
                  <a:srgbClr val="F15A24"/>
                </a:solidFill>
              </a:defRPr>
            </a:pPr>
            <a:r>
              <a:rPr dirty="0"/>
              <a:t>➜ </a:t>
            </a:r>
            <a:r>
              <a:rPr lang="en-US" sz="2000" b="1" dirty="0"/>
              <a:t>83% faster</a:t>
            </a:r>
            <a:r>
              <a:rPr lang="en-US" sz="2000" dirty="0"/>
              <a:t> deployment of new applications and services.</a:t>
            </a:r>
          </a:p>
          <a:p>
            <a:pPr>
              <a:defRPr sz="2000">
                <a:solidFill>
                  <a:srgbClr val="F15A24"/>
                </a:solidFill>
              </a:defRPr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Idea: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Launch products and features in weeks, not months or years, by eliminating hardware procurement and setup delays.</a:t>
            </a:r>
          </a:p>
          <a:p>
            <a:r>
              <a:rPr lang="en-US" sz="2400" b="1" dirty="0"/>
              <a:t>Real-World Proof:</a:t>
            </a:r>
            <a:endParaRPr lang="en-US" sz="2400" dirty="0"/>
          </a:p>
          <a:p>
            <a:pPr lvl="1"/>
            <a:r>
              <a:rPr lang="en-US" sz="2400" b="1" dirty="0"/>
              <a:t>Airbnb</a:t>
            </a:r>
            <a:r>
              <a:rPr lang="en-US" sz="2400" dirty="0"/>
              <a:t> leveraged cloud infrastructure to scale from a simple website to a </a:t>
            </a:r>
            <a:r>
              <a:rPr lang="en-US" sz="2400" b="1" dirty="0"/>
              <a:t>global platform in weeks</a:t>
            </a:r>
            <a:r>
              <a:rPr lang="en-US" sz="2400" dirty="0"/>
              <a:t>, something that would have taken years with traditional IT.</a:t>
            </a:r>
          </a:p>
          <a:p>
            <a:pPr>
              <a:defRPr sz="2200" b="1">
                <a:solidFill>
                  <a:srgbClr val="0070C0"/>
                </a:solidFill>
              </a:defRPr>
            </a:pPr>
            <a:r>
              <a:rPr sz="2600" dirty="0"/>
              <a:t>🌍 Global Reach</a:t>
            </a:r>
          </a:p>
          <a:p>
            <a:pPr lvl="1">
              <a:defRPr sz="2000">
                <a:solidFill>
                  <a:srgbClr val="F15A24"/>
                </a:solidFill>
              </a:defRPr>
            </a:pPr>
            <a:r>
              <a:rPr lang="en-US" sz="2000" dirty="0"/>
              <a:t>Reach users in </a:t>
            </a:r>
            <a:r>
              <a:rPr lang="en-US" sz="2000" b="1" dirty="0"/>
              <a:t>195 countries</a:t>
            </a:r>
            <a:r>
              <a:rPr lang="en-US" sz="2000" dirty="0"/>
              <a:t> instantly.</a:t>
            </a:r>
          </a:p>
          <a:p>
            <a:pPr>
              <a:defRPr sz="2000">
                <a:solidFill>
                  <a:srgbClr val="F15A24"/>
                </a:solidFill>
              </a:defRPr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Idea: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Instantly deploy your application to users around the world from a single control panel, with low latency and high performance.</a:t>
            </a:r>
            <a:endParaRPr dirty="0"/>
          </a:p>
          <a:p>
            <a:r>
              <a:rPr sz="2400" dirty="0"/>
              <a:t>   </a:t>
            </a:r>
            <a:r>
              <a:rPr lang="en-US" sz="2400" b="1" dirty="0"/>
              <a:t>Real-World Proof:</a:t>
            </a:r>
            <a:endParaRPr lang="en-US" sz="2400" dirty="0"/>
          </a:p>
          <a:p>
            <a:pPr lvl="1"/>
            <a:r>
              <a:rPr lang="en-US" sz="2400" b="1" dirty="0"/>
              <a:t>TikTok</a:t>
            </a:r>
            <a:r>
              <a:rPr lang="en-US" sz="2400" dirty="0"/>
              <a:t> achieved massive hyper-growth, going from </a:t>
            </a:r>
            <a:r>
              <a:rPr lang="en-US" sz="2400" b="1" dirty="0"/>
              <a:t>0 to over 1 billion users</a:t>
            </a:r>
            <a:r>
              <a:rPr lang="en-US" sz="2400" dirty="0"/>
              <a:t> in just 5 years, a feat only possible with a cloud-native, globally distributed architecture.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B230C-E97F-F288-F176-B94D6619A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BA449-637C-1C30-38C0-1A8D41C11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Why Businesses Love Smart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F3DB8-9625-312A-FFEB-64C3D1C36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705394"/>
            <a:ext cx="13480869" cy="7067006"/>
          </a:xfrm>
        </p:spPr>
        <p:txBody>
          <a:bodyPr>
            <a:normAutofit lnSpcReduction="10000"/>
          </a:bodyPr>
          <a:lstStyle/>
          <a:p>
            <a:endParaRPr dirty="0"/>
          </a:p>
          <a:p>
            <a:pPr>
              <a:defRPr sz="2200" b="1">
                <a:solidFill>
                  <a:srgbClr val="0070C0"/>
                </a:solidFill>
              </a:defRPr>
            </a:pPr>
            <a:r>
              <a:rPr sz="2400" dirty="0"/>
              <a:t>📈 Scalability</a:t>
            </a:r>
          </a:p>
          <a:p>
            <a:pPr lvl="1">
              <a:defRPr sz="2000">
                <a:solidFill>
                  <a:srgbClr val="F15A24"/>
                </a:solidFill>
              </a:defRPr>
            </a:pPr>
            <a:r>
              <a:rPr dirty="0"/>
              <a:t>➜ </a:t>
            </a:r>
            <a:r>
              <a:rPr lang="en-US" sz="2000" dirty="0"/>
              <a:t> manage up to </a:t>
            </a:r>
            <a:r>
              <a:rPr lang="en-US" sz="2000" b="1" dirty="0"/>
              <a:t>10,000% growth</a:t>
            </a:r>
            <a:r>
              <a:rPr lang="en-US" sz="2000" dirty="0"/>
              <a:t>.</a:t>
            </a:r>
          </a:p>
          <a:p>
            <a:pPr>
              <a:defRPr sz="2000">
                <a:solidFill>
                  <a:srgbClr val="F15A24"/>
                </a:solidFill>
              </a:defRPr>
            </a:pPr>
            <a:r>
              <a:rPr lang="en-US" sz="19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Idea:</a:t>
            </a:r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Automatically handle traffic increases from 100 to 10 million users without any service interruption or performance degradation.</a:t>
            </a:r>
            <a:endParaRPr sz="1900" dirty="0"/>
          </a:p>
          <a:p>
            <a:r>
              <a:rPr dirty="0"/>
              <a:t>   </a:t>
            </a:r>
            <a:r>
              <a:rPr lang="en-US" sz="2200" b="1" dirty="0"/>
              <a:t>Real-World Proof:</a:t>
            </a:r>
            <a:endParaRPr lang="en-US" sz="2200" dirty="0"/>
          </a:p>
          <a:p>
            <a:pPr lvl="1"/>
            <a:r>
              <a:rPr lang="en-US" sz="2200" b="1" dirty="0" err="1"/>
              <a:t>Pokemon</a:t>
            </a:r>
            <a:r>
              <a:rPr lang="en-US" sz="2200" b="1" dirty="0"/>
              <a:t> Go</a:t>
            </a:r>
            <a:r>
              <a:rPr lang="en-US" sz="2200" dirty="0"/>
              <a:t> experienced </a:t>
            </a:r>
            <a:r>
              <a:rPr lang="en-US" sz="2200" b="1" dirty="0"/>
              <a:t>50x</a:t>
            </a:r>
            <a:r>
              <a:rPr lang="en-US" sz="2200" dirty="0"/>
              <a:t> its expected traffic on launch day. The cloud automatically scaled to handle the massive surge, preventing a total crash.</a:t>
            </a:r>
          </a:p>
          <a:p>
            <a:pPr>
              <a:defRPr sz="2200" b="1">
                <a:solidFill>
                  <a:srgbClr val="0070C0"/>
                </a:solidFill>
              </a:defRPr>
            </a:pPr>
            <a:r>
              <a:rPr sz="2400" dirty="0"/>
              <a:t>🔒 Better Security</a:t>
            </a:r>
          </a:p>
          <a:p>
            <a:pPr lvl="1">
              <a:defRPr sz="2000">
                <a:solidFill>
                  <a:srgbClr val="F15A24"/>
                </a:solidFill>
              </a:defRPr>
            </a:pPr>
            <a:r>
              <a:rPr dirty="0"/>
              <a:t>➜ </a:t>
            </a:r>
            <a:r>
              <a:rPr lang="en-US" sz="2000" dirty="0"/>
              <a:t>Organizations see up to </a:t>
            </a:r>
            <a:r>
              <a:rPr lang="en-US" sz="2000" b="1" dirty="0"/>
              <a:t>94% fewer security breaches</a:t>
            </a:r>
            <a:r>
              <a:rPr lang="en-US" sz="2000" dirty="0"/>
              <a:t>.</a:t>
            </a:r>
          </a:p>
          <a:p>
            <a:pPr>
              <a:defRPr sz="2000">
                <a:solidFill>
                  <a:srgbClr val="F15A24"/>
                </a:solidFill>
              </a:defRPr>
            </a:pPr>
            <a:r>
              <a:rPr lang="en-US" sz="19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Idea:</a:t>
            </a:r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Leverage world-class, AI-powered security infrastructure that is often more robust than what most companies can build on their own.</a:t>
            </a:r>
          </a:p>
          <a:p>
            <a:pPr>
              <a:defRPr sz="2000">
                <a:solidFill>
                  <a:srgbClr val="F15A24"/>
                </a:solidFill>
              </a:defRPr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Real-World Proof: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>
              <a:defRPr sz="1600" i="1">
                <a:solidFill>
                  <a:srgbClr val="2C2C2C"/>
                </a:solidFill>
              </a:defRPr>
            </a:pPr>
            <a:r>
              <a:rPr sz="2200" dirty="0"/>
              <a:t>  </a:t>
            </a:r>
            <a:r>
              <a:rPr lang="en-US" sz="2200" dirty="0"/>
              <a:t>a major bank, stated that its primary reason for moving to the cloud was for superior security, leveraging the expertise and advanced tools of cloud providers.</a:t>
            </a:r>
          </a:p>
          <a:p>
            <a:pPr marL="457200" lvl="1" indent="0">
              <a:buNone/>
              <a:defRPr sz="1600" i="1">
                <a:solidFill>
                  <a:srgbClr val="2C2C2C"/>
                </a:solidFill>
              </a:defRPr>
            </a:pPr>
            <a:endParaRPr dirty="0"/>
          </a:p>
          <a:p>
            <a:pPr>
              <a:defRPr sz="2200" b="1">
                <a:solidFill>
                  <a:srgbClr val="0070C0"/>
                </a:solidFill>
              </a:defRPr>
            </a:pPr>
            <a:r>
              <a:rPr sz="2400" dirty="0"/>
              <a:t>🎯 Innovation</a:t>
            </a:r>
          </a:p>
          <a:p>
            <a:pPr lvl="1">
              <a:defRPr sz="2000">
                <a:solidFill>
                  <a:srgbClr val="F15A24"/>
                </a:solidFill>
              </a:defRPr>
            </a:pPr>
            <a:r>
              <a:rPr dirty="0"/>
              <a:t>➜ 2x faster feature releases</a:t>
            </a:r>
          </a:p>
          <a:p>
            <a:pPr lvl="1">
              <a:defRPr sz="1600" i="1">
                <a:solidFill>
                  <a:srgbClr val="2C2C2C"/>
                </a:solidFill>
              </a:defRPr>
            </a:pPr>
            <a:r>
              <a:rPr dirty="0"/>
              <a:t>   Real Example: Tesla: Updates cars overnight via cloud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A93042-DD0C-8780-00F5-BADB24326CF9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F6BE4F-D358-7536-30CB-5496D60A16A8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74AC73-5FB3-EFCC-E49A-EA623E8EBE96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666576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Your Turn: Quick Activity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828800"/>
            <a:ext cx="10972800" cy="4572000"/>
          </a:xfrm>
          <a:prstGeom prst="roundRect">
            <a:avLst/>
          </a:prstGeom>
          <a:solidFill>
            <a:srgbClr val="FFFAF0"/>
          </a:solidFill>
          <a:ln w="38100">
            <a:solidFill>
              <a:srgbClr val="F1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15A24"/>
                </a:solidFill>
              </a:defRPr>
            </a:pPr>
            <a:r>
              <a:rPr dirty="0"/>
              <a:t>🤔 Think &amp; Share</a:t>
            </a:r>
          </a:p>
          <a:p>
            <a:br>
              <a:rPr dirty="0"/>
            </a:br>
            <a:r>
              <a:rPr dirty="0">
                <a:solidFill>
                  <a:schemeClr val="tx1"/>
                </a:solidFill>
              </a:rPr>
              <a:t>If your company moved to cloud, what would be</a:t>
            </a:r>
          </a:p>
          <a:p>
            <a:pPr algn="ctr">
              <a:defRPr sz="2800" b="1">
                <a:solidFill>
                  <a:srgbClr val="0070C0"/>
                </a:solidFill>
              </a:defRPr>
            </a:pPr>
            <a:r>
              <a:rPr dirty="0"/>
              <a:t>the BIGGEST benefit?</a:t>
            </a:r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📝 Share your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The 3 Cloud Deployment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AABA6B-FD3D-20FD-A770-A0498FD2F229}"/>
              </a:ext>
            </a:extLst>
          </p:cNvPr>
          <p:cNvSpPr txBox="1"/>
          <p:nvPr/>
        </p:nvSpPr>
        <p:spPr>
          <a:xfrm>
            <a:off x="600891" y="1502229"/>
            <a:ext cx="13572309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</a:rPr>
              <a:t>1. Public Cloud</a:t>
            </a:r>
            <a:endParaRPr lang="en-US" sz="2200" dirty="0">
              <a:solidFill>
                <a:srgbClr val="0070C0"/>
              </a:solidFill>
            </a:endParaRPr>
          </a:p>
          <a:p>
            <a:r>
              <a:rPr lang="en-US" b="1" dirty="0"/>
              <a:t>What is it?</a:t>
            </a:r>
            <a:endParaRPr lang="en-US" dirty="0"/>
          </a:p>
          <a:p>
            <a:r>
              <a:rPr lang="en-US" dirty="0"/>
              <a:t>Cloud services offered to everyone over the internet</a:t>
            </a:r>
          </a:p>
          <a:p>
            <a:r>
              <a:rPr lang="en-US" dirty="0"/>
              <a:t>Shared infrastructure - like living in an apartment building</a:t>
            </a:r>
          </a:p>
          <a:p>
            <a:r>
              <a:rPr lang="en-US" b="1" dirty="0"/>
              <a:t>Key Features:</a:t>
            </a:r>
            <a:endParaRPr lang="en-US" dirty="0"/>
          </a:p>
          <a:p>
            <a:r>
              <a:rPr lang="en-US" dirty="0"/>
              <a:t>Pay only for what you use</a:t>
            </a:r>
          </a:p>
          <a:p>
            <a:r>
              <a:rPr lang="en-US" dirty="0"/>
              <a:t>Instantly scalable</a:t>
            </a:r>
          </a:p>
          <a:p>
            <a:r>
              <a:rPr lang="en-US" dirty="0"/>
              <a:t>No maintenance needed</a:t>
            </a:r>
          </a:p>
          <a:p>
            <a:r>
              <a:rPr lang="en-US" b="1" dirty="0"/>
              <a:t>Best For:</a:t>
            </a:r>
            <a:endParaRPr lang="en-US" dirty="0"/>
          </a:p>
          <a:p>
            <a:r>
              <a:rPr lang="en-US" dirty="0"/>
              <a:t>Startups and small businesses</a:t>
            </a:r>
          </a:p>
          <a:p>
            <a:r>
              <a:rPr lang="en-US" dirty="0"/>
              <a:t>Websites and mobile apps</a:t>
            </a:r>
          </a:p>
          <a:p>
            <a:r>
              <a:rPr lang="en-US" dirty="0"/>
              <a:t>Development and testing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Netflix (runs on AWS)</a:t>
            </a:r>
          </a:p>
          <a:p>
            <a:r>
              <a:rPr lang="en-US" dirty="0"/>
              <a:t>Spotify (uses Google Cloud)</a:t>
            </a:r>
          </a:p>
          <a:p>
            <a:r>
              <a:rPr lang="en-US" dirty="0"/>
              <a:t>Hosting your website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D800A-4DB1-A2E2-66AE-405B087B9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6E480-86E9-C8BA-C881-CC57712C8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The 3 Cloud Deployment Models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C8017B-B6C0-9D3E-CA36-F81993326301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C19740-E464-44D0-2057-3826A54A41D6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FEEAC2-65F5-3BD3-CC17-B3DE15F6CF78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53BA39-F4E0-2A60-32D3-9352B4C0B7C0}"/>
              </a:ext>
            </a:extLst>
          </p:cNvPr>
          <p:cNvSpPr txBox="1"/>
          <p:nvPr/>
        </p:nvSpPr>
        <p:spPr>
          <a:xfrm>
            <a:off x="692331" y="522030"/>
            <a:ext cx="13572309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2400" dirty="0"/>
            </a:br>
            <a:endParaRPr lang="en-US" sz="2400" dirty="0"/>
          </a:p>
          <a:p>
            <a:r>
              <a:rPr lang="en-US" sz="2400" b="1" dirty="0">
                <a:solidFill>
                  <a:srgbClr val="0070C0"/>
                </a:solidFill>
              </a:rPr>
              <a:t>2. Private Cloud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b="1" dirty="0"/>
              <a:t>What is it?</a:t>
            </a:r>
            <a:endParaRPr lang="en-US" sz="2400" dirty="0"/>
          </a:p>
          <a:p>
            <a:r>
              <a:rPr lang="en-US" sz="2400" dirty="0"/>
              <a:t>Dedicated cloud for one organization only</a:t>
            </a:r>
          </a:p>
          <a:p>
            <a:r>
              <a:rPr lang="en-US" sz="2400" dirty="0"/>
              <a:t>Exclusive infrastructure - like owning a private villa</a:t>
            </a:r>
          </a:p>
          <a:p>
            <a:r>
              <a:rPr lang="en-US" sz="2400" b="1" dirty="0"/>
              <a:t>Key Features:</a:t>
            </a:r>
            <a:endParaRPr lang="en-US" sz="2400" dirty="0"/>
          </a:p>
          <a:p>
            <a:r>
              <a:rPr lang="en-US" sz="2400" dirty="0"/>
              <a:t>Maximum security and control</a:t>
            </a:r>
          </a:p>
          <a:p>
            <a:r>
              <a:rPr lang="en-US" sz="2400" dirty="0"/>
              <a:t>Meets strict compliance requirements</a:t>
            </a:r>
          </a:p>
          <a:p>
            <a:r>
              <a:rPr lang="en-US" sz="2400" dirty="0"/>
              <a:t>Customizable to specific needs</a:t>
            </a:r>
          </a:p>
          <a:p>
            <a:r>
              <a:rPr lang="en-US" sz="2400" b="1" dirty="0"/>
              <a:t>Best For:</a:t>
            </a:r>
            <a:endParaRPr lang="en-US" sz="2400" dirty="0"/>
          </a:p>
          <a:p>
            <a:r>
              <a:rPr lang="en-US" sz="2400" dirty="0"/>
              <a:t>Banks and financial institutions</a:t>
            </a:r>
          </a:p>
          <a:p>
            <a:r>
              <a:rPr lang="en-US" sz="2400" dirty="0"/>
              <a:t>Hospitals and healthcare</a:t>
            </a:r>
          </a:p>
          <a:p>
            <a:r>
              <a:rPr lang="en-US" sz="2400" dirty="0"/>
              <a:t>Government organizations</a:t>
            </a:r>
          </a:p>
          <a:p>
            <a:r>
              <a:rPr lang="en-US" sz="2400" b="1" dirty="0"/>
              <a:t>Examples:</a:t>
            </a:r>
            <a:endParaRPr lang="en-US" sz="2400" dirty="0"/>
          </a:p>
          <a:p>
            <a:r>
              <a:rPr lang="en-US" sz="2400" dirty="0"/>
              <a:t>Bank systems</a:t>
            </a:r>
          </a:p>
          <a:p>
            <a:r>
              <a:rPr lang="en-US" sz="2400" dirty="0"/>
              <a:t>Hospital patient records</a:t>
            </a:r>
          </a:p>
          <a:p>
            <a:r>
              <a:rPr lang="en-US" sz="2400" dirty="0"/>
              <a:t>Government classified data</a:t>
            </a:r>
          </a:p>
          <a:p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32288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1BE86-FF0D-5762-542C-9FAE9FAE9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1838F-D575-3B66-8E66-BE1862545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The 3 Cloud Deployment Models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7FB40E-55AB-0B64-8C65-0BC94F62F113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BB254A-9859-231C-B462-020331351521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E3E749-BC50-EAEF-5FE0-A162706F7D17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D87C2A-D2A4-0DC7-DF12-6D898D49599A}"/>
              </a:ext>
            </a:extLst>
          </p:cNvPr>
          <p:cNvSpPr txBox="1"/>
          <p:nvPr/>
        </p:nvSpPr>
        <p:spPr>
          <a:xfrm>
            <a:off x="692331" y="522030"/>
            <a:ext cx="13572309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2400" dirty="0"/>
            </a:br>
            <a:endParaRPr lang="en-US" sz="2400" dirty="0"/>
          </a:p>
          <a:p>
            <a:r>
              <a:rPr lang="en-US" sz="2400" b="1" dirty="0">
                <a:solidFill>
                  <a:srgbClr val="0070C0"/>
                </a:solidFill>
              </a:rPr>
              <a:t>3. Hybrid Cloud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b="1" dirty="0"/>
              <a:t>What is it?</a:t>
            </a:r>
            <a:endParaRPr lang="en-US" sz="2400" dirty="0"/>
          </a:p>
          <a:p>
            <a:r>
              <a:rPr lang="en-US" sz="2400" dirty="0"/>
              <a:t>Mix of public + private cloud</a:t>
            </a:r>
          </a:p>
          <a:p>
            <a:r>
              <a:rPr lang="en-US" sz="2400" dirty="0"/>
              <a:t>Connected together - like having a house with shared facilities</a:t>
            </a:r>
          </a:p>
          <a:p>
            <a:r>
              <a:rPr lang="en-US" sz="2400" b="1" dirty="0"/>
              <a:t>Key Features:</a:t>
            </a:r>
            <a:endParaRPr lang="en-US" sz="2400" dirty="0"/>
          </a:p>
          <a:p>
            <a:r>
              <a:rPr lang="en-US" sz="2400" dirty="0"/>
              <a:t>Balance between cost and security</a:t>
            </a:r>
          </a:p>
          <a:p>
            <a:r>
              <a:rPr lang="en-US" sz="2400" dirty="0"/>
              <a:t>Flexible workload placement</a:t>
            </a:r>
          </a:p>
          <a:p>
            <a:r>
              <a:rPr lang="en-US" sz="2400" dirty="0"/>
              <a:t>Gradual cloud migration</a:t>
            </a:r>
          </a:p>
          <a:p>
            <a:r>
              <a:rPr lang="en-US" sz="2400" b="1" dirty="0"/>
              <a:t>Best For:</a:t>
            </a:r>
            <a:endParaRPr lang="en-US" sz="2400" dirty="0"/>
          </a:p>
          <a:p>
            <a:r>
              <a:rPr lang="en-US" sz="2400" dirty="0"/>
              <a:t>Growing businesses</a:t>
            </a:r>
          </a:p>
          <a:p>
            <a:r>
              <a:rPr lang="en-US" sz="2400" dirty="0"/>
              <a:t>Companies moving to cloud</a:t>
            </a:r>
          </a:p>
          <a:p>
            <a:r>
              <a:rPr lang="en-US" sz="2400" dirty="0"/>
              <a:t>Handling traffic spikes</a:t>
            </a:r>
          </a:p>
          <a:p>
            <a:r>
              <a:rPr lang="en-US" sz="2400" b="1" dirty="0"/>
              <a:t>Examples:</a:t>
            </a:r>
            <a:endParaRPr lang="en-US" sz="2400" dirty="0"/>
          </a:p>
          <a:p>
            <a:r>
              <a:rPr lang="en-US" sz="2400" dirty="0"/>
              <a:t>Uber (app public, data private)</a:t>
            </a:r>
          </a:p>
          <a:p>
            <a:r>
              <a:rPr lang="en-US" sz="2400" dirty="0"/>
              <a:t>E-commerce sites (public website, private customer data)</a:t>
            </a:r>
          </a:p>
          <a:p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493463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11609-6006-7950-91A0-5A8E31CBB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7ED7C-4ED3-0ABB-8D69-242A44D3D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The 3 Cloud Deployment Models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090E9CF-63E9-1847-4604-B85AE9156CC6}"/>
              </a:ext>
            </a:extLst>
          </p:cNvPr>
          <p:cNvSpPr/>
          <p:nvPr/>
        </p:nvSpPr>
        <p:spPr>
          <a:xfrm>
            <a:off x="457200" y="1828800"/>
            <a:ext cx="4572000" cy="50292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dirty="0"/>
              <a:t>PUBLIC CLOUD</a:t>
            </a:r>
          </a:p>
          <a:p>
            <a:br>
              <a:rPr dirty="0"/>
            </a:br>
            <a:r>
              <a:rPr dirty="0"/>
              <a:t>☁️ Multi-Tenant</a:t>
            </a:r>
          </a:p>
          <a:p>
            <a:pPr>
              <a:defRPr sz="800"/>
            </a:pPr>
            <a:br>
              <a:rPr dirty="0"/>
            </a:br>
            <a:endParaRPr dirty="0"/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rPr dirty="0"/>
              <a:t>✓ Open to everyone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rPr dirty="0"/>
              <a:t>✓ Pay as you go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rPr dirty="0"/>
              <a:t>✓ No maintenance</a:t>
            </a:r>
          </a:p>
          <a:p>
            <a:br>
              <a:rPr dirty="0"/>
            </a:br>
            <a:r>
              <a:rPr dirty="0"/>
              <a:t>Examples:</a:t>
            </a:r>
          </a:p>
          <a:p>
            <a:pPr algn="l">
              <a:defRPr sz="1200">
                <a:solidFill>
                  <a:srgbClr val="FFFFFF"/>
                </a:solidFill>
              </a:defRPr>
            </a:pPr>
            <a:r>
              <a:rPr dirty="0"/>
              <a:t>• Amazon AWS</a:t>
            </a:r>
          </a:p>
          <a:p>
            <a:pPr algn="l">
              <a:defRPr sz="1200">
                <a:solidFill>
                  <a:srgbClr val="FFFFFF"/>
                </a:solidFill>
              </a:defRPr>
            </a:pPr>
            <a:r>
              <a:rPr dirty="0"/>
              <a:t>• Microsoft Azure</a:t>
            </a:r>
          </a:p>
          <a:p>
            <a:pPr algn="l">
              <a:defRPr sz="1200">
                <a:solidFill>
                  <a:srgbClr val="FFFFFF"/>
                </a:solidFill>
              </a:defRPr>
            </a:pPr>
            <a:r>
              <a:rPr dirty="0"/>
              <a:t>• Google Cloud</a:t>
            </a:r>
          </a:p>
          <a:p>
            <a:br>
              <a:rPr dirty="0"/>
            </a:br>
            <a:r>
              <a:rPr dirty="0"/>
              <a:t>Perfect for: Startups, websites, mobile apps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AA17A74-CB1C-2494-6E20-F45D3BE74585}"/>
              </a:ext>
            </a:extLst>
          </p:cNvPr>
          <p:cNvSpPr/>
          <p:nvPr/>
        </p:nvSpPr>
        <p:spPr>
          <a:xfrm>
            <a:off x="5029200" y="1828800"/>
            <a:ext cx="4572000" cy="5029200"/>
          </a:xfrm>
          <a:prstGeom prst="round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PRIVATE CLOUD</a:t>
            </a:r>
          </a:p>
          <a:p>
            <a:br/>
            <a:r>
              <a:t>🔒 Single-Tenant</a:t>
            </a:r>
          </a:p>
          <a:p>
            <a:pPr>
              <a:defRPr sz="800"/>
            </a:pPr>
            <a:br/>
            <a:endParaRPr/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✓ Only for you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✓ Maximum control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✓ Higher cost</a:t>
            </a:r>
          </a:p>
          <a:p>
            <a:br/>
            <a:r>
              <a:t>Examples:</a:t>
            </a:r>
          </a:p>
          <a:p>
            <a:pPr algn="l">
              <a:defRPr sz="1200">
                <a:solidFill>
                  <a:srgbClr val="FFFFFF"/>
                </a:solidFill>
              </a:defRPr>
            </a:pPr>
            <a:r>
              <a:t>• VMware vCloud</a:t>
            </a:r>
          </a:p>
          <a:p>
            <a:pPr algn="l">
              <a:defRPr sz="1200">
                <a:solidFill>
                  <a:srgbClr val="FFFFFF"/>
                </a:solidFill>
              </a:defRPr>
            </a:pPr>
            <a:r>
              <a:t>• OpenStack</a:t>
            </a:r>
          </a:p>
          <a:p>
            <a:pPr algn="l">
              <a:defRPr sz="1200">
                <a:solidFill>
                  <a:srgbClr val="FFFFFF"/>
                </a:solidFill>
              </a:defRPr>
            </a:pPr>
            <a:r>
              <a:t>• IBM Cloud Private</a:t>
            </a:r>
          </a:p>
          <a:p>
            <a:br/>
            <a:r>
              <a:t>Perfect for: Banks, hospitals, government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351C6E0-709E-D8FB-2BD6-2DD9F2704C1B}"/>
              </a:ext>
            </a:extLst>
          </p:cNvPr>
          <p:cNvSpPr/>
          <p:nvPr/>
        </p:nvSpPr>
        <p:spPr>
          <a:xfrm>
            <a:off x="9601200" y="1828800"/>
            <a:ext cx="4572000" cy="5029200"/>
          </a:xfrm>
          <a:prstGeom prst="roundRect">
            <a:avLst/>
          </a:prstGeom>
          <a:solidFill>
            <a:srgbClr val="00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dirty="0"/>
              <a:t>HYBRID CLOUD</a:t>
            </a:r>
          </a:p>
          <a:p>
            <a:br>
              <a:rPr dirty="0"/>
            </a:br>
            <a:r>
              <a:rPr dirty="0"/>
              <a:t>🔀 Best of Both</a:t>
            </a:r>
          </a:p>
          <a:p>
            <a:pPr>
              <a:defRPr sz="800"/>
            </a:pPr>
            <a:br>
              <a:rPr dirty="0"/>
            </a:br>
            <a:endParaRPr dirty="0"/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rPr dirty="0"/>
              <a:t>✓ Mix and match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rPr dirty="0"/>
              <a:t>✓ Flexible options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rPr dirty="0"/>
              <a:t>✓ Complex setup</a:t>
            </a:r>
          </a:p>
          <a:p>
            <a:br>
              <a:rPr dirty="0"/>
            </a:br>
            <a:r>
              <a:rPr dirty="0"/>
              <a:t>Examples:</a:t>
            </a:r>
          </a:p>
          <a:p>
            <a:pPr algn="l">
              <a:defRPr sz="1200">
                <a:solidFill>
                  <a:srgbClr val="FFFFFF"/>
                </a:solidFill>
              </a:defRPr>
            </a:pPr>
            <a:r>
              <a:rPr dirty="0"/>
              <a:t>• Azure Stack</a:t>
            </a:r>
          </a:p>
          <a:p>
            <a:pPr algn="l">
              <a:defRPr sz="1200">
                <a:solidFill>
                  <a:srgbClr val="FFFFFF"/>
                </a:solidFill>
              </a:defRPr>
            </a:pPr>
            <a:r>
              <a:rPr dirty="0"/>
              <a:t>• AWS Outposts</a:t>
            </a:r>
          </a:p>
          <a:p>
            <a:pPr algn="l">
              <a:defRPr sz="1200">
                <a:solidFill>
                  <a:srgbClr val="FFFFFF"/>
                </a:solidFill>
              </a:defRPr>
            </a:pPr>
            <a:r>
              <a:rPr dirty="0"/>
              <a:t>• Google Anthos</a:t>
            </a:r>
          </a:p>
          <a:p>
            <a:br>
              <a:rPr dirty="0"/>
            </a:br>
            <a:r>
              <a:rPr dirty="0"/>
              <a:t>Perfect for: Large enterprises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7359F2-0D30-0A0A-B63B-BB722C5991F5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2ED72E-25C3-9147-06E4-0B0D8F30FF9F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FAD38F-054C-A6F1-34E0-C62D2317E8E0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6104120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Who Uses What? Industry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6237196"/>
          </a:xfrm>
        </p:spPr>
        <p:txBody>
          <a:bodyPr>
            <a:normAutofit fontScale="92500" lnSpcReduction="20000"/>
          </a:bodyPr>
          <a:lstStyle/>
          <a:p>
            <a:endParaRPr dirty="0"/>
          </a:p>
          <a:p>
            <a:pPr>
              <a:defRPr sz="2200" b="1">
                <a:solidFill>
                  <a:srgbClr val="F15A24"/>
                </a:solidFill>
              </a:defRPr>
            </a:pPr>
            <a:r>
              <a:rPr dirty="0"/>
              <a:t>🏥 Healthcare</a:t>
            </a:r>
          </a:p>
          <a:p>
            <a:pPr lvl="1">
              <a:defRPr sz="1800">
                <a:solidFill>
                  <a:srgbClr val="0070C0"/>
                </a:solidFill>
              </a:defRPr>
            </a:pPr>
            <a:r>
              <a:rPr dirty="0"/>
              <a:t>• </a:t>
            </a:r>
            <a:r>
              <a:rPr lang="en-US" dirty="0"/>
              <a:t>Large </a:t>
            </a:r>
            <a:r>
              <a:rPr lang="en-US" dirty="0" err="1"/>
              <a:t>Hosiptal</a:t>
            </a:r>
            <a:r>
              <a:rPr dirty="0"/>
              <a:t>→ Private Cloud</a:t>
            </a:r>
          </a:p>
          <a:p>
            <a:pPr lvl="2">
              <a:defRPr sz="1600" i="1">
                <a:solidFill>
                  <a:srgbClr val="2C2C2C"/>
                </a:solidFill>
              </a:defRPr>
            </a:pPr>
            <a:r>
              <a:rPr dirty="0"/>
              <a:t>  Why? Patient data privacy</a:t>
            </a:r>
          </a:p>
          <a:p>
            <a:pPr lvl="1">
              <a:defRPr sz="1800">
                <a:solidFill>
                  <a:srgbClr val="0070C0"/>
                </a:solidFill>
              </a:defRPr>
            </a:pPr>
            <a:r>
              <a:rPr dirty="0"/>
              <a:t>• </a:t>
            </a:r>
            <a:r>
              <a:rPr lang="en-US" sz="1800" dirty="0"/>
              <a:t>Pharmaceutical Company </a:t>
            </a:r>
            <a:r>
              <a:rPr dirty="0"/>
              <a:t>→ Hybrid Cloud</a:t>
            </a:r>
          </a:p>
          <a:p>
            <a:pPr lvl="1"/>
            <a:r>
              <a:rPr sz="1500" dirty="0"/>
              <a:t>  Why? </a:t>
            </a:r>
            <a:r>
              <a:rPr lang="en-US" sz="1500" b="1" dirty="0"/>
              <a:t>Private:</a:t>
            </a:r>
            <a:r>
              <a:rPr lang="en-US" sz="1500" dirty="0"/>
              <a:t> Research and private data</a:t>
            </a:r>
          </a:p>
          <a:p>
            <a:pPr lvl="2"/>
            <a:r>
              <a:rPr lang="en-US" sz="1500" b="1" dirty="0"/>
              <a:t>Public:</a:t>
            </a:r>
            <a:r>
              <a:rPr lang="en-US" sz="1500" dirty="0"/>
              <a:t> Drug development collaborations</a:t>
            </a:r>
            <a:endParaRPr sz="1500" dirty="0"/>
          </a:p>
          <a:p>
            <a:pPr lvl="1">
              <a:defRPr sz="1800">
                <a:solidFill>
                  <a:srgbClr val="0070C0"/>
                </a:solidFill>
              </a:defRPr>
            </a:pPr>
            <a:r>
              <a:rPr dirty="0"/>
              <a:t>• </a:t>
            </a:r>
            <a:r>
              <a:rPr lang="en-US" sz="1800" dirty="0"/>
              <a:t>Telemedicine App </a:t>
            </a:r>
            <a:r>
              <a:rPr dirty="0"/>
              <a:t> → Public Cloud</a:t>
            </a:r>
          </a:p>
          <a:p>
            <a:pPr lvl="2">
              <a:defRPr sz="1600" i="1">
                <a:solidFill>
                  <a:srgbClr val="2C2C2C"/>
                </a:solidFill>
              </a:defRPr>
            </a:pPr>
            <a:r>
              <a:rPr dirty="0"/>
              <a:t>  Why? </a:t>
            </a:r>
            <a:r>
              <a:rPr lang="en-US" sz="1600" dirty="0"/>
              <a:t>Remote medical consultations service</a:t>
            </a:r>
            <a:endParaRPr dirty="0"/>
          </a:p>
          <a:p>
            <a:pPr>
              <a:defRPr sz="2200" b="1">
                <a:solidFill>
                  <a:srgbClr val="F15A24"/>
                </a:solidFill>
              </a:defRPr>
            </a:pPr>
            <a:r>
              <a:rPr dirty="0"/>
              <a:t>💰 Financial Services</a:t>
            </a:r>
          </a:p>
          <a:p>
            <a:pPr lvl="1">
              <a:defRPr sz="1800">
                <a:solidFill>
                  <a:srgbClr val="0070C0"/>
                </a:solidFill>
              </a:defRPr>
            </a:pPr>
            <a:r>
              <a:rPr dirty="0"/>
              <a:t>• JP Morgan → Private Cloud</a:t>
            </a:r>
          </a:p>
          <a:p>
            <a:pPr lvl="2">
              <a:defRPr sz="1600" i="1">
                <a:solidFill>
                  <a:srgbClr val="2C2C2C"/>
                </a:solidFill>
              </a:defRPr>
            </a:pPr>
            <a:r>
              <a:rPr dirty="0"/>
              <a:t>  Why? $2.5B investment</a:t>
            </a:r>
          </a:p>
          <a:p>
            <a:pPr lvl="1">
              <a:defRPr sz="1800">
                <a:solidFill>
                  <a:srgbClr val="0070C0"/>
                </a:solidFill>
              </a:defRPr>
            </a:pPr>
            <a:r>
              <a:rPr dirty="0"/>
              <a:t>• Capital One → Public Cloud</a:t>
            </a:r>
          </a:p>
          <a:p>
            <a:pPr lvl="2">
              <a:defRPr sz="1600" i="1">
                <a:solidFill>
                  <a:srgbClr val="2C2C2C"/>
                </a:solidFill>
              </a:defRPr>
            </a:pPr>
            <a:r>
              <a:rPr dirty="0"/>
              <a:t>  Why? All-in on AWS</a:t>
            </a:r>
          </a:p>
          <a:p>
            <a:pPr lvl="1">
              <a:defRPr sz="1800">
                <a:solidFill>
                  <a:srgbClr val="0070C0"/>
                </a:solidFill>
              </a:defRPr>
            </a:pPr>
            <a:r>
              <a:rPr dirty="0"/>
              <a:t>• PayPal → Hybrid Cloud</a:t>
            </a:r>
          </a:p>
          <a:p>
            <a:pPr lvl="2">
              <a:defRPr sz="1600" i="1">
                <a:solidFill>
                  <a:srgbClr val="2C2C2C"/>
                </a:solidFill>
              </a:defRPr>
            </a:pPr>
            <a:r>
              <a:rPr dirty="0"/>
              <a:t>  Why? Transactions + analytics</a:t>
            </a:r>
          </a:p>
          <a:p>
            <a:pPr>
              <a:defRPr sz="2200" b="1">
                <a:solidFill>
                  <a:srgbClr val="F15A24"/>
                </a:solidFill>
              </a:defRPr>
            </a:pPr>
            <a:r>
              <a:rPr dirty="0"/>
              <a:t>🛒 Retail &amp; E-commerce</a:t>
            </a:r>
          </a:p>
          <a:p>
            <a:pPr lvl="1">
              <a:defRPr sz="1800">
                <a:solidFill>
                  <a:srgbClr val="0070C0"/>
                </a:solidFill>
              </a:defRPr>
            </a:pPr>
            <a:r>
              <a:rPr dirty="0"/>
              <a:t>• Amazon → Public Cloud</a:t>
            </a:r>
          </a:p>
          <a:p>
            <a:pPr lvl="2">
              <a:defRPr sz="1600" i="1">
                <a:solidFill>
                  <a:srgbClr val="2C2C2C"/>
                </a:solidFill>
              </a:defRPr>
            </a:pPr>
            <a:r>
              <a:rPr dirty="0"/>
              <a:t>  Why? Runs on its own AWS</a:t>
            </a:r>
          </a:p>
          <a:p>
            <a:pPr lvl="1">
              <a:defRPr sz="1800">
                <a:solidFill>
                  <a:srgbClr val="0070C0"/>
                </a:solidFill>
              </a:defRPr>
            </a:pPr>
            <a:r>
              <a:rPr dirty="0"/>
              <a:t>• Walmart → Hybrid Cloud</a:t>
            </a:r>
          </a:p>
          <a:p>
            <a:pPr lvl="2">
              <a:defRPr sz="1600" i="1">
                <a:solidFill>
                  <a:srgbClr val="2C2C2C"/>
                </a:solidFill>
              </a:defRPr>
            </a:pPr>
            <a:r>
              <a:rPr dirty="0"/>
              <a:t>  Why? Stores + online</a:t>
            </a:r>
            <a:endParaRPr lang="en-US" dirty="0"/>
          </a:p>
          <a:p>
            <a:pPr lvl="1">
              <a:defRPr sz="1800">
                <a:solidFill>
                  <a:srgbClr val="0070C0"/>
                </a:solidFill>
              </a:defRPr>
            </a:pPr>
            <a:r>
              <a:rPr lang="en-US" dirty="0"/>
              <a:t>• Shopify → Public Cloud</a:t>
            </a:r>
          </a:p>
          <a:p>
            <a:pPr lvl="2">
              <a:defRPr sz="1600" i="1">
                <a:solidFill>
                  <a:srgbClr val="2C2C2C"/>
                </a:solidFill>
              </a:defRPr>
            </a:pPr>
            <a:r>
              <a:rPr lang="en-US" dirty="0"/>
              <a:t>  Why? 1.7M merchants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Telecom Industry ❤️ Smart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8091"/>
            <a:ext cx="8229600" cy="6622869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defRPr sz="2000" b="1">
                <a:solidFill>
                  <a:srgbClr val="0070C0"/>
                </a:solidFill>
              </a:defRPr>
            </a:pPr>
            <a:r>
              <a:rPr dirty="0"/>
              <a:t>📡 </a:t>
            </a:r>
            <a:r>
              <a:rPr sz="2200" dirty="0"/>
              <a:t>Network Function Virtualization (NFV)</a:t>
            </a:r>
            <a:endParaRPr sz="1400" dirty="0"/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→ Replace hardware with software</a:t>
            </a:r>
          </a:p>
          <a:p>
            <a:pPr lvl="2">
              <a:defRPr sz="1600">
                <a:solidFill>
                  <a:srgbClr val="7F7F7F"/>
                </a:solidFill>
              </a:defRPr>
            </a:pPr>
            <a:r>
              <a:rPr sz="1800" dirty="0"/>
              <a:t> </a:t>
            </a:r>
            <a:r>
              <a:rPr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• No more room full of boxes</a:t>
            </a:r>
          </a:p>
          <a:p>
            <a:pPr lvl="2">
              <a:defRPr sz="1600">
                <a:solidFill>
                  <a:srgbClr val="7F7F7F"/>
                </a:solidFill>
              </a:defRPr>
            </a:pPr>
            <a:r>
              <a:rPr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• 90% cost reduction</a:t>
            </a:r>
          </a:p>
          <a:p>
            <a:pPr lvl="2">
              <a:defRPr sz="1400" i="1">
                <a:solidFill>
                  <a:srgbClr val="F15A24"/>
                </a:solidFill>
              </a:defRPr>
            </a:pPr>
            <a:r>
              <a:rPr sz="1800" dirty="0"/>
              <a:t>   💡 Vodafone: Saved €500M in 3 years</a:t>
            </a:r>
            <a:endParaRPr lang="en-US" sz="1800" dirty="0"/>
          </a:p>
          <a:p>
            <a:pPr lvl="1"/>
            <a:r>
              <a:rPr lang="en-US" sz="2200" dirty="0"/>
              <a:t>Real Impact:</a:t>
            </a:r>
          </a:p>
          <a:p>
            <a:pPr lvl="2"/>
            <a:r>
              <a:rPr lang="en-US" sz="1800" b="1" dirty="0"/>
              <a:t>Vodafone</a:t>
            </a:r>
            <a:r>
              <a:rPr lang="en-US" sz="1800" dirty="0"/>
              <a:t> saved </a:t>
            </a:r>
            <a:r>
              <a:rPr lang="en-US" sz="1800" b="1" dirty="0"/>
              <a:t>€500 million</a:t>
            </a:r>
            <a:r>
              <a:rPr lang="en-US" sz="1800" dirty="0"/>
              <a:t> over 3 years</a:t>
            </a:r>
          </a:p>
          <a:p>
            <a:pPr lvl="2"/>
            <a:r>
              <a:rPr lang="en-US" sz="1800" dirty="0"/>
              <a:t>Reduced physical space requirements by 80%</a:t>
            </a:r>
          </a:p>
          <a:p>
            <a:pPr lvl="2"/>
            <a:r>
              <a:rPr lang="en-US" sz="1800" dirty="0"/>
              <a:t>Faster service deployment and updates</a:t>
            </a:r>
          </a:p>
          <a:p>
            <a:pPr lvl="1">
              <a:defRPr sz="1400" i="1">
                <a:solidFill>
                  <a:srgbClr val="F15A24"/>
                </a:solidFill>
              </a:defRPr>
            </a:pP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8D721-0E53-F44A-A2AE-58D91F4AC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4AB30-9C84-A9F9-53FD-D3F6B551E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Telecom Industry ❤️ Smart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98123-2719-A0AD-BBB1-F0B8E08CD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8091"/>
            <a:ext cx="8229600" cy="6622869"/>
          </a:xfrm>
        </p:spPr>
        <p:txBody>
          <a:bodyPr>
            <a:normAutofit/>
          </a:bodyPr>
          <a:lstStyle/>
          <a:p>
            <a:pPr marL="457200" lvl="1" indent="0">
              <a:buNone/>
              <a:defRPr sz="1400" i="1">
                <a:solidFill>
                  <a:srgbClr val="F15A24"/>
                </a:solidFill>
              </a:defRPr>
            </a:pPr>
            <a:endParaRPr dirty="0"/>
          </a:p>
          <a:p>
            <a:pPr>
              <a:defRPr sz="2000" b="1">
                <a:solidFill>
                  <a:srgbClr val="0070C0"/>
                </a:solidFill>
              </a:defRPr>
            </a:pPr>
            <a:r>
              <a:rPr dirty="0"/>
              <a:t>5️⃣ Cloud-Native 5G Core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→ 5G only possible with cloud</a:t>
            </a:r>
          </a:p>
          <a:p>
            <a:pPr lvl="1"/>
            <a:r>
              <a:rPr lang="en-US" sz="2000" dirty="0"/>
              <a:t>Massive device density - Supports </a:t>
            </a:r>
            <a:r>
              <a:rPr lang="en-US" sz="2000" dirty="0">
                <a:solidFill>
                  <a:srgbClr val="F15A24"/>
                </a:solidFill>
              </a:rPr>
              <a:t>1 million devices per km²</a:t>
            </a:r>
          </a:p>
          <a:p>
            <a:pPr lvl="1"/>
            <a:r>
              <a:rPr lang="en-US" sz="2000" dirty="0"/>
              <a:t>Ultra-low latency - 1ms response time for critical applications</a:t>
            </a:r>
          </a:p>
          <a:p>
            <a:pPr lvl="1"/>
            <a:r>
              <a:rPr lang="en-US" sz="2000" dirty="0"/>
              <a:t>Unprecedented flexibility - Dynamic resource allocation</a:t>
            </a:r>
          </a:p>
          <a:p>
            <a:pPr lvl="1"/>
            <a:r>
              <a:rPr lang="en-US" sz="2000" b="1" dirty="0"/>
              <a:t>Real Impact:</a:t>
            </a:r>
          </a:p>
          <a:p>
            <a:pPr lvl="1"/>
            <a:r>
              <a:rPr lang="en-US" sz="2000" dirty="0"/>
              <a:t>AT&amp;T virtualized </a:t>
            </a:r>
            <a:r>
              <a:rPr lang="en-US" sz="2000" dirty="0">
                <a:solidFill>
                  <a:srgbClr val="F15A24"/>
                </a:solidFill>
              </a:rPr>
              <a:t>75% of its network infrastructure</a:t>
            </a:r>
          </a:p>
          <a:p>
            <a:pPr lvl="1"/>
            <a:r>
              <a:rPr lang="en-US" sz="2000" dirty="0"/>
              <a:t>Enabled real-time applications like remote surgery</a:t>
            </a:r>
          </a:p>
          <a:p>
            <a:pPr lvl="1"/>
            <a:r>
              <a:rPr lang="en-US" sz="2000" dirty="0"/>
              <a:t>Supports IoT ecosystems with millions of connected devices</a:t>
            </a:r>
          </a:p>
          <a:p>
            <a:pPr lvl="1"/>
            <a:endParaRPr lang="en-US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30C16F-0004-1727-49F5-6096463E8AA5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4F80EA-A0AA-9871-7EBB-85F9766CA4C6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1EA392-AB85-626F-A315-07295D4C8633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4817366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EC976-8515-1B88-DDBD-21534B635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BFE8E-1ABD-A48B-545D-4EEEC2B48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Telecom Industry ❤️ Smart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05D74-81A2-DC97-B942-AD235A90A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8091"/>
            <a:ext cx="8229600" cy="6622869"/>
          </a:xfrm>
        </p:spPr>
        <p:txBody>
          <a:bodyPr>
            <a:normAutofit/>
          </a:bodyPr>
          <a:lstStyle/>
          <a:p>
            <a:pPr marL="457200" lvl="1" indent="0">
              <a:buNone/>
              <a:defRPr sz="1400" i="1">
                <a:solidFill>
                  <a:srgbClr val="F15A24"/>
                </a:solidFill>
              </a:defRPr>
            </a:pPr>
            <a:endParaRPr dirty="0"/>
          </a:p>
          <a:p>
            <a:pPr>
              <a:defRPr sz="2000" b="1">
                <a:solidFill>
                  <a:srgbClr val="0070C0"/>
                </a:solidFill>
              </a:defRPr>
            </a:pPr>
            <a:r>
              <a:rPr lang="en-US" sz="2000" b="1" dirty="0"/>
              <a:t>Edge Computing</a:t>
            </a:r>
            <a:endParaRPr dirty="0"/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→ </a:t>
            </a:r>
            <a:r>
              <a:rPr lang="en-US" sz="2000" b="1" dirty="0"/>
              <a:t>Near-zero latency</a:t>
            </a:r>
            <a:r>
              <a:rPr lang="en-US" sz="2000" dirty="0"/>
              <a:t> -  Bringing cloud computing capabilities closer to end-users.</a:t>
            </a:r>
            <a:endParaRPr sz="2000" dirty="0"/>
          </a:p>
          <a:p>
            <a:pPr lvl="1"/>
            <a:r>
              <a:rPr lang="en-US" sz="1800" b="1" dirty="0"/>
              <a:t>Near-zero latency</a:t>
            </a:r>
            <a:r>
              <a:rPr lang="en-US" sz="1800" dirty="0"/>
              <a:t> - Perfect for real-time applications</a:t>
            </a:r>
          </a:p>
          <a:p>
            <a:pPr lvl="1"/>
            <a:r>
              <a:rPr lang="en-US" sz="1800" b="1" dirty="0"/>
              <a:t>Bandwidth optimization</a:t>
            </a:r>
            <a:r>
              <a:rPr lang="en-US" sz="1800" dirty="0"/>
              <a:t> - Local data processing reduces network load</a:t>
            </a:r>
          </a:p>
          <a:p>
            <a:pPr lvl="1"/>
            <a:r>
              <a:rPr lang="en-US" sz="1800" b="1" dirty="0"/>
              <a:t>Enhanced privacy</a:t>
            </a:r>
            <a:r>
              <a:rPr lang="en-US" sz="1800" dirty="0"/>
              <a:t> - Sensitive data stays local</a:t>
            </a:r>
          </a:p>
          <a:p>
            <a:pPr lvl="1"/>
            <a:r>
              <a:rPr lang="en-US" sz="2000" b="1" dirty="0"/>
              <a:t>Real Impact:</a:t>
            </a:r>
          </a:p>
          <a:p>
            <a:pPr lvl="2"/>
            <a:r>
              <a:rPr lang="en-US" sz="1600" b="1" dirty="0"/>
              <a:t>Verizon</a:t>
            </a:r>
            <a:r>
              <a:rPr lang="en-US" sz="1600" dirty="0"/>
              <a:t> deployed </a:t>
            </a:r>
            <a:r>
              <a:rPr lang="en-US" sz="1600" b="1" dirty="0"/>
              <a:t>5G Edge</a:t>
            </a:r>
            <a:r>
              <a:rPr lang="en-US" sz="1600" dirty="0"/>
              <a:t> across </a:t>
            </a:r>
            <a:r>
              <a:rPr lang="en-US" sz="1600" b="1" dirty="0">
                <a:solidFill>
                  <a:srgbClr val="F15A24"/>
                </a:solidFill>
              </a:rPr>
              <a:t>35+ cities</a:t>
            </a:r>
            <a:endParaRPr lang="en-US" sz="1600" dirty="0">
              <a:solidFill>
                <a:srgbClr val="F15A24"/>
              </a:solidFill>
            </a:endParaRPr>
          </a:p>
          <a:p>
            <a:pPr lvl="2"/>
            <a:r>
              <a:rPr lang="en-US" sz="1600" dirty="0"/>
              <a:t>Enables cloud gaming without lag</a:t>
            </a:r>
          </a:p>
          <a:p>
            <a:pPr lvl="2"/>
            <a:r>
              <a:rPr lang="en-US" sz="1600" dirty="0"/>
              <a:t>Powers immersive AR/VR experiences</a:t>
            </a:r>
          </a:p>
          <a:p>
            <a:pPr lvl="2"/>
            <a:r>
              <a:rPr lang="en-US" sz="1600" dirty="0"/>
              <a:t>Supports smart city infrastructure</a:t>
            </a:r>
          </a:p>
          <a:p>
            <a:pPr lvl="1"/>
            <a:endParaRPr lang="en-US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A294E2-D021-0043-900A-195EB412A2C4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E56D24-48D0-B16F-E768-734067F13CEC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A4AD22-553D-7D92-07DB-8B4532389247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pic>
        <p:nvPicPr>
          <p:cNvPr id="3074" name="Picture 2" descr="edge computing">
            <a:extLst>
              <a:ext uri="{FF2B5EF4-FFF2-40B4-BE49-F238E27FC236}">
                <a16:creationId xmlns:a16="http://schemas.microsoft.com/office/drawing/2014/main" id="{CD9C2089-C500-2D8C-91AA-D3AB72C766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8708" y="2482080"/>
            <a:ext cx="6701246" cy="5198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11921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700E5-7162-F713-1673-52BFF2013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69A39-97C8-7879-7D94-06B6612D1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Telecom Industry ❤️ Smart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12182-3FFE-90BB-86D1-C6CEB1D8B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8091"/>
            <a:ext cx="8229600" cy="6622869"/>
          </a:xfrm>
        </p:spPr>
        <p:txBody>
          <a:bodyPr>
            <a:normAutofit/>
          </a:bodyPr>
          <a:lstStyle/>
          <a:p>
            <a:pPr marL="457200" lvl="1" indent="0">
              <a:buNone/>
              <a:defRPr sz="1400" i="1">
                <a:solidFill>
                  <a:srgbClr val="F15A24"/>
                </a:solidFill>
              </a:defRPr>
            </a:pPr>
            <a:endParaRPr dirty="0"/>
          </a:p>
          <a:p>
            <a:r>
              <a:rPr lang="en-US" sz="2000" b="1" dirty="0">
                <a:solidFill>
                  <a:srgbClr val="0070C0"/>
                </a:solidFill>
              </a:rPr>
              <a:t>AI Operations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→ </a:t>
            </a:r>
            <a:r>
              <a:rPr lang="en-US" sz="2000" b="1" dirty="0"/>
              <a:t>Self-managing networks </a:t>
            </a:r>
            <a:r>
              <a:rPr lang="en-US" sz="1800" dirty="0"/>
              <a:t>powered by artificial intelligence.</a:t>
            </a:r>
          </a:p>
          <a:p>
            <a:pPr lvl="1"/>
            <a:r>
              <a:rPr lang="en-US" sz="2000" b="1" dirty="0"/>
              <a:t>Predictive maintenance</a:t>
            </a:r>
            <a:r>
              <a:rPr lang="en-US" sz="2000" dirty="0"/>
              <a:t> - Identifies potential failures before they occur</a:t>
            </a:r>
          </a:p>
          <a:p>
            <a:pPr lvl="1"/>
            <a:r>
              <a:rPr lang="en-US" sz="2000" b="1" dirty="0"/>
              <a:t>Automated optimization</a:t>
            </a:r>
            <a:r>
              <a:rPr lang="en-US" sz="2000" dirty="0"/>
              <a:t> - Continuously tunes network performance</a:t>
            </a:r>
          </a:p>
          <a:p>
            <a:pPr lvl="1"/>
            <a:r>
              <a:rPr lang="en-US" sz="2000" b="1" dirty="0"/>
              <a:t>Self-healing systems</a:t>
            </a:r>
            <a:r>
              <a:rPr lang="en-US" sz="2000" dirty="0"/>
              <a:t> - Automatically resolves issues without human intervention</a:t>
            </a:r>
          </a:p>
          <a:p>
            <a:pPr lvl="1"/>
            <a:r>
              <a:rPr lang="en-US" sz="2000" b="1" dirty="0"/>
              <a:t>Real Impact:</a:t>
            </a:r>
          </a:p>
          <a:p>
            <a:pPr lvl="2"/>
            <a:r>
              <a:rPr lang="en-US" sz="1800" b="1" dirty="0"/>
              <a:t>China Mobile</a:t>
            </a:r>
            <a:r>
              <a:rPr lang="en-US" sz="1800" dirty="0"/>
              <a:t> achieved </a:t>
            </a:r>
            <a:r>
              <a:rPr lang="en-US" sz="1800" b="1" dirty="0"/>
              <a:t>50% reduction</a:t>
            </a:r>
            <a:r>
              <a:rPr lang="en-US" sz="1800" dirty="0"/>
              <a:t> in network outages</a:t>
            </a:r>
          </a:p>
          <a:p>
            <a:pPr lvl="2"/>
            <a:r>
              <a:rPr lang="en-US" sz="1800" dirty="0"/>
              <a:t>Improved customer experience through proactive problem-solving</a:t>
            </a:r>
          </a:p>
          <a:p>
            <a:pPr lvl="1"/>
            <a:endParaRPr lang="en-US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702F6C-34EB-FC06-68BF-7D3B6562771B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94A6B4-325D-6B30-BB36-00734DCC1B67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957494-F4A9-1D40-85A8-5BF27C31539D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6788078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E5DCE-F0F3-F501-5A8E-CF34BD2E8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D4695-AD69-A9A1-3510-176CB788C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Telecom Industry ❤️ Smart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35166-7B10-D466-47F7-19E294001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8091"/>
            <a:ext cx="8229600" cy="6622869"/>
          </a:xfrm>
        </p:spPr>
        <p:txBody>
          <a:bodyPr>
            <a:normAutofit/>
          </a:bodyPr>
          <a:lstStyle/>
          <a:p>
            <a:pPr marL="457200" lvl="1" indent="0">
              <a:buNone/>
              <a:defRPr sz="1400" i="1">
                <a:solidFill>
                  <a:srgbClr val="F15A24"/>
                </a:solidFill>
              </a:defRPr>
            </a:pPr>
            <a:endParaRPr dirty="0"/>
          </a:p>
          <a:p>
            <a:r>
              <a:rPr lang="en-US" sz="2400" b="1" dirty="0">
                <a:solidFill>
                  <a:srgbClr val="0070C0"/>
                </a:solidFill>
              </a:rPr>
              <a:t>Industry Transformation</a:t>
            </a:r>
          </a:p>
          <a:p>
            <a:r>
              <a:rPr lang="en-US" sz="2200" b="1" dirty="0"/>
              <a:t>Before Smart Cloud:</a:t>
            </a:r>
            <a:endParaRPr lang="en-US" sz="2200" dirty="0"/>
          </a:p>
          <a:p>
            <a:pPr lvl="1"/>
            <a:r>
              <a:rPr lang="en-US" sz="2000" dirty="0"/>
              <a:t>Hardware-dependent networks</a:t>
            </a:r>
          </a:p>
          <a:p>
            <a:pPr lvl="1"/>
            <a:r>
              <a:rPr lang="en-US" sz="2000" dirty="0"/>
              <a:t>Manual configuration and maintenance</a:t>
            </a:r>
          </a:p>
          <a:p>
            <a:pPr lvl="1"/>
            <a:r>
              <a:rPr lang="en-US" sz="2000" dirty="0"/>
              <a:t>Slow service deployment (months)</a:t>
            </a:r>
          </a:p>
          <a:p>
            <a:pPr lvl="1"/>
            <a:r>
              <a:rPr lang="en-US" sz="2000" dirty="0"/>
              <a:t>High operational costs</a:t>
            </a:r>
          </a:p>
          <a:p>
            <a:pPr lvl="1"/>
            <a:r>
              <a:rPr lang="en-US" sz="2000" dirty="0"/>
              <a:t>Limited scalability</a:t>
            </a:r>
          </a:p>
          <a:p>
            <a:r>
              <a:rPr lang="en-US" sz="2200" b="1" dirty="0"/>
              <a:t>After Smart Cloud:</a:t>
            </a:r>
            <a:endParaRPr lang="en-US" sz="2200" dirty="0"/>
          </a:p>
          <a:p>
            <a:pPr lvl="1"/>
            <a:r>
              <a:rPr lang="en-US" sz="2000" dirty="0"/>
              <a:t>Software-defined everything</a:t>
            </a:r>
          </a:p>
          <a:p>
            <a:pPr lvl="1"/>
            <a:r>
              <a:rPr lang="en-US" sz="2000" dirty="0"/>
              <a:t>Automated operations and management</a:t>
            </a:r>
          </a:p>
          <a:p>
            <a:pPr lvl="1"/>
            <a:r>
              <a:rPr lang="en-US" sz="2000" dirty="0"/>
              <a:t>Rapid service deployment (minutes)</a:t>
            </a:r>
          </a:p>
          <a:p>
            <a:pPr lvl="1"/>
            <a:r>
              <a:rPr lang="en-US" sz="2000" dirty="0"/>
              <a:t>Significant cost savings</a:t>
            </a:r>
          </a:p>
          <a:p>
            <a:pPr lvl="1"/>
            <a:r>
              <a:rPr lang="en-US" sz="2000" dirty="0"/>
              <a:t>Unlimited scalability potential</a:t>
            </a:r>
          </a:p>
          <a:p>
            <a:pPr lvl="1"/>
            <a:endParaRPr lang="en-US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087A5A-7C44-A017-B0EE-67C0F4372A64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AB035E-A4C7-C17D-A893-E38545B43317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064C2A-D75E-F3B7-0923-03F1BBB28A06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992150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0006149" cy="1143000"/>
          </a:xfrm>
        </p:spPr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Success Story: Etisalat's Cloud Journey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286000"/>
            <a:ext cx="4572000" cy="320040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2019: The Challenge</a:t>
            </a:r>
          </a:p>
          <a:p>
            <a:endParaRPr/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100+ hardware locations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6 months for new services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$50M yearly maintenance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5577840" y="3657600"/>
            <a:ext cx="274320" cy="27432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0" y="2286000"/>
            <a:ext cx="4572000" cy="320040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2020-2021: The Solution</a:t>
            </a:r>
          </a:p>
          <a:p>
            <a:endParaRPr/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Moved 70% to cloud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Trained 500 engineers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Partnership with AWS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9692640" y="3657600"/>
            <a:ext cx="274320" cy="27432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0" y="2286000"/>
            <a:ext cx="4572000" cy="32004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2022-Now: The Results</a:t>
            </a:r>
          </a:p>
          <a:p>
            <a:endParaRPr/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65% cost reduction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2-day deployments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• First 5G in region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943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15A24"/>
                </a:solidFill>
              </a:defRPr>
            </a:pPr>
            <a:r>
              <a:t>🎯 Key Lesson: Transformation takes courage, but results are worth it!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Time for Hands-On Learning!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2801600" cy="4572000"/>
          </a:xfrm>
          <a:prstGeom prst="roundRect">
            <a:avLst/>
          </a:prstGeom>
          <a:solidFill>
            <a:srgbClr val="F0FFF0"/>
          </a:solidFill>
          <a:ln w="381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28A745"/>
                </a:solidFill>
              </a:defRPr>
            </a:pPr>
            <a:r>
              <a:rPr dirty="0"/>
              <a:t>🔬 What You'll Build in 30 Minutes</a:t>
            </a:r>
          </a:p>
          <a:p>
            <a:endParaRPr dirty="0"/>
          </a:p>
          <a:p>
            <a:pPr algn="ctr">
              <a:defRPr sz="2400">
                <a:solidFill>
                  <a:srgbClr val="2C2C2C"/>
                </a:solidFill>
              </a:defRPr>
            </a:pPr>
            <a:r>
              <a:rPr dirty="0"/>
              <a:t>✅ Create your own cloud account</a:t>
            </a:r>
          </a:p>
          <a:p>
            <a:pPr algn="ctr">
              <a:defRPr sz="2400">
                <a:solidFill>
                  <a:srgbClr val="2C2C2C"/>
                </a:solidFill>
              </a:defRPr>
            </a:pPr>
            <a:r>
              <a:rPr dirty="0"/>
              <a:t>✅ Launch a live website on the internet</a:t>
            </a:r>
          </a:p>
          <a:p>
            <a:pPr algn="ctr">
              <a:defRPr sz="2400">
                <a:solidFill>
                  <a:srgbClr val="2C2C2C"/>
                </a:solidFill>
              </a:defRPr>
            </a:pPr>
            <a:r>
              <a:rPr dirty="0"/>
              <a:t>✅ Configure auto-scaling features</a:t>
            </a:r>
          </a:p>
          <a:p>
            <a:pPr algn="ctr">
              <a:defRPr sz="2400">
                <a:solidFill>
                  <a:srgbClr val="2C2C2C"/>
                </a:solidFill>
              </a:defRPr>
            </a:pPr>
            <a:r>
              <a:rPr dirty="0"/>
              <a:t>✅ Set up monitoring dashboard</a:t>
            </a:r>
          </a:p>
          <a:p>
            <a:pPr algn="ctr">
              <a:defRPr sz="2400">
                <a:solidFill>
                  <a:srgbClr val="2C2C2C"/>
                </a:solidFill>
              </a:defRPr>
            </a:pPr>
            <a:r>
              <a:rPr dirty="0"/>
              <a:t>✅ Calculate real cost savings</a:t>
            </a:r>
          </a:p>
          <a:p>
            <a:br>
              <a:rPr dirty="0"/>
            </a:br>
            <a:r>
              <a:rPr dirty="0">
                <a:solidFill>
                  <a:schemeClr val="tx1"/>
                </a:solidFill>
              </a:rPr>
              <a:t>🎉 Your website will be live for the world to see!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"/>
            <a:ext cx="9065623" cy="1326198"/>
          </a:xfrm>
        </p:spPr>
        <p:txBody>
          <a:bodyPr/>
          <a:lstStyle/>
          <a:p>
            <a:pPr>
              <a:defRPr sz="4000" b="1">
                <a:solidFill>
                  <a:srgbClr val="0070C0"/>
                </a:solidFill>
              </a:defRPr>
            </a:pPr>
            <a:r>
              <a:rPr dirty="0"/>
              <a:t>Lab Step 1: Choose Your Cloud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49086"/>
            <a:ext cx="8229600" cy="6923314"/>
          </a:xfrm>
        </p:spPr>
        <p:txBody>
          <a:bodyPr>
            <a:normAutofit lnSpcReduction="10000"/>
          </a:bodyPr>
          <a:lstStyle/>
          <a:p>
            <a:endParaRPr dirty="0"/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rPr dirty="0"/>
              <a:t>Option A: Google Cloud (Easiest for beginners)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→ Go to: cloud.google.com/free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→ $300 free credit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→ 90 days trial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→ No auto-charge</a:t>
            </a:r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rPr dirty="0"/>
              <a:t>Option B: Amazon AWS (Most popular)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→ Go to: aws.amazon.com/free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→ 12 months free tier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→ Many free services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→ Industry standard</a:t>
            </a:r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rPr dirty="0"/>
              <a:t>Option C: Microsoft Azure (Best for enterprises)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→ Go to: azure.microsoft.com/free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→ $200 free credit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→ 30 days trial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→ Great for .NET</a:t>
            </a:r>
          </a:p>
          <a:p>
            <a:br>
              <a:rPr dirty="0"/>
            </a:br>
            <a:r>
              <a:rPr dirty="0"/>
              <a:t>⚡ Pro Tip: All require credit card but NO charges during trial!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1025051" cy="1143000"/>
          </a:xfrm>
        </p:spPr>
        <p:txBody>
          <a:bodyPr/>
          <a:lstStyle/>
          <a:p>
            <a:pPr>
              <a:defRPr sz="4000" b="1">
                <a:solidFill>
                  <a:srgbClr val="0070C0"/>
                </a:solidFill>
              </a:defRPr>
            </a:pPr>
            <a:r>
              <a:rPr dirty="0"/>
              <a:t>Lab Step 2: Launch Your Website (AWS 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70709"/>
            <a:ext cx="8229600" cy="7001691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defRPr sz="1800" b="1">
                <a:solidFill>
                  <a:srgbClr val="0070C0"/>
                </a:solidFill>
              </a:defRPr>
            </a:pPr>
            <a:r>
              <a:rPr dirty="0"/>
              <a:t>1. Access AWS </a:t>
            </a:r>
            <a:r>
              <a:rPr dirty="0" err="1"/>
              <a:t>Lightsail</a:t>
            </a:r>
            <a:endParaRPr dirty="0"/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In AWS Console, search '</a:t>
            </a:r>
            <a:r>
              <a:rPr dirty="0" err="1"/>
              <a:t>Lightsail</a:t>
            </a:r>
            <a:r>
              <a:rPr dirty="0"/>
              <a:t>'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Click on the service</a:t>
            </a:r>
          </a:p>
          <a:p>
            <a:pPr>
              <a:defRPr sz="1800" b="1">
                <a:solidFill>
                  <a:srgbClr val="0070C0"/>
                </a:solidFill>
              </a:defRPr>
            </a:pPr>
            <a:r>
              <a:rPr dirty="0"/>
              <a:t>2. Create Instance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Click 'Create instance'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Choose location (closest to you)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Select Linux platform</a:t>
            </a:r>
          </a:p>
          <a:p>
            <a:pPr>
              <a:defRPr sz="1800" b="1">
                <a:solidFill>
                  <a:srgbClr val="0070C0"/>
                </a:solidFill>
              </a:defRPr>
            </a:pPr>
            <a:r>
              <a:rPr dirty="0"/>
              <a:t>3. Choose Application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Select 'WordPress'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Choose $3.50/month plan (1st month free)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Name it: my-cloud-site</a:t>
            </a:r>
          </a:p>
          <a:p>
            <a:pPr>
              <a:defRPr sz="1800" b="1">
                <a:solidFill>
                  <a:srgbClr val="0070C0"/>
                </a:solidFill>
              </a:defRPr>
            </a:pPr>
            <a:r>
              <a:rPr dirty="0"/>
              <a:t>4. Launch &amp; Wait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Click 'Create instance'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Wait 2-3 minutes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Status will show 'Running'</a:t>
            </a:r>
          </a:p>
          <a:p>
            <a:pPr>
              <a:defRPr sz="1800" b="1">
                <a:solidFill>
                  <a:srgbClr val="0070C0"/>
                </a:solidFill>
              </a:defRPr>
            </a:pPr>
            <a:r>
              <a:rPr dirty="0"/>
              <a:t>5. Access Your Site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Click instance name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Copy Public IP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Paste in browser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🎉 Your site is LIVE!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9091749" cy="1143000"/>
          </a:xfrm>
        </p:spPr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Let's Calculate: Cloud vs Traditional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417638"/>
            <a:ext cx="8974183" cy="6263322"/>
          </a:xfrm>
        </p:spPr>
        <p:txBody>
          <a:bodyPr>
            <a:normAutofit fontScale="92500" lnSpcReduction="10000"/>
          </a:bodyPr>
          <a:lstStyle/>
          <a:p>
            <a:pPr>
              <a:defRPr sz="2400" b="1">
                <a:solidFill>
                  <a:srgbClr val="F15A24"/>
                </a:solidFill>
              </a:defRPr>
            </a:pPr>
            <a:r>
              <a:rPr dirty="0"/>
              <a:t>Small Business Website Scenario:</a:t>
            </a:r>
          </a:p>
          <a:p>
            <a:br>
              <a:rPr dirty="0"/>
            </a:br>
            <a:r>
              <a:rPr dirty="0"/>
              <a:t>Traditional Hosting: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Server Hardware: $5,000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Setup &amp; Installation: $2,000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Monthly Maintenance: $500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Electricity &amp; Cooling: $200/month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IT Staff: $3,000/month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Total Year 1: $50,400</a:t>
            </a:r>
          </a:p>
          <a:p>
            <a:br>
              <a:rPr dirty="0"/>
            </a:br>
            <a:r>
              <a:rPr dirty="0"/>
              <a:t>Cloud Hosting: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Initial Setup: $0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Monthly Cost: $50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No maintenance needed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No electricity costs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No dedicated IT staff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Total Year 1: $600</a:t>
            </a:r>
          </a:p>
          <a:p>
            <a:br>
              <a:rPr dirty="0"/>
            </a:br>
            <a:r>
              <a:rPr dirty="0"/>
              <a:t>💰 Savings: $49,800 (98.8%!) in first year alone!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0332720" cy="1143000"/>
          </a:xfrm>
        </p:spPr>
        <p:txBody>
          <a:bodyPr/>
          <a:lstStyle/>
          <a:p>
            <a:pPr>
              <a:defRPr sz="4400" b="1">
                <a:solidFill>
                  <a:srgbClr val="DC3545"/>
                </a:solidFill>
              </a:defRPr>
            </a:pPr>
            <a:r>
              <a:rPr dirty="0"/>
              <a:t>⚠️ IMPORTANT: Clean Up Resources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828800"/>
            <a:ext cx="10972800" cy="4572000"/>
          </a:xfrm>
          <a:prstGeom prst="roundRect">
            <a:avLst/>
          </a:prstGeom>
          <a:solidFill>
            <a:srgbClr val="FFF3E0"/>
          </a:solidFill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DC3545"/>
                </a:solidFill>
              </a:defRPr>
            </a:pPr>
            <a:r>
              <a:rPr dirty="0"/>
              <a:t>To Avoid Charges, You MUST: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rPr dirty="0"/>
              <a:t>1️⃣ Go to </a:t>
            </a:r>
            <a:r>
              <a:rPr dirty="0" err="1"/>
              <a:t>Lightsail</a:t>
            </a:r>
            <a:r>
              <a:rPr dirty="0"/>
              <a:t> console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rPr dirty="0"/>
              <a:t>2️⃣ Click the 3 dots (...) on your instance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rPr dirty="0"/>
              <a:t>3️⃣ Select 'Delete'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rPr dirty="0"/>
              <a:t>4️⃣ Type instance name to confirm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rPr dirty="0"/>
              <a:t>5️⃣ Click 'Delete instance'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rPr dirty="0"/>
              <a:t>✅ Verify: No instances running</a:t>
            </a:r>
          </a:p>
          <a:p>
            <a:br>
              <a:rPr dirty="0"/>
            </a:br>
            <a:r>
              <a:rPr dirty="0"/>
              <a:t>⏰ Do this BEFORE leaving class!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What You've Learned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>
              <a:defRPr sz="2200" b="1">
                <a:solidFill>
                  <a:srgbClr val="0070C0"/>
                </a:solidFill>
              </a:defRPr>
            </a:pPr>
            <a:r>
              <a:rPr dirty="0"/>
              <a:t>1️⃣ Cloud = Renting Computing Power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→ No need to buy hardware</a:t>
            </a:r>
          </a:p>
          <a:p>
            <a:pPr>
              <a:defRPr sz="2200" b="1">
                <a:solidFill>
                  <a:srgbClr val="0070C0"/>
                </a:solidFill>
              </a:defRPr>
            </a:pPr>
            <a:r>
              <a:rPr dirty="0"/>
              <a:t>2️⃣ Smart = AI + Automation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→ Self-healing, auto-scaling magic</a:t>
            </a:r>
          </a:p>
          <a:p>
            <a:pPr>
              <a:defRPr sz="2200" b="1">
                <a:solidFill>
                  <a:srgbClr val="0070C0"/>
                </a:solidFill>
              </a:defRPr>
            </a:pPr>
            <a:r>
              <a:rPr dirty="0"/>
              <a:t>3️⃣ Three Types for Different Needs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→ Public (startups), Private (banks), Hybrid (big companies)</a:t>
            </a:r>
          </a:p>
          <a:p>
            <a:pPr>
              <a:defRPr sz="2200" b="1">
                <a:solidFill>
                  <a:srgbClr val="0070C0"/>
                </a:solidFill>
              </a:defRPr>
            </a:pPr>
            <a:r>
              <a:rPr dirty="0"/>
              <a:t>4️⃣ Telecom Loves Cloud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→ 5G impossible without it</a:t>
            </a:r>
          </a:p>
          <a:p>
            <a:pPr>
              <a:defRPr sz="2200" b="1">
                <a:solidFill>
                  <a:srgbClr val="0070C0"/>
                </a:solidFill>
              </a:defRPr>
            </a:pPr>
            <a:r>
              <a:rPr dirty="0"/>
              <a:t>5️⃣ Cost Savings are REAL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→ Up to 98% cheaper!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Continue Your Cloud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dirty="0"/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rPr dirty="0"/>
              <a:t>📺 Video Courses (Free):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AWS Cloud Practitioner - 6 hours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Google Cloud Essentials - 4 hours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Azure Fundamentals - 3 hours</a:t>
            </a:r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rPr dirty="0"/>
              <a:t>📚 Certifications to Target: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AWS Certified Cloud Practitioner ($100)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Google Cloud Digital Leader ($99)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Azure Fundamentals AZ-900 ($99)</a:t>
            </a:r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rPr dirty="0"/>
              <a:t>🌐 Practice Platforms: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A Cloud Guru - Free trial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Linux Academy - Hands-on labs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</a:t>
            </a:r>
            <a:r>
              <a:rPr dirty="0" err="1"/>
              <a:t>Qwiklabs</a:t>
            </a:r>
            <a:r>
              <a:rPr dirty="0"/>
              <a:t> - Google Cloud labs</a:t>
            </a:r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rPr dirty="0"/>
              <a:t>👥 Communities: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Reddit: r/</a:t>
            </a:r>
            <a:r>
              <a:rPr dirty="0" err="1"/>
              <a:t>cloudcomputing</a:t>
            </a:r>
            <a:endParaRPr dirty="0"/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LinkedIn: Cloud Architecture groups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Local: Cloud meetups in your city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Homework: Keep the Momentum!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3407"/>
            <a:ext cx="8229600" cy="5995850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rPr dirty="0"/>
              <a:t>📝 Part 1: Research (30 minutes)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→ Find 3 companies in Egypt using cloud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→ Identify which type they use (Public/Private/Hybrid)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→ Write 1 paragraph on their benefits</a:t>
            </a:r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rPr dirty="0"/>
              <a:t>💻 Part 2: Hands-On (45 minutes)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→ Complete the lab if not finished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→ Try deploying a different application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→ Explore the monitoring dashboard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→ Take 5 screenshots of different features</a:t>
            </a:r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rPr dirty="0"/>
              <a:t>🤔 Part 3: Reflection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→ What surprised you most about cloud?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→ How could cloud help your current job?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→ What would you like to learn next?</a:t>
            </a:r>
          </a:p>
          <a:p>
            <a:br>
              <a:rPr dirty="0"/>
            </a:b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Your Questions, Our Discussion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828800"/>
            <a:ext cx="10972800" cy="457200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15A24"/>
                </a:solidFill>
              </a:defRPr>
            </a:pPr>
            <a:r>
              <a:rPr dirty="0"/>
              <a:t>🤚 Ask Anything!</a:t>
            </a:r>
            <a:endParaRPr lang="en-US" dirty="0"/>
          </a:p>
          <a:p>
            <a:endParaRPr lang="en-US" dirty="0"/>
          </a:p>
          <a:p>
            <a:pPr algn="ctr">
              <a:defRPr sz="1800">
                <a:solidFill>
                  <a:srgbClr val="2C2C2C"/>
                </a:solidFill>
              </a:defRPr>
            </a:pPr>
            <a:r>
              <a:rPr lang="en-US" dirty="0"/>
              <a:t>• Is cloud really secure?</a:t>
            </a:r>
          </a:p>
          <a:p>
            <a:pPr algn="ctr">
              <a:defRPr sz="1800">
                <a:solidFill>
                  <a:srgbClr val="2C2C2C"/>
                </a:solidFill>
              </a:defRPr>
            </a:pPr>
            <a:r>
              <a:rPr dirty="0"/>
              <a:t>• How much does it actually cost?</a:t>
            </a:r>
          </a:p>
          <a:p>
            <a:pPr algn="ctr">
              <a:defRPr sz="1800">
                <a:solidFill>
                  <a:srgbClr val="2C2C2C"/>
                </a:solidFill>
              </a:defRPr>
            </a:pPr>
            <a:r>
              <a:rPr dirty="0"/>
              <a:t>• Can I move my existing systems?</a:t>
            </a:r>
          </a:p>
          <a:p>
            <a:pPr algn="ctr">
              <a:defRPr sz="1800">
                <a:solidFill>
                  <a:srgbClr val="2C2C2C"/>
                </a:solidFill>
              </a:defRPr>
            </a:pPr>
            <a:r>
              <a:rPr dirty="0"/>
              <a:t>• What if internet goes down?</a:t>
            </a:r>
          </a:p>
          <a:p>
            <a:pPr algn="ctr">
              <a:defRPr sz="1800">
                <a:solidFill>
                  <a:srgbClr val="2C2C2C"/>
                </a:solidFill>
              </a:defRPr>
            </a:pPr>
            <a:r>
              <a:rPr dirty="0"/>
              <a:t>• Which certification should I get first?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Your Cloud Journey: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6172200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rPr dirty="0"/>
              <a:t>Week 1: Foundation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✓ Complete free tier setup on all 3 clouds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✓ Watch 'Cloud Basics' videos (2-3 hours)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✓ Deploy 3 different applications</a:t>
            </a:r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rPr dirty="0"/>
              <a:t>Week 3-4: Specialization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✓ Choose your favorite cloud platform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✓ Start certification prep course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✓ Join online cloud community</a:t>
            </a:r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rPr dirty="0"/>
              <a:t>Month 2: Certification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✓ Take practice exams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✓ Schedule certification exam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✓ Build portfolio project</a:t>
            </a:r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rPr dirty="0"/>
              <a:t>Month 3: Career Move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✓ Update LinkedIn with new skills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✓ Apply for cloud positions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✓ Freelance cloud projects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15A24"/>
                </a:solidFill>
              </a:defRPr>
            </a:pPr>
            <a:r>
              <a:t>You're now part of the Cloud Revolution!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5486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Stay Connected: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📧 info@perfect-tc.com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🌐 www.perfect-tc.com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📱 WhatsApp: +20-XXX-XXX-XXXX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7315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F15A24"/>
                </a:solidFill>
              </a:defRPr>
            </a:pPr>
            <a:r>
              <a:t>Perfect Training Center - Building Tomorrow's Tech Leaders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Bonus: Cloud Myths vs Reality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pPr>
              <a:defRPr sz="1800">
                <a:solidFill>
                  <a:srgbClr val="DC3545"/>
                </a:solidFill>
              </a:defRPr>
            </a:pPr>
            <a:r>
              <a:t>❌ Myth: 'Cloud is not secure'</a:t>
            </a:r>
          </a:p>
          <a:p>
            <a:pPr lvl="1">
              <a:defRPr sz="1800">
                <a:solidFill>
                  <a:srgbClr val="28A745"/>
                </a:solidFill>
              </a:defRPr>
            </a:pPr>
            <a:r>
              <a:t>✅ Reality: Banks trust cloud with billions</a:t>
            </a:r>
          </a:p>
          <a:p>
            <a:pPr lvl="1">
              <a:defRPr sz="1400" i="1">
                <a:solidFill>
                  <a:srgbClr val="7F7F7F"/>
                </a:solidFill>
              </a:defRPr>
            </a:pPr>
            <a:r>
              <a:t>   Major providers spend $15B+ yearly on security</a:t>
            </a:r>
          </a:p>
          <a:p>
            <a:pPr>
              <a:defRPr sz="1800">
                <a:solidFill>
                  <a:srgbClr val="DC3545"/>
                </a:solidFill>
              </a:defRPr>
            </a:pPr>
            <a:r>
              <a:t>❌ Myth: 'Cloud is expensive'</a:t>
            </a:r>
          </a:p>
          <a:p>
            <a:pPr lvl="1">
              <a:defRPr sz="1800">
                <a:solidFill>
                  <a:srgbClr val="28A745"/>
                </a:solidFill>
              </a:defRPr>
            </a:pPr>
            <a:r>
              <a:t>✅ Reality: 30-70% cheaper than traditional IT</a:t>
            </a:r>
          </a:p>
          <a:p>
            <a:pPr lvl="1">
              <a:defRPr sz="1400" i="1">
                <a:solidFill>
                  <a:srgbClr val="7F7F7F"/>
                </a:solidFill>
              </a:defRPr>
            </a:pPr>
            <a:r>
              <a:t>   Pay only for what you use, scale down when quiet</a:t>
            </a:r>
          </a:p>
          <a:p>
            <a:pPr>
              <a:defRPr sz="1800">
                <a:solidFill>
                  <a:srgbClr val="DC3545"/>
                </a:solidFill>
              </a:defRPr>
            </a:pPr>
            <a:r>
              <a:t>❌ Myth: 'I lose control of my data'</a:t>
            </a:r>
          </a:p>
          <a:p>
            <a:pPr lvl="1">
              <a:defRPr sz="1800">
                <a:solidFill>
                  <a:srgbClr val="28A745"/>
                </a:solidFill>
              </a:defRPr>
            </a:pPr>
            <a:r>
              <a:t>✅ Reality: You own your data, always</a:t>
            </a:r>
          </a:p>
          <a:p>
            <a:pPr lvl="1">
              <a:defRPr sz="1400" i="1">
                <a:solidFill>
                  <a:srgbClr val="7F7F7F"/>
                </a:solidFill>
              </a:defRPr>
            </a:pPr>
            <a:r>
              <a:t>   Can download/delete/move anytime</a:t>
            </a:r>
          </a:p>
          <a:p>
            <a:pPr>
              <a:defRPr sz="1800">
                <a:solidFill>
                  <a:srgbClr val="DC3545"/>
                </a:solidFill>
              </a:defRPr>
            </a:pPr>
            <a:r>
              <a:t>❌ Myth: 'Cloud is just a trend'</a:t>
            </a:r>
          </a:p>
          <a:p>
            <a:pPr lvl="1">
              <a:defRPr sz="1800">
                <a:solidFill>
                  <a:srgbClr val="28A745"/>
                </a:solidFill>
              </a:defRPr>
            </a:pPr>
            <a:r>
              <a:t>✅ Reality: 94% of enterprises use cloud</a:t>
            </a:r>
          </a:p>
          <a:p>
            <a:pPr lvl="1">
              <a:defRPr sz="1400" i="1">
                <a:solidFill>
                  <a:srgbClr val="7F7F7F"/>
                </a:solidFill>
              </a:defRPr>
            </a:pPr>
            <a:r>
              <a:t>   $500B market and growing</a:t>
            </a:r>
          </a:p>
          <a:p>
            <a:pPr>
              <a:defRPr sz="1800">
                <a:solidFill>
                  <a:srgbClr val="DC3545"/>
                </a:solidFill>
              </a:defRPr>
            </a:pPr>
            <a:r>
              <a:t>❌ Myth: 'Need to be technical expert'</a:t>
            </a:r>
          </a:p>
          <a:p>
            <a:pPr lvl="1">
              <a:defRPr sz="1800">
                <a:solidFill>
                  <a:srgbClr val="28A745"/>
                </a:solidFill>
              </a:defRPr>
            </a:pPr>
            <a:r>
              <a:t>✅ Reality: Easier than managing servers</a:t>
            </a:r>
          </a:p>
          <a:p>
            <a:pPr lvl="1">
              <a:defRPr sz="1400" i="1">
                <a:solidFill>
                  <a:srgbClr val="7F7F7F"/>
                </a:solidFill>
              </a:defRPr>
            </a:pPr>
            <a:r>
              <a:t>   You just proved it by launching a website!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</TotalTime>
  <Words>4308</Words>
  <Application>Microsoft Office PowerPoint</Application>
  <PresentationFormat>Custom</PresentationFormat>
  <Paragraphs>681</Paragraphs>
  <Slides>42</Slides>
  <Notes>1</Notes>
  <HiddenSlides>9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Aptos</vt:lpstr>
      <vt:lpstr>Arial</vt:lpstr>
      <vt:lpstr>Calibri</vt:lpstr>
      <vt:lpstr>Courier New</vt:lpstr>
      <vt:lpstr>Office Theme</vt:lpstr>
      <vt:lpstr>PowerPoint Presentation</vt:lpstr>
      <vt:lpstr>Welcome! Let's Start Our Journey</vt:lpstr>
      <vt:lpstr>Our Journey</vt:lpstr>
      <vt:lpstr>What Exactly is Cloud Computing?</vt:lpstr>
      <vt:lpstr>You Already Use Cloud Every Day!</vt:lpstr>
      <vt:lpstr>5 Must-Have Cloud Features (NIST Definition)</vt:lpstr>
      <vt:lpstr>5 Must-Have Cloud Features (NIST Definition)</vt:lpstr>
      <vt:lpstr>5 Must-Have Cloud Features (NIST Definition)</vt:lpstr>
      <vt:lpstr>5 Must-Have Cloud Features (NIST Definition)</vt:lpstr>
      <vt:lpstr>5 Must-Have Cloud Features (NIST Definition)</vt:lpstr>
      <vt:lpstr>From Cloud to SMART Cloud</vt:lpstr>
      <vt:lpstr>From Cloud to SMART Cloud</vt:lpstr>
      <vt:lpstr>Scenario 1: E-commerce Website Handling a Sale</vt:lpstr>
      <vt:lpstr>Scenario 1: E-commerce Website Handling a Sale</vt:lpstr>
      <vt:lpstr>Scenario 2: Detecting a Security Breach in a Bank</vt:lpstr>
      <vt:lpstr>Scenario 2: Detecting a Security Breach in a Bank</vt:lpstr>
      <vt:lpstr>Why Businesses Love Smart Cloud</vt:lpstr>
      <vt:lpstr>Why Businesses Love Smart Cloud</vt:lpstr>
      <vt:lpstr>Your Turn: Quick Activity</vt:lpstr>
      <vt:lpstr>The 3 Cloud Deployment Models</vt:lpstr>
      <vt:lpstr>The 3 Cloud Deployment Models</vt:lpstr>
      <vt:lpstr>The 3 Cloud Deployment Models</vt:lpstr>
      <vt:lpstr>The 3 Cloud Deployment Models</vt:lpstr>
      <vt:lpstr>Who Uses What? Industry Examples</vt:lpstr>
      <vt:lpstr>Telecom Industry ❤️ Smart Cloud</vt:lpstr>
      <vt:lpstr>Telecom Industry ❤️ Smart Cloud</vt:lpstr>
      <vt:lpstr>Telecom Industry ❤️ Smart Cloud</vt:lpstr>
      <vt:lpstr>Telecom Industry ❤️ Smart Cloud</vt:lpstr>
      <vt:lpstr>Telecom Industry ❤️ Smart Cloud</vt:lpstr>
      <vt:lpstr>Success Story: Etisalat's Cloud Journey</vt:lpstr>
      <vt:lpstr>Time for Hands-On Learning!</vt:lpstr>
      <vt:lpstr>Lab Step 1: Choose Your Cloud Platform</vt:lpstr>
      <vt:lpstr>Lab Step 2: Launch Your Website (AWS Example)</vt:lpstr>
      <vt:lpstr>Let's Calculate: Cloud vs Traditional</vt:lpstr>
      <vt:lpstr>⚠️ IMPORTANT: Clean Up Resources</vt:lpstr>
      <vt:lpstr>What You've Learned Today</vt:lpstr>
      <vt:lpstr>Continue Your Cloud Journey</vt:lpstr>
      <vt:lpstr>Homework: Keep the Momentum!</vt:lpstr>
      <vt:lpstr>Your Questions, Our Discussion</vt:lpstr>
      <vt:lpstr>Your Cloud Journey: Next Steps</vt:lpstr>
      <vt:lpstr>PowerPoint Presentation</vt:lpstr>
      <vt:lpstr>Bonus: Cloud Myths vs Reality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عمرو سيد صادق عبدالرحمن</cp:lastModifiedBy>
  <cp:revision>4</cp:revision>
  <dcterms:created xsi:type="dcterms:W3CDTF">2013-01-27T09:14:16Z</dcterms:created>
  <dcterms:modified xsi:type="dcterms:W3CDTF">2025-11-16T11:36:41Z</dcterms:modified>
  <cp:category/>
</cp:coreProperties>
</file>