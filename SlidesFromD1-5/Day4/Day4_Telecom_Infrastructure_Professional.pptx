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4630400" cy="45720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Modern Telecom Infrastructure</a:t>
            </a:r>
          </a:p>
          <a:p>
            <a:pPr algn="ctr">
              <a:defRPr sz="3600" b="1">
                <a:solidFill>
                  <a:srgbClr val="FBBF24"/>
                </a:solidFill>
              </a:defRPr>
            </a:pPr>
            <a:r>
              <a:t>SDN • NFV • AI-Powered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5A24"/>
                </a:solidFill>
              </a:defRPr>
            </a:pPr>
            <a:r>
              <a:t>البنية التقنية للاتصالات الحديثة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943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Day 4 - Building the Future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Complete Transformation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5029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15A24"/>
                </a:solidFill>
              </a:defRPr>
            </a:pPr>
            <a:r>
              <a:t>Your 4-Day Telecom Revolution: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☁️ Day 1: Mastered Cloud Computing Fundamentals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📡 Day 2: Explored 5G &amp; 6G Revolutionary Networks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🤖 Day 3: Transformed with Cloud-Native &amp; Automation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🏗️ Today: Build the Complete Infrastructure Vision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🎯 Result: You're Ready to Architect Tomorrow's Networks!</a:t>
            </a:r>
          </a:p>
          <a:p>
            <a:br/>
            <a:pPr algn="ctr">
              <a:defRPr sz="2600" b="1">
                <a:solidFill>
                  <a:srgbClr val="9333EA"/>
                </a:solidFill>
              </a:defRPr>
            </a:pPr>
            <a:r>
              <a:t>🚀 Let's complete your transformation!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Today's Infrastructure Mastery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>
                <a:solidFill>
                  <a:srgbClr val="F15A24"/>
                </a:solidFill>
              </a:defRPr>
            </a:pPr>
            <a:r>
              <a:t>Your Infrastructure Architecture Journey:</a:t>
            </a:r>
          </a:p>
          <a:p>
            <a:br/>
            <a:pPr>
              <a:defRPr sz="2400" b="1">
                <a:solidFill>
                  <a:srgbClr val="9333EA"/>
                </a:solidFill>
              </a:defRPr>
            </a:pPr>
            <a:r>
              <a:t>1. Modern Telecom Infrastructure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t>   ➜ Components &amp; architecture (20 min)</a:t>
            </a:r>
          </a:p>
          <a:p>
            <a:br/>
            <a:pPr>
              <a:defRPr sz="2400" b="1">
                <a:solidFill>
                  <a:srgbClr val="9333EA"/>
                </a:solidFill>
              </a:defRPr>
            </a:pPr>
            <a:r>
              <a:t>2. SDN Revolution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t>   ➜ Software-Defined Everything (20 min)</a:t>
            </a:r>
          </a:p>
          <a:p>
            <a:br/>
            <a:pPr>
              <a:defRPr sz="2400" b="1">
                <a:solidFill>
                  <a:srgbClr val="9333EA"/>
                </a:solidFill>
              </a:defRPr>
            </a:pPr>
            <a:r>
              <a:t>3. NFV Transformation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t>   ➜ Virtualize all functions (20 min)</a:t>
            </a:r>
          </a:p>
          <a:p>
            <a:br/>
            <a:pPr>
              <a:defRPr sz="2400" b="1">
                <a:solidFill>
                  <a:srgbClr val="9333EA"/>
                </a:solidFill>
              </a:defRPr>
            </a:pPr>
            <a:r>
              <a:t>4. Hands-On SDN Lab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t>   ➜ Program your network (30 min)</a:t>
            </a:r>
          </a:p>
          <a:p>
            <a:br/>
            <a:pPr>
              <a:defRPr sz="2400" b="1">
                <a:solidFill>
                  <a:srgbClr val="9333EA"/>
                </a:solidFill>
              </a:defRPr>
            </a:pPr>
            <a:r>
              <a:t>5. AI in Infrastructure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t>   ➜ Smart, self-optimizing networks (15 min)</a:t>
            </a:r>
          </a:p>
          <a:p>
            <a:br/>
            <a:pPr>
              <a:defRPr sz="2400" b="1">
                <a:solidFill>
                  <a:srgbClr val="9333EA"/>
                </a:solidFill>
              </a:defRPr>
            </a:pPr>
            <a:r>
              <a:t>6. Integration &amp; Future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t>   ➜ Bringing it all together 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Time Travel: Infrastructure Evolution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6400800" cy="4572000"/>
          </a:xfrm>
          <a:prstGeom prst="roundRect">
            <a:avLst/>
          </a:prstGeom>
          <a:solidFill>
            <a:srgbClr val="FFF0F0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Traditional Infrastructure 🏢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🔌 Physical hardware everywhere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🏗️ Vertical silos (Voice, Data, Video)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⚙️ Proprietary appliances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🐌 Manual configuration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💸 High CAPEX/OPEX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📊 Limited scalability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🔧 Vendor-specific skills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6400800" cy="457200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Modern Infrastructure 🚀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☁️ Software-defined everything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🔄 Converged platform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📦 Virtual network functions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🤖 Automated orchestration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💰 Pay-as-you-grow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♾️ Infinite scalability</a:t>
            </a:r>
          </a:p>
          <a:p>
            <a:pPr algn="l">
              <a:defRPr sz="1700">
                <a:solidFill>
                  <a:srgbClr val="2C2C2C"/>
                </a:solidFill>
              </a:defRPr>
            </a:pPr>
            <a:r>
              <a:t>🌐 Universal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Modern Telecom Infrastructure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t>The Complete Infrastructure Ecosystem: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🖥️ Compute Layer: x86 servers, ARM processors, GPU accelerators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Standard hardware running any workload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💾 Storage Layer: Distributed storage, Object/Block/File systems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Scalable, resilient, software-defined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🌐 Network Layer: SDN switches, virtual routers, overlays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Programmable, flexible, automated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☁️ Virtualization Layer: Hypervisors, containers, orchestrators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Abstract hardware, enable portability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📦 Service Layer: VNFs, CNFs, microservices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Network functions as software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🧠 Management Layer: MANO, OSS/BSS, analytics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Orchestrate, monitor, optimize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🛡️ Security Layer: Firewalls, encryption, zero-trust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Built-in, not bolt-on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The Modern Telecom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6400800"/>
            <a:ext cx="10972800" cy="10972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Applications &amp; Services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VoIP, Video, IoT, Gaming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029200"/>
            <a:ext cx="109728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Network Functions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vRouter, vFirewall, vLB, vIMS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657600"/>
            <a:ext cx="10972800" cy="109728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Orchestration &amp; Management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MANO, SDN Controller,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286000"/>
            <a:ext cx="10972800" cy="109728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Virtual Infrastructure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VMs, Containers, Network Overlays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914400"/>
            <a:ext cx="10972800" cy="914400"/>
          </a:xfrm>
          <a:prstGeom prst="round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Physical Infrastructure: COTS Servers • Storage • Switches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SDN: The Network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t>Software-Defined Networking Fundamentals:</a:t>
            </a:r>
          </a:p>
          <a:p>
            <a:br/>
            <a:pPr>
              <a:defRPr sz="1900" b="1">
                <a:solidFill>
                  <a:srgbClr val="9333EA"/>
                </a:solidFill>
              </a:defRPr>
            </a:pPr>
            <a:r>
              <a:t>🧠 Centralized Control: Single brain controlling entire network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 → No more box-by-box configuration</a:t>
            </a:r>
          </a:p>
          <a:p>
            <a:br/>
            <a:pPr>
              <a:defRPr sz="1900" b="1">
                <a:solidFill>
                  <a:srgbClr val="9333EA"/>
                </a:solidFill>
              </a:defRPr>
            </a:pPr>
            <a:r>
              <a:t>🔀 Decoupled Planes: Separate control from data forwarding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 → Hardware becomes dumb, software gets smart</a:t>
            </a:r>
          </a:p>
          <a:p>
            <a:br/>
            <a:pPr>
              <a:defRPr sz="1900" b="1">
                <a:solidFill>
                  <a:srgbClr val="9333EA"/>
                </a:solidFill>
              </a:defRPr>
            </a:pPr>
            <a:r>
              <a:t>📋 Programmability: Network as code, APIs everywhere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 → Change behavior with software updates</a:t>
            </a:r>
          </a:p>
          <a:p>
            <a:br/>
            <a:pPr>
              <a:defRPr sz="1900" b="1">
                <a:solidFill>
                  <a:srgbClr val="9333EA"/>
                </a:solidFill>
              </a:defRPr>
            </a:pPr>
            <a:r>
              <a:t>🎯 Policy-Based: Define intent, not implementation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 → Business policies auto-translate to configs</a:t>
            </a:r>
          </a:p>
          <a:p>
            <a:br/>
            <a:pPr>
              <a:defRPr sz="1900" b="1">
                <a:solidFill>
                  <a:srgbClr val="9333EA"/>
                </a:solidFill>
              </a:defRPr>
            </a:pPr>
            <a:r>
              <a:t>📊 Global View: See and control entire network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 → End-to-end optimization possible</a:t>
            </a:r>
          </a:p>
          <a:p>
            <a:br/>
            <a:pPr>
              <a:defRPr sz="1900" b="1">
                <a:solidFill>
                  <a:srgbClr val="9333EA"/>
                </a:solidFill>
              </a:defRPr>
            </a:pPr>
            <a:r>
              <a:t>⚡ Dynamic &amp; Agile: Instant changes, no hardware touch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 → Adapt to traffic in real-time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SDN Architecture: Three Planes</a:t>
            </a:r>
          </a:p>
        </p:txBody>
      </p:sp>
      <p:sp>
        <p:nvSpPr>
          <p:cNvPr id="3" name="Down Arrow 2"/>
          <p:cNvSpPr/>
          <p:nvPr/>
        </p:nvSpPr>
        <p:spPr>
          <a:xfrm>
            <a:off x="6858000" y="2651760"/>
            <a:ext cx="914400" cy="457200"/>
          </a:xfrm>
          <a:prstGeom prst="downArrow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2743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15A24"/>
                </a:solidFill>
              </a:defRPr>
            </a:pPr>
            <a:r>
              <a:t>Northbound APIs</a:t>
            </a:r>
          </a:p>
        </p:txBody>
      </p:sp>
      <p:sp>
        <p:nvSpPr>
          <p:cNvPr id="5" name="Down Arrow 4"/>
          <p:cNvSpPr/>
          <p:nvPr/>
        </p:nvSpPr>
        <p:spPr>
          <a:xfrm>
            <a:off x="6858000" y="4023360"/>
            <a:ext cx="914400" cy="457200"/>
          </a:xfrm>
          <a:prstGeom prst="downArrow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114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15A24"/>
                </a:solidFill>
              </a:defRPr>
            </a:pPr>
            <a:r>
              <a:t>Southbound APIs (OpenFlow)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50292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Application Plane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Business Applications</a:t>
            </a:r>
            <a:br/>
            <a:r>
              <a:t>Network Services</a:t>
            </a:r>
            <a:br/>
            <a:r>
              <a:t>Security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200400"/>
            <a:ext cx="50292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9333EA"/>
                </a:solidFill>
              </a:defRPr>
            </a:pPr>
            <a:r>
              <a:t>Control Plane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SDN Controller</a:t>
            </a:r>
            <a:br/>
            <a:r>
              <a:t>(OpenDaylight, ONOS)</a:t>
            </a:r>
            <a:br/>
            <a:r>
              <a:t>Network 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572000"/>
            <a:ext cx="50292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Data Plane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OpenFlow Switches</a:t>
            </a:r>
            <a:br/>
            <a:r>
              <a:t>Virtual Switches</a:t>
            </a:r>
            <a:br/>
            <a:r>
              <a:t>P4 Devices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828800"/>
            <a:ext cx="4572000" cy="3931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70C0"/>
                </a:solidFill>
              </a:defRPr>
            </a:pPr>
            <a:r>
              <a:t>SDN Benefits:</a:t>
            </a:r>
          </a:p>
          <a:p>
            <a:pPr algn="l">
              <a:defRPr sz="1600">
                <a:solidFill>
                  <a:srgbClr val="2C2C2C"/>
                </a:solidFill>
              </a:defRPr>
            </a:pPr>
            <a:r>
              <a:t>⚡ 95% faster provisioning</a:t>
            </a:r>
          </a:p>
          <a:p>
            <a:pPr algn="l">
              <a:defRPr sz="1600">
                <a:solidFill>
                  <a:srgbClr val="2C2C2C"/>
                </a:solidFill>
              </a:defRPr>
            </a:pPr>
            <a:r>
              <a:t>💰 60% OPEX reduction</a:t>
            </a:r>
          </a:p>
          <a:p>
            <a:pPr algn="l">
              <a:defRPr sz="1600">
                <a:solidFill>
                  <a:srgbClr val="2C2C2C"/>
                </a:solidFill>
              </a:defRPr>
            </a:pPr>
            <a:r>
              <a:t>🔧 Zero-touch operations</a:t>
            </a:r>
          </a:p>
          <a:p>
            <a:pPr algn="l">
              <a:defRPr sz="1600">
                <a:solidFill>
                  <a:srgbClr val="2C2C2C"/>
                </a:solidFill>
              </a:defRPr>
            </a:pPr>
            <a:r>
              <a:t>📈 10x more agile</a:t>
            </a:r>
          </a:p>
          <a:p>
            <a:pPr algn="l">
              <a:defRPr sz="1600">
                <a:solidFill>
                  <a:srgbClr val="2C2C2C"/>
                </a:solidFill>
              </a:defRPr>
            </a:pPr>
            <a:r>
              <a:t>🌐 Vendor independence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SDN in Action: Real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9333EA"/>
                </a:solidFill>
              </a:defRPr>
            </a:pPr>
            <a:r>
              <a:t>🌐 Network Slicing for 5G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Create isolated virtual networks</a:t>
            </a:r>
          </a:p>
          <a:p>
            <a:pPr lvl="1">
              <a:defRPr sz="1600" i="1">
                <a:solidFill>
                  <a:srgbClr val="7F7F7F"/>
                </a:solidFill>
              </a:defRPr>
            </a:pPr>
            <a:r>
              <a:t>• Each slice optimized for specific service (IoT, video, URLLC)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🔄 Dynamic Traffic Engineering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Real-time path optimization</a:t>
            </a:r>
          </a:p>
          <a:p>
            <a:pPr lvl="1">
              <a:defRPr sz="1600" i="1">
                <a:solidFill>
                  <a:srgbClr val="7F7F7F"/>
                </a:solidFill>
              </a:defRPr>
            </a:pPr>
            <a:r>
              <a:t>• Avoid congestion, minimize latency automatically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🛡️ Security Service Chaining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Route traffic through security functions</a:t>
            </a:r>
          </a:p>
          <a:p>
            <a:pPr lvl="1">
              <a:defRPr sz="1600" i="1">
                <a:solidFill>
                  <a:srgbClr val="7F7F7F"/>
                </a:solidFill>
              </a:defRPr>
            </a:pPr>
            <a:r>
              <a:t>• Firewall → IPS → DLP → Encryption dynamically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💼 SD-WAN for Enterprises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Connect branches intelligently</a:t>
            </a:r>
          </a:p>
          <a:p>
            <a:pPr lvl="1">
              <a:defRPr sz="1600" i="1">
                <a:solidFill>
                  <a:srgbClr val="7F7F7F"/>
                </a:solidFill>
              </a:defRPr>
            </a:pPr>
            <a:r>
              <a:t>• Choose best path: MPLS, Internet, LTE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🎮 Gaming &amp; Video Optimization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Prioritize traffic dynamically</a:t>
            </a:r>
          </a:p>
          <a:p>
            <a:pPr lvl="1">
              <a:defRPr sz="1600" i="1">
                <a:solidFill>
                  <a:srgbClr val="7F7F7F"/>
                </a:solidFill>
              </a:defRPr>
            </a:pPr>
            <a:r>
              <a:t>• Ensure QoS based on application needs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☁️ Multi-Cloud Connectivity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Seamless cloud interconnection</a:t>
            </a:r>
          </a:p>
          <a:p>
            <a:pPr lvl="1">
              <a:defRPr sz="1600" i="1">
                <a:solidFill>
                  <a:srgbClr val="7F7F7F"/>
                </a:solidFill>
              </a:defRPr>
            </a:pPr>
            <a:r>
              <a:t>• Move workloads between AWS, Azure, GCP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NFV: Virtualize Everything!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t>Network Functions Virtualization Revolution:</a:t>
            </a:r>
          </a:p>
          <a:p>
            <a:br/>
            <a:pPr>
              <a:defRPr sz="1800" b="1">
                <a:solidFill>
                  <a:srgbClr val="10B981"/>
                </a:solidFill>
              </a:defRPr>
            </a:pPr>
            <a:r>
              <a:t>🎭 From Hardware to Software: Physical appliances → Virtual functions</a:t>
            </a:r>
          </a:p>
          <a:p>
            <a:pPr lvl="1">
              <a:defRPr sz="1500" i="1">
                <a:solidFill>
                  <a:srgbClr val="2C2C2C"/>
                </a:solidFill>
              </a:defRPr>
            </a:pPr>
            <a:r>
              <a:t>   Example: Router box → vRouter software</a:t>
            </a:r>
          </a:p>
          <a:p>
            <a:br/>
            <a:pPr>
              <a:defRPr sz="1800" b="1">
                <a:solidFill>
                  <a:srgbClr val="10B981"/>
                </a:solidFill>
              </a:defRPr>
            </a:pPr>
            <a:r>
              <a:t>☁️ Cloud Principles: Run on standard servers</a:t>
            </a:r>
          </a:p>
          <a:p>
            <a:pPr lvl="1">
              <a:defRPr sz="1500" i="1">
                <a:solidFill>
                  <a:srgbClr val="2C2C2C"/>
                </a:solidFill>
              </a:defRPr>
            </a:pPr>
            <a:r>
              <a:t>   Example: Same infrastructure for IT and network</a:t>
            </a:r>
          </a:p>
          <a:p>
            <a:br/>
            <a:pPr>
              <a:defRPr sz="1800" b="1">
                <a:solidFill>
                  <a:srgbClr val="10B981"/>
                </a:solidFill>
              </a:defRPr>
            </a:pPr>
            <a:r>
              <a:t>🔄 Lifecycle Automation: Deploy, scale, heal automatically</a:t>
            </a:r>
          </a:p>
          <a:p>
            <a:pPr lvl="1">
              <a:defRPr sz="1500" i="1">
                <a:solidFill>
                  <a:srgbClr val="2C2C2C"/>
                </a:solidFill>
              </a:defRPr>
            </a:pPr>
            <a:r>
              <a:t>   Example: From months to minutes</a:t>
            </a:r>
          </a:p>
          <a:p>
            <a:br/>
            <a:pPr>
              <a:defRPr sz="1800" b="1">
                <a:solidFill>
                  <a:srgbClr val="10B981"/>
                </a:solidFill>
              </a:defRPr>
            </a:pPr>
            <a:r>
              <a:t>💰 Cost Transformation: No specialized hardware</a:t>
            </a:r>
          </a:p>
          <a:p>
            <a:pPr lvl="1">
              <a:defRPr sz="1500" i="1">
                <a:solidFill>
                  <a:srgbClr val="2C2C2C"/>
                </a:solidFill>
              </a:defRPr>
            </a:pPr>
            <a:r>
              <a:t>   Example: 70% CAPEX reduction typical</a:t>
            </a:r>
          </a:p>
          <a:p>
            <a:br/>
            <a:pPr>
              <a:defRPr sz="1800" b="1">
                <a:solidFill>
                  <a:srgbClr val="10B981"/>
                </a:solidFill>
              </a:defRPr>
            </a:pPr>
            <a:r>
              <a:t>⚡ Service Velocity: New services in hours</a:t>
            </a:r>
          </a:p>
          <a:p>
            <a:pPr lvl="1">
              <a:defRPr sz="1500" i="1">
                <a:solidFill>
                  <a:srgbClr val="2C2C2C"/>
                </a:solidFill>
              </a:defRPr>
            </a:pPr>
            <a:r>
              <a:t>   Example: Software updates, not hardware swaps</a:t>
            </a:r>
          </a:p>
          <a:p>
            <a:br/>
            <a:pPr>
              <a:defRPr sz="1800" b="1">
                <a:solidFill>
                  <a:srgbClr val="10B981"/>
                </a:solidFill>
              </a:defRPr>
            </a:pPr>
            <a:r>
              <a:t>🌍 Location Freedom: Deploy anywhere: DC, edge, cloud</a:t>
            </a:r>
          </a:p>
          <a:p>
            <a:pPr lvl="1">
              <a:defRPr sz="1500" i="1">
                <a:solidFill>
                  <a:srgbClr val="2C2C2C"/>
                </a:solidFill>
              </a:defRPr>
            </a:pPr>
            <a:r>
              <a:t>   Example: Move functions as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NFV Reference Architecture (ETSI)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32004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VNFs</a:t>
            </a:r>
          </a:p>
          <a:p>
            <a:pPr algn="ctr">
              <a:defRPr sz="1200">
                <a:solidFill>
                  <a:srgbClr val="2C2C2C"/>
                </a:solidFill>
              </a:defRPr>
            </a:pPr>
            <a:r>
              <a:t>Virtual Network Functions</a:t>
            </a:r>
            <a:br/>
            <a:r>
              <a:t>Firewall, Router, 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657600"/>
            <a:ext cx="64008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333EA"/>
                </a:solidFill>
              </a:defRPr>
            </a:pPr>
            <a:r>
              <a:t>NFVI</a:t>
            </a:r>
          </a:p>
          <a:p>
            <a:pPr algn="ctr">
              <a:defRPr sz="1200">
                <a:solidFill>
                  <a:srgbClr val="2C2C2C"/>
                </a:solidFill>
              </a:defRPr>
            </a:pPr>
            <a:r>
              <a:t>NFV Infrastructure</a:t>
            </a:r>
            <a:br/>
            <a:r>
              <a:t>Compute, Storage,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5029200"/>
            <a:ext cx="27432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5A24"/>
                </a:solidFill>
              </a:defRPr>
            </a:pPr>
            <a:r>
              <a:t>VIM</a:t>
            </a:r>
          </a:p>
          <a:p>
            <a:pPr algn="ctr">
              <a:defRPr sz="1200">
                <a:solidFill>
                  <a:srgbClr val="2C2C2C"/>
                </a:solidFill>
              </a:defRPr>
            </a:pPr>
            <a:r>
              <a:t>Virtual Infrastructure Manager</a:t>
            </a:r>
            <a:br/>
            <a:r>
              <a:t>OpenStack, VMware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1828800"/>
            <a:ext cx="32004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BBF24"/>
                </a:solidFill>
              </a:defRPr>
            </a:pPr>
            <a:r>
              <a:t>VNFM</a:t>
            </a:r>
          </a:p>
          <a:p>
            <a:pPr algn="ctr">
              <a:defRPr sz="1200">
                <a:solidFill>
                  <a:srgbClr val="2C2C2C"/>
                </a:solidFill>
              </a:defRPr>
            </a:pPr>
            <a:r>
              <a:t>VNF Manager</a:t>
            </a:r>
            <a:br/>
            <a:r>
              <a:t>Lifecycle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5029200"/>
            <a:ext cx="27432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NFVO</a:t>
            </a:r>
          </a:p>
          <a:p>
            <a:pPr algn="ctr">
              <a:defRPr sz="1200">
                <a:solidFill>
                  <a:srgbClr val="2C2C2C"/>
                </a:solidFill>
              </a:defRPr>
            </a:pPr>
            <a:r>
              <a:t>NFV Orchestrator</a:t>
            </a:r>
            <a:br/>
            <a:r>
              <a:t>Service orchestration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VNF Zoo: Everything Goes Virtual!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Security VNFs 🛡️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vFirewall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vIPS/IDS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vDDoS Protection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vWAF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9333EA"/>
                </a:solidFill>
              </a:defRPr>
            </a:pPr>
            <a:r>
              <a:t>Routing VNFs 🔀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vRouter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vBGP Speaker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vSDN Gateway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vBRAS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15A24"/>
                </a:solidFill>
              </a:defRPr>
            </a:pPr>
            <a:r>
              <a:t>Mobile Core VNFs 📱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vEPC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vIMS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vPCRF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vHSS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114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Optimization VNFs ⚡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vWAN Optimizer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vLoad Balancer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vCDN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• vDPI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SDN + NFV: Better Together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2743200"/>
            <a:ext cx="3657600" cy="3657600"/>
          </a:xfrm>
          <a:prstGeom prst="ellipse">
            <a:avLst/>
          </a:prstGeom>
          <a:solidFill>
            <a:srgbClr val="EDE9FE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9333EA"/>
                </a:solidFill>
              </a:defRPr>
            </a:pPr>
            <a:r>
              <a:t>SDN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Network Control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Programmability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Agility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2743200"/>
            <a:ext cx="3657600" cy="3657600"/>
          </a:xfrm>
          <a:prstGeom prst="ellipse">
            <a:avLst/>
          </a:prstGeom>
          <a:solidFill>
            <a:srgbClr val="ECFE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NFV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Virtualization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Flexibility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Cost Savings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828800"/>
            <a:ext cx="4572000" cy="4572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15A24"/>
                </a:solidFill>
              </a:defRPr>
            </a:pPr>
            <a:r>
              <a:t>Combined Power 💪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✨ Dynamic service chaining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🚀 Automated provisioning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🎯 Intent-based networking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💰 80% cost reduction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⚡ Minutes to deploy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🔧 Self-optimizing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🌐 Cloud-native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 b="1">
                <a:solidFill>
                  <a:srgbClr val="0070C0"/>
                </a:solidFill>
              </a:defRPr>
            </a:pPr>
            <a:r>
              <a:t>Your Turn: Architect Modern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0FA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9333EA"/>
                </a:solidFill>
              </a:defRPr>
            </a:pPr>
            <a:r>
              <a:t>🎯 Challenge: Design Infrastructure for Egyptian Smart City</a:t>
            </a:r>
          </a:p>
          <a:p>
            <a:br/>
            <a:pPr algn="ctr">
              <a:defRPr sz="2200">
                <a:solidFill>
                  <a:srgbClr val="F15A24"/>
                </a:solidFill>
              </a:defRPr>
            </a:pPr>
            <a:r>
              <a:t>Requirements: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📹 100,000 security cameras with AI analysis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🚦 Smart traffic management system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💡 1 million IoT sensors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🏥 Telemedicine for all citizens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🎓 Remote education platform</a:t>
            </a:r>
          </a:p>
          <a:p>
            <a:br/>
            <a:pPr algn="ctr">
              <a:defRPr sz="1800">
                <a:solidFill>
                  <a:srgbClr val="10B981"/>
                </a:solidFill>
              </a:defRPr>
            </a:pPr>
            <a:r>
              <a:t>📝 Design using SDN + NFV principles</a:t>
            </a:r>
          </a:p>
          <a:p>
            <a:pPr algn="ctr">
              <a:defRPr sz="1600" i="1">
                <a:solidFill>
                  <a:srgbClr val="7F7F7F"/>
                </a:solidFill>
              </a:defRPr>
            </a:pPr>
            <a:r>
              <a:t>⏱️ 10 minutes design → 5 minutes present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 b="1">
                <a:solidFill>
                  <a:srgbClr val="0070C0"/>
                </a:solidFill>
              </a:defRPr>
            </a:pPr>
            <a:r>
              <a:t>Lab: Program Your SDN Network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🔬 SDN Hands-On Experience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🎮 Control network with Python code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🔀 Create dynamic flow rules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📊 Monitor traffic in real-time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🛡️ Implement security policies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⚡ Load balance automatically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🎯 Build network application</a:t>
            </a:r>
          </a:p>
          <a:p>
            <a:br/>
            <a:pPr algn="ctr">
              <a:defRPr sz="2400" b="1">
                <a:solidFill>
                  <a:srgbClr val="9333EA"/>
                </a:solidFill>
              </a:defRPr>
            </a:pPr>
            <a:r>
              <a:t>🚀 Result: Your first SDN application!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t>Lab Exercise: SDN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9333EA"/>
                </a:solidFill>
              </a:defRPr>
            </a:pPr>
            <a:r>
              <a:t>Step 1: Access SDN Environment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URL: sdn-lab.perfect-tc.com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Login with provided credentials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Open Mininet topology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Step 2: Explore Network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View switches and hosts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Check initial connectivity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Examine flow tables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Step 3: Program Flows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Write Python script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Install custom flow rules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Test new behavior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Step 4: Build Application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Create load balancer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Implement firewall rules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Monitor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AI-Powered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t>Intelligence Everywhere in the Network:</a:t>
            </a:r>
          </a:p>
          <a:p>
            <a:br/>
            <a:pPr>
              <a:defRPr sz="1800" b="1">
                <a:solidFill>
                  <a:srgbClr val="FBBF24"/>
                </a:solidFill>
              </a:defRPr>
            </a:pPr>
            <a:r>
              <a:t>🔮 Predictive Analytics: Forecast failures before they happen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ML models analyze patterns → 90% accuracy</a:t>
            </a:r>
          </a:p>
          <a:p>
            <a:br/>
            <a:pPr>
              <a:defRPr sz="1800" b="1">
                <a:solidFill>
                  <a:srgbClr val="FBBF24"/>
                </a:solidFill>
              </a:defRPr>
            </a:pPr>
            <a:r>
              <a:t>🎯 Intelligent Routing: AI chooses best path per flow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Considers latency, cost, load, priority</a:t>
            </a:r>
          </a:p>
          <a:p>
            <a:br/>
            <a:pPr>
              <a:defRPr sz="1800" b="1">
                <a:solidFill>
                  <a:srgbClr val="FBBF24"/>
                </a:solidFill>
              </a:defRPr>
            </a:pPr>
            <a:r>
              <a:t>🛡️ Anomaly Detection: Identify threats in milliseconds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Baseline normal → Alert on deviations</a:t>
            </a:r>
          </a:p>
          <a:p>
            <a:br/>
            <a:pPr>
              <a:defRPr sz="1800" b="1">
                <a:solidFill>
                  <a:srgbClr val="FBBF24"/>
                </a:solidFill>
              </a:defRPr>
            </a:pPr>
            <a:r>
              <a:t>📊 Capacity Planning: Predict resource needs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Scale infrastructure proactively</a:t>
            </a:r>
          </a:p>
          <a:p>
            <a:br/>
            <a:pPr>
              <a:defRPr sz="1800" b="1">
                <a:solidFill>
                  <a:srgbClr val="FBBF24"/>
                </a:solidFill>
              </a:defRPr>
            </a:pPr>
            <a:r>
              <a:t>🔧 Self-Optimization: Continuously tune parameters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Better than any human expert</a:t>
            </a:r>
          </a:p>
          <a:p>
            <a:br/>
            <a:pPr>
              <a:defRPr sz="1800" b="1">
                <a:solidFill>
                  <a:srgbClr val="FBBF24"/>
                </a:solidFill>
              </a:defRPr>
            </a:pPr>
            <a:r>
              <a:t>💡 Intent Translation: Natural language to network config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Say what you want in plain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The Trinity: AI + SDN + NFV</a:t>
            </a:r>
          </a:p>
        </p:txBody>
      </p:sp>
      <p:sp>
        <p:nvSpPr>
          <p:cNvPr id="3" name="Oval 2"/>
          <p:cNvSpPr/>
          <p:nvPr/>
        </p:nvSpPr>
        <p:spPr>
          <a:xfrm>
            <a:off x="5943600" y="3200400"/>
            <a:ext cx="2743200" cy="2743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AI/ML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5A24"/>
                </a:solidFill>
              </a:defRPr>
            </a:pPr>
            <a:r>
              <a:t>AI + SDN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Self-driving networks</a:t>
            </a:r>
            <a:br/>
            <a:r>
              <a:t>Traffic prediction &amp; auto-routing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5A24"/>
                </a:solidFill>
              </a:defRPr>
            </a:pPr>
            <a:r>
              <a:t>AI + NFV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Intelligent placement</a:t>
            </a:r>
            <a:br/>
            <a:r>
              <a:t>Optimize VNF locations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640080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5A24"/>
                </a:solidFill>
              </a:defRPr>
            </a:pPr>
            <a:r>
              <a:t>SDN + NFV + AI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Complete automation</a:t>
            </a:r>
            <a:br/>
            <a:r>
              <a:t>Zero-touch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 b="1">
                <a:solidFill>
                  <a:srgbClr val="0070C0"/>
                </a:solidFill>
              </a:defRPr>
            </a:pPr>
            <a:r>
              <a:t>Success Stories: Infrastructure Transformation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9333EA"/>
                </a:solidFill>
              </a:defRPr>
            </a:pPr>
            <a:r>
              <a:t>AT&amp;T 🇺🇸</a:t>
            </a:r>
          </a:p>
          <a:p>
            <a:pPr algn="ctr">
              <a:defRPr sz="1800" b="1">
                <a:solidFill>
                  <a:srgbClr val="2C2C2C"/>
                </a:solidFill>
              </a:defRPr>
            </a:pPr>
            <a:r>
              <a:t>75% virtualized</a:t>
            </a:r>
          </a:p>
          <a:p>
            <a:pPr algn="ctr">
              <a:defRPr sz="1600">
                <a:solidFill>
                  <a:srgbClr val="7F7F7F"/>
                </a:solidFill>
              </a:defRPr>
            </a:pPr>
            <a:r>
              <a:t>SDN + NFV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China Mobile 🇨🇳</a:t>
            </a:r>
          </a:p>
          <a:p>
            <a:pPr algn="ctr">
              <a:defRPr sz="1800" b="1">
                <a:solidFill>
                  <a:srgbClr val="2C2C2C"/>
                </a:solidFill>
              </a:defRPr>
            </a:pPr>
            <a:r>
              <a:t>NovoNet program</a:t>
            </a:r>
          </a:p>
          <a:p>
            <a:pPr algn="ctr">
              <a:defRPr sz="1600">
                <a:solidFill>
                  <a:srgbClr val="7F7F7F"/>
                </a:solidFill>
              </a:defRPr>
            </a:pPr>
            <a:r>
              <a:t>World's largest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15A24"/>
                </a:solidFill>
              </a:defRPr>
            </a:pPr>
            <a:r>
              <a:t>Telefonica 🇪🇸</a:t>
            </a:r>
          </a:p>
          <a:p>
            <a:pPr algn="ctr">
              <a:defRPr sz="1800" b="1">
                <a:solidFill>
                  <a:srgbClr val="2C2C2C"/>
                </a:solidFill>
              </a:defRPr>
            </a:pPr>
            <a:r>
              <a:t>UNICA platform</a:t>
            </a:r>
          </a:p>
          <a:p>
            <a:pPr algn="ctr">
              <a:defRPr sz="1600">
                <a:solidFill>
                  <a:srgbClr val="7F7F7F"/>
                </a:solidFill>
              </a:defRPr>
            </a:pPr>
            <a:r>
              <a:t>Multi-vendor NFV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114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t>NTT 🇯🇵</a:t>
            </a:r>
          </a:p>
          <a:p>
            <a:pPr algn="ctr">
              <a:defRPr sz="1800" b="1">
                <a:solidFill>
                  <a:srgbClr val="2C2C2C"/>
                </a:solidFill>
              </a:defRPr>
            </a:pPr>
            <a:r>
              <a:t>AI-driven ops</a:t>
            </a:r>
          </a:p>
          <a:p>
            <a:pPr algn="ctr">
              <a:defRPr sz="1600">
                <a:solidFill>
                  <a:srgbClr val="7F7F7F"/>
                </a:solidFill>
              </a:defRPr>
            </a:pPr>
            <a:r>
              <a:t>50% less incidents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You: The Infrastructure Architect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t>Your New Superpowers: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🏗️ Infrastructure Design: Architect scalable, resilient systems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Cloud-native from ground up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💻 Software Skills: Python, APIs, automation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Code is your new CLI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🧩 Integration Mastery: Connect SDN + NFV + Cloud + AI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Make everything work together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📊 Data-Driven Decisions: Analytics, ML insights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Let data guide architecture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🚀 Innovation Mindset: Always learning, experimenting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Future-proof designs</a:t>
            </a:r>
          </a:p>
          <a:p>
            <a:br/>
            <a:pPr>
              <a:defRPr sz="1800" b="1">
                <a:solidFill>
                  <a:srgbClr val="9333EA"/>
                </a:solidFill>
              </a:defRPr>
            </a:pPr>
            <a:r>
              <a:t>💼 Business Alignment: Translate tech to value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   → ROI-focused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Egypt's Infrastructure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15A24"/>
                </a:solidFill>
              </a:defRPr>
            </a:pPr>
            <a:r>
              <a:t>🇪🇬 Egypt's Digital Transformation Vision</a:t>
            </a:r>
          </a:p>
          <a:p>
            <a:pPr algn="ctr">
              <a:defRPr sz="2000">
                <a:solidFill>
                  <a:srgbClr val="2C2C2C"/>
                </a:solidFill>
              </a:defRPr>
            </a:pPr>
            <a:r>
              <a:t>🏙️ Smart Cities: New Administrative Capital</a:t>
            </a:r>
          </a:p>
          <a:p>
            <a:pPr algn="ctr">
              <a:defRPr sz="2000">
                <a:solidFill>
                  <a:srgbClr val="2C2C2C"/>
                </a:solidFill>
              </a:defRPr>
            </a:pPr>
            <a:r>
              <a:t>🏭 Industry 4.0: Manufacturing revolution</a:t>
            </a:r>
          </a:p>
          <a:p>
            <a:pPr algn="ctr">
              <a:defRPr sz="2000">
                <a:solidFill>
                  <a:srgbClr val="2C2C2C"/>
                </a:solidFill>
              </a:defRPr>
            </a:pPr>
            <a:r>
              <a:t>🏥 Digital Health: Telemedicine everywhere</a:t>
            </a:r>
          </a:p>
          <a:p>
            <a:pPr algn="ctr">
              <a:defRPr sz="2000">
                <a:solidFill>
                  <a:srgbClr val="2C2C2C"/>
                </a:solidFill>
              </a:defRPr>
            </a:pPr>
            <a:r>
              <a:t>🎓 Education: Remote learning infrastructure</a:t>
            </a:r>
          </a:p>
          <a:p>
            <a:pPr algn="ctr">
              <a:defRPr sz="2000">
                <a:solidFill>
                  <a:srgbClr val="2C2C2C"/>
                </a:solidFill>
              </a:defRPr>
            </a:pPr>
            <a:r>
              <a:t>🌾 Smart Agriculture: IoT for farming</a:t>
            </a:r>
          </a:p>
          <a:p>
            <a:pPr algn="ctr">
              <a:defRPr sz="2000">
                <a:solidFill>
                  <a:srgbClr val="2C2C2C"/>
                </a:solidFill>
              </a:defRPr>
            </a:pPr>
            <a:r>
              <a:t>🚢 Suez Canal: Smart logistics corridor</a:t>
            </a:r>
          </a:p>
          <a:p>
            <a:br/>
            <a:pPr algn="ctr">
              <a:defRPr sz="2400" b="1">
                <a:solidFill>
                  <a:srgbClr val="9333EA"/>
                </a:solidFill>
              </a:defRPr>
            </a:pPr>
            <a:r>
              <a:t>💡 All need modern SDN/NFV infrastructure!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Infrastructure Transformation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9333EA"/>
                </a:solidFill>
              </a:defRPr>
            </a:pPr>
            <a:r>
              <a:t>1️⃣ Modern Infrastructure = Software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t>→ Everything virtualized and programmable</a:t>
            </a:r>
          </a:p>
          <a:p>
            <a:pPr>
              <a:defRPr sz="2200" b="1">
                <a:solidFill>
                  <a:srgbClr val="9333EA"/>
                </a:solidFill>
              </a:defRPr>
            </a:pPr>
            <a:r>
              <a:t>2️⃣ SDN Controls the Network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t>→ Centralized brain, programmable behavior</a:t>
            </a:r>
          </a:p>
          <a:p>
            <a:pPr>
              <a:defRPr sz="2200" b="1">
                <a:solidFill>
                  <a:srgbClr val="9333EA"/>
                </a:solidFill>
              </a:defRPr>
            </a:pPr>
            <a:r>
              <a:t>3️⃣ NFV Virtualizes Functions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t>→ Any function on any hardware</a:t>
            </a:r>
          </a:p>
          <a:p>
            <a:pPr>
              <a:defRPr sz="2200" b="1">
                <a:solidFill>
                  <a:srgbClr val="9333EA"/>
                </a:solidFill>
              </a:defRPr>
            </a:pPr>
            <a:r>
              <a:t>4️⃣ AI Makes it Intelligent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t>→ Self-optimizing, predictive, automated</a:t>
            </a:r>
          </a:p>
          <a:p>
            <a:pPr>
              <a:defRPr sz="2200" b="1">
                <a:solidFill>
                  <a:srgbClr val="9333EA"/>
                </a:solidFill>
              </a:defRPr>
            </a:pPr>
            <a:r>
              <a:t>5️⃣ Integration is Key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t>→ SDN + NFV + AI + Cloud = Future</a:t>
            </a:r>
          </a:p>
          <a:p>
            <a:pPr>
              <a:defRPr sz="2200" b="1">
                <a:solidFill>
                  <a:srgbClr val="9333EA"/>
                </a:solidFill>
              </a:defRPr>
            </a:pPr>
            <a:r>
              <a:t>6️⃣ You're Ready to Build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t>→ Skills + knowledge = transformation leader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Continue Your Infrastructure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F15A24"/>
                </a:solidFill>
              </a:defRPr>
            </a:pPr>
            <a:r>
              <a:t>📚 Master the Fundamentals: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SDN: OpenFlow, ONOS, OpenDaylight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NFV: ETSI standards, OPNFV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Infrastructure as Code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Network programming (Python)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🛠️ Get Hands-On Experience: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Mininet for SDN practice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OpenStack for NFV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GNS3 for network simulation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Public cloud SDKs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📖 Certifications to Pursue: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ONF SDN Certification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Red Hat NFV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Cloud architect certs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Python for networks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🌐 Join Communities: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Open Networking Foundation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ETSI NFV ISG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OPNFV community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Local tech meetups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9333EA"/>
                </a:solidFill>
              </a:defRPr>
            </a:pPr>
            <a:r>
              <a:t>📋 Complete Infrastructure Design (2 hours)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Design end-to-end infrastructure for Egyptian telco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Include SDN, NFV, AI components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Show cost savings and benefits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Create implementation roadmap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💡 Innovation Proposal (1 hour)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Propose new service using modern infrastructure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Target Egyptian market need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Show technical architecture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Calculate ROI</a:t>
            </a:r>
          </a:p>
          <a:p>
            <a:pPr>
              <a:defRPr sz="2000" b="1">
                <a:solidFill>
                  <a:srgbClr val="9333EA"/>
                </a:solidFill>
              </a:defRPr>
            </a:pPr>
            <a:r>
              <a:t>🎯 Presentation (30 min prep)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10-minute presentation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Business + technical audience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Focus on transformation value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Be ready to defend design</a:t>
            </a:r>
          </a:p>
          <a:p>
            <a:br/>
            <a:pPr>
              <a:defRPr sz="1800" b="1">
                <a:solidFill>
                  <a:srgbClr val="10B981"/>
                </a:solidFill>
              </a:defRPr>
            </a:pPr>
            <a:r>
              <a:t>📧 Submit to: infrastructure@perfect-tc.com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Let's Build the Future Together!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4572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15A24"/>
                </a:solidFill>
              </a:defRPr>
            </a:pPr>
            <a:r>
              <a:t>🎤 Your Questions Shape Tomorrow!</a:t>
            </a:r>
          </a:p>
          <a:p>
            <a:br/>
            <a:pPr algn="ctr">
              <a:defRPr sz="2200" b="1">
                <a:solidFill>
                  <a:srgbClr val="9333EA"/>
                </a:solidFill>
              </a:defRPr>
            </a:pPr>
            <a:r>
              <a:t>Common questions: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SDN vs traditional networking?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When to use NFV vs containers?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How to start with infrastructure?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Career paths in SDN/NFV?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Egypt's readiness for this?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Congratulations: You're Transformed!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457200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BBF24"/>
                </a:solidFill>
              </a:defRPr>
            </a:pPr>
            <a:r>
              <a:t>🏆 4-Day Transformation Complete!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☁️ Cloud Computing Master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📡 5G/6G Network Expert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🤖 Automation Architect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🏗️ Infrastructure Visionary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🚀 Ready to Transform Telecom!</a:t>
            </a:r>
          </a:p>
          <a:p>
            <a:br/>
            <a:pPr algn="ctr">
              <a:defRPr sz="2000" b="1">
                <a:solidFill>
                  <a:srgbClr val="F15A24"/>
                </a:solidFill>
              </a:defRPr>
            </a:pPr>
            <a:r>
              <a:t>You're not just trained - You're TRANSFORMED! 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BBF24"/>
                </a:solidFill>
              </a:defRPr>
            </a:pPr>
            <a:r>
              <a:t>Now Go Build Tomorrow's Networks!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Stay Connected: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📧 infrastructure@perfect-tc.com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🌐 www.perfect-tc.com/future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💬 Join our Infrastructure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7315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0B981"/>
                </a:solidFill>
              </a:defRPr>
            </a:pPr>
            <a:r>
              <a:t>Perfect Training Center - Building Tomorrow's Network Leaders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