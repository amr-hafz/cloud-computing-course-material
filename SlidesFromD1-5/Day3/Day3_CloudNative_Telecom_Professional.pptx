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83" r:id="rId6"/>
    <p:sldId id="260" r:id="rId7"/>
    <p:sldId id="284" r:id="rId8"/>
    <p:sldId id="285" r:id="rId9"/>
    <p:sldId id="286" r:id="rId10"/>
    <p:sldId id="261" r:id="rId11"/>
    <p:sldId id="294" r:id="rId12"/>
    <p:sldId id="295" r:id="rId13"/>
    <p:sldId id="262" r:id="rId14"/>
    <p:sldId id="287" r:id="rId15"/>
    <p:sldId id="288" r:id="rId16"/>
    <p:sldId id="263" r:id="rId17"/>
    <p:sldId id="289" r:id="rId18"/>
    <p:sldId id="264" r:id="rId19"/>
    <p:sldId id="290" r:id="rId20"/>
    <p:sldId id="265" r:id="rId21"/>
    <p:sldId id="291" r:id="rId22"/>
    <p:sldId id="266" r:id="rId23"/>
    <p:sldId id="292" r:id="rId24"/>
    <p:sldId id="293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15A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3F5812-4DC0-4DFD-828E-B40F2C6D843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9DD8D-5F75-4496-81BA-2C333BA5E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28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9DD8D-5F75-4496-81BA-2C333BA5E0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85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4630400" cy="4572000"/>
          </a:xfrm>
          <a:prstGeom prst="rect">
            <a:avLst/>
          </a:prstGeom>
          <a:solidFill>
            <a:srgbClr val="009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Cloud-Native Telecom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&amp; Automation 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15A24"/>
                </a:solidFill>
              </a:defRPr>
            </a:pPr>
            <a:r>
              <a:t>مفهوم Cloud-Native في الاتصالات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9436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C107"/>
                </a:solidFill>
              </a:defRPr>
            </a:pPr>
            <a:r>
              <a:t>Day 3 - Digital Transformation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Our Digital Transformation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5029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15A24"/>
                </a:solidFill>
              </a:defRPr>
            </a:pPr>
            <a:r>
              <a:t>What We've Built So Far: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📅 Day 1: Mastered Cloud Computing ☁️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📅 Day 2: Explored 5G &amp; 6G Networks 📡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🎯 Today: Transform Telecom with Automation 🤖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💡 Connect Everything: Cloud + Networks + AI</a:t>
            </a:r>
          </a:p>
          <a:p>
            <a:br/>
            <a:r>
              <a:t>🚀 Ready to revolutionize telecom operations!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Today's Transformation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800" b="1">
                <a:solidFill>
                  <a:srgbClr val="F15A24"/>
                </a:solidFill>
              </a:defRPr>
            </a:pPr>
            <a:r>
              <a:rPr dirty="0"/>
              <a:t>Your Path to Telecom Automation:</a:t>
            </a:r>
          </a:p>
          <a:p>
            <a:br>
              <a:rPr dirty="0"/>
            </a:br>
            <a:r>
              <a:rPr dirty="0"/>
              <a:t>1. Cloud-Native Fundamentals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rPr dirty="0"/>
              <a:t>   ➜ Why telecom is going cloud-native (15 min)</a:t>
            </a:r>
          </a:p>
          <a:p>
            <a:br>
              <a:rPr dirty="0"/>
            </a:br>
            <a:r>
              <a:rPr dirty="0"/>
              <a:t>2. Orchestration &amp; Automation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rPr dirty="0"/>
              <a:t>   ➜ MANO, Zero-touch, Intent-based (20 min)</a:t>
            </a:r>
          </a:p>
          <a:p>
            <a:br>
              <a:rPr dirty="0"/>
            </a:br>
            <a:r>
              <a:rPr dirty="0"/>
              <a:t>3. Open RAN &amp; AI Revolution</a:t>
            </a:r>
          </a:p>
          <a:p>
            <a:pPr lvl="1">
              <a:defRPr sz="2000">
                <a:solidFill>
                  <a:srgbClr val="2C2C2C"/>
                </a:solidFill>
              </a:defRPr>
            </a:pPr>
            <a:r>
              <a:rPr dirty="0"/>
              <a:t>   ➜ Transforming network architecture (15 min)</a:t>
            </a:r>
          </a:p>
          <a:p>
            <a:br>
              <a:rPr dirty="0"/>
            </a:br>
            <a:r>
              <a:rPr lang="en-US" dirty="0"/>
              <a:t>4</a:t>
            </a:r>
            <a:r>
              <a:rPr dirty="0"/>
              <a:t>. DevOps for Telecom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Quick Challenge: Spot the Difference!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6400800" cy="4572000"/>
          </a:xfrm>
          <a:prstGeom prst="roundRect">
            <a:avLst/>
          </a:prstGeom>
          <a:solidFill>
            <a:srgbClr val="FFF0F0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DC3545"/>
                </a:solidFill>
              </a:defRPr>
            </a:pPr>
            <a:r>
              <a:rPr dirty="0"/>
              <a:t>Traditional Telecom 📟</a:t>
            </a:r>
          </a:p>
          <a:p>
            <a:pPr algn="l">
              <a:defRPr sz="1800">
                <a:solidFill>
                  <a:srgbClr val="2C2C2C"/>
                </a:solidFill>
              </a:defRPr>
            </a:pPr>
            <a:r>
              <a:rPr dirty="0"/>
              <a:t>🔧 Hardware-based</a:t>
            </a:r>
            <a:endParaRPr lang="en-US" dirty="0"/>
          </a:p>
          <a:p>
            <a:pPr>
              <a:defRPr sz="1800">
                <a:solidFill>
                  <a:srgbClr val="2C2C2C"/>
                </a:solidFill>
              </a:defRPr>
            </a:pPr>
            <a:r>
              <a:rPr lang="en-US" dirty="0"/>
              <a:t>	Dedicated physical appliances for each function</a:t>
            </a:r>
            <a:endParaRPr dirty="0"/>
          </a:p>
          <a:p>
            <a:pPr algn="l">
              <a:defRPr sz="1800">
                <a:solidFill>
                  <a:srgbClr val="2C2C2C"/>
                </a:solidFill>
              </a:defRPr>
            </a:pPr>
            <a:r>
              <a:rPr dirty="0"/>
              <a:t>📦 Vendor lock-in</a:t>
            </a:r>
            <a:endParaRPr lang="en-US" dirty="0"/>
          </a:p>
          <a:p>
            <a:pPr>
              <a:defRPr sz="1800">
                <a:solidFill>
                  <a:srgbClr val="2C2C2C"/>
                </a:solidFill>
              </a:defRPr>
            </a:pPr>
            <a:r>
              <a:rPr lang="en-US" dirty="0"/>
              <a:t>	Proprietary systems creating single-vendor dependency</a:t>
            </a:r>
            <a:endParaRPr dirty="0"/>
          </a:p>
          <a:p>
            <a:pPr algn="l">
              <a:defRPr sz="1800">
                <a:solidFill>
                  <a:srgbClr val="2C2C2C"/>
                </a:solidFill>
              </a:defRPr>
            </a:pPr>
            <a:r>
              <a:rPr dirty="0"/>
              <a:t>🐌 Slow deployment (months)</a:t>
            </a:r>
            <a:endParaRPr lang="en-US" dirty="0"/>
          </a:p>
          <a:p>
            <a:pPr>
              <a:defRPr sz="1800">
                <a:solidFill>
                  <a:srgbClr val="2C2C2C"/>
                </a:solidFill>
              </a:defRPr>
            </a:pPr>
            <a:r>
              <a:rPr lang="en-US" dirty="0"/>
              <a:t>	Months-long cycles for new service rollout</a:t>
            </a:r>
            <a:endParaRPr dirty="0"/>
          </a:p>
          <a:p>
            <a:pPr algn="l">
              <a:defRPr sz="1800">
                <a:solidFill>
                  <a:srgbClr val="2C2C2C"/>
                </a:solidFill>
              </a:defRPr>
            </a:pPr>
            <a:r>
              <a:rPr dirty="0"/>
              <a:t>💰 High CAPEX</a:t>
            </a:r>
            <a:endParaRPr lang="en-US" dirty="0"/>
          </a:p>
          <a:p>
            <a:pPr>
              <a:defRPr sz="1800">
                <a:solidFill>
                  <a:srgbClr val="2C2C2C"/>
                </a:solidFill>
              </a:defRPr>
            </a:pPr>
            <a:r>
              <a:rPr lang="en-US" dirty="0"/>
              <a:t>	Significant upfront infrastructure investment</a:t>
            </a:r>
            <a:endParaRPr dirty="0"/>
          </a:p>
          <a:p>
            <a:pPr algn="l">
              <a:defRPr sz="1800">
                <a:solidFill>
                  <a:srgbClr val="2C2C2C"/>
                </a:solidFill>
              </a:defRPr>
            </a:pPr>
            <a:r>
              <a:rPr dirty="0"/>
              <a:t>🔨 Manual operations</a:t>
            </a:r>
            <a:endParaRPr lang="en-US" dirty="0"/>
          </a:p>
          <a:p>
            <a:pPr>
              <a:defRPr sz="1800">
                <a:solidFill>
                  <a:srgbClr val="2C2C2C"/>
                </a:solidFill>
              </a:defRPr>
            </a:pPr>
            <a:r>
              <a:rPr lang="en-US" dirty="0"/>
              <a:t>	Labor-intensive, error-prone configuration</a:t>
            </a:r>
            <a:endParaRPr dirty="0"/>
          </a:p>
          <a:p>
            <a:pPr algn="l">
              <a:defRPr sz="1800">
                <a:solidFill>
                  <a:srgbClr val="2C2C2C"/>
                </a:solidFill>
              </a:defRPr>
            </a:pPr>
            <a:r>
              <a:rPr dirty="0"/>
              <a:t>📊 Limited scalability</a:t>
            </a:r>
            <a:endParaRPr lang="en-US" dirty="0"/>
          </a:p>
          <a:p>
            <a:pPr>
              <a:defRPr sz="1800">
                <a:solidFill>
                  <a:srgbClr val="2C2C2C"/>
                </a:solidFill>
              </a:defRPr>
            </a:pPr>
            <a:r>
              <a:rPr lang="en-US" dirty="0"/>
              <a:t>	Constrained by physical capacity limits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6400800" cy="4572000"/>
          </a:xfrm>
          <a:prstGeom prst="roundRect">
            <a:avLst/>
          </a:prstGeom>
          <a:solidFill>
            <a:srgbClr val="F0FFF0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B050"/>
                </a:solidFill>
              </a:defRPr>
            </a:pPr>
            <a:r>
              <a:rPr dirty="0"/>
              <a:t>Cloud-Native Telecom ☁️</a:t>
            </a:r>
          </a:p>
          <a:p>
            <a:pPr algn="l">
              <a:defRPr sz="1800">
                <a:solidFill>
                  <a:srgbClr val="2C2C2C"/>
                </a:solidFill>
              </a:defRPr>
            </a:pPr>
            <a:r>
              <a:rPr dirty="0"/>
              <a:t>💻 Software-defined</a:t>
            </a:r>
            <a:endParaRPr lang="en-US" dirty="0"/>
          </a:p>
          <a:p>
            <a:pPr>
              <a:defRPr sz="1800">
                <a:solidFill>
                  <a:srgbClr val="2C2C2C"/>
                </a:solidFill>
              </a:defRPr>
            </a:pPr>
            <a:r>
              <a:rPr lang="en-US" dirty="0"/>
              <a:t>	Network functions virtualized as cloud-native applications</a:t>
            </a:r>
            <a:endParaRPr dirty="0"/>
          </a:p>
          <a:p>
            <a:pPr algn="l">
              <a:defRPr sz="1800">
                <a:solidFill>
                  <a:srgbClr val="2C2C2C"/>
                </a:solidFill>
              </a:defRPr>
            </a:pPr>
            <a:r>
              <a:rPr dirty="0"/>
              <a:t>🔓 Open standards</a:t>
            </a:r>
            <a:endParaRPr lang="en-US" dirty="0"/>
          </a:p>
          <a:p>
            <a:pPr>
              <a:defRPr sz="1800">
                <a:solidFill>
                  <a:srgbClr val="2C2C2C"/>
                </a:solidFill>
              </a:defRPr>
            </a:pPr>
            <a:r>
              <a:rPr lang="en-US" dirty="0"/>
              <a:t>	Multi-vendor interoperability through open interfaces</a:t>
            </a:r>
            <a:endParaRPr dirty="0"/>
          </a:p>
          <a:p>
            <a:pPr algn="l">
              <a:defRPr sz="1800">
                <a:solidFill>
                  <a:srgbClr val="2C2C2C"/>
                </a:solidFill>
              </a:defRPr>
            </a:pPr>
            <a:r>
              <a:rPr dirty="0"/>
              <a:t>⚡ Rapid deployment (hours)</a:t>
            </a:r>
            <a:endParaRPr lang="en-US" dirty="0"/>
          </a:p>
          <a:p>
            <a:pPr>
              <a:defRPr sz="1800">
                <a:solidFill>
                  <a:srgbClr val="2C2C2C"/>
                </a:solidFill>
              </a:defRPr>
            </a:pPr>
            <a:r>
              <a:rPr lang="en-US" dirty="0"/>
              <a:t>	Services provisioned in hours, not months</a:t>
            </a:r>
            <a:endParaRPr dirty="0"/>
          </a:p>
          <a:p>
            <a:pPr algn="l">
              <a:defRPr sz="1800">
                <a:solidFill>
                  <a:srgbClr val="2C2C2C"/>
                </a:solidFill>
              </a:defRPr>
            </a:pPr>
            <a:r>
              <a:rPr dirty="0"/>
              <a:t>💸 Pay-as-you-grow</a:t>
            </a:r>
            <a:endParaRPr lang="en-US" dirty="0"/>
          </a:p>
          <a:p>
            <a:pPr>
              <a:defRPr sz="1800">
                <a:solidFill>
                  <a:srgbClr val="2C2C2C"/>
                </a:solidFill>
              </a:defRPr>
            </a:pPr>
            <a:r>
              <a:rPr lang="en-US" dirty="0"/>
              <a:t>	OPEX-based consumption model, no upfront CAPEX</a:t>
            </a:r>
            <a:endParaRPr dirty="0"/>
          </a:p>
          <a:p>
            <a:pPr algn="l">
              <a:defRPr sz="1800">
                <a:solidFill>
                  <a:srgbClr val="2C2C2C"/>
                </a:solidFill>
              </a:defRPr>
            </a:pPr>
            <a:r>
              <a:rPr dirty="0"/>
              <a:t>🤖 Automated everything</a:t>
            </a:r>
            <a:endParaRPr lang="en-US" dirty="0"/>
          </a:p>
          <a:p>
            <a:pPr>
              <a:defRPr sz="1800">
                <a:solidFill>
                  <a:srgbClr val="2C2C2C"/>
                </a:solidFill>
              </a:defRPr>
            </a:pPr>
            <a:r>
              <a:rPr lang="en-US" dirty="0"/>
              <a:t>	Zero-touch operations with self-healing capabilities</a:t>
            </a:r>
            <a:endParaRPr dirty="0"/>
          </a:p>
          <a:p>
            <a:pPr algn="l">
              <a:defRPr sz="1800">
                <a:solidFill>
                  <a:srgbClr val="2C2C2C"/>
                </a:solidFill>
              </a:defRPr>
            </a:pPr>
            <a:r>
              <a:rPr dirty="0"/>
              <a:t>♾️ Infinite scalability</a:t>
            </a:r>
            <a:endParaRPr lang="en-US" dirty="0"/>
          </a:p>
          <a:p>
            <a:pPr>
              <a:defRPr sz="1800">
                <a:solidFill>
                  <a:srgbClr val="2C2C2C"/>
                </a:solidFill>
              </a:defRPr>
            </a:pPr>
            <a:r>
              <a:rPr lang="en-US" dirty="0"/>
              <a:t>	Elastic scaling that adapts to traffic demands instantly</a:t>
            </a:r>
            <a:br>
              <a:rPr lang="en-US" dirty="0"/>
            </a:b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02BA-5E3F-66AB-0D5F-0EE6C70C6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98CE4-729F-AF10-B421-E02B06FC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Cloud-Native: The New Telecom DNA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5B57-A634-D1B4-9195-0941BF58F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1784"/>
            <a:ext cx="13716000" cy="6570616"/>
          </a:xfrm>
        </p:spPr>
        <p:txBody>
          <a:bodyPr>
            <a:normAutofit fontScale="55000" lnSpcReduction="20000"/>
          </a:bodyPr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rPr sz="4600" dirty="0"/>
              <a:t>Core Principles of Cloud-Native Telecom:</a:t>
            </a:r>
            <a:endParaRPr lang="en-US" sz="4600" dirty="0"/>
          </a:p>
          <a:p>
            <a:pPr marL="0" indent="0">
              <a:buNone/>
            </a:pPr>
            <a:r>
              <a:rPr lang="en-US" sz="4200" dirty="0"/>
              <a:t>       Containerized: Everything runs in containers (Docker/K8s)</a:t>
            </a:r>
          </a:p>
          <a:p>
            <a:pPr lvl="1"/>
            <a:r>
              <a:rPr lang="en-US" sz="3800" b="1" dirty="0"/>
              <a:t>"Package Your Application &amp; Its Entire Environment"</a:t>
            </a:r>
            <a:endParaRPr lang="en-US" sz="3800" dirty="0"/>
          </a:p>
          <a:p>
            <a:pPr lvl="1"/>
            <a:r>
              <a:rPr lang="en-US" sz="3800" dirty="0"/>
              <a:t>Each container includes: </a:t>
            </a:r>
            <a:r>
              <a:rPr lang="en-US" sz="3800" b="1" dirty="0"/>
              <a:t>your code + runtime + libraries + system tools</a:t>
            </a:r>
            <a:endParaRPr lang="en-US" sz="3800" dirty="0"/>
          </a:p>
          <a:p>
            <a:pPr lvl="1"/>
            <a:r>
              <a:rPr lang="en-US" sz="3800" dirty="0"/>
              <a:t>Creates a consistent, isolated environment that runs </a:t>
            </a:r>
            <a:r>
              <a:rPr lang="en-US" sz="3800" b="1" dirty="0"/>
              <a:t>anywhere</a:t>
            </a:r>
            <a:endParaRPr lang="en-US" sz="3800" dirty="0"/>
          </a:p>
          <a:p>
            <a:r>
              <a:rPr lang="en-US" sz="3800" b="1" dirty="0"/>
              <a:t> Key Benefits</a:t>
            </a:r>
          </a:p>
          <a:p>
            <a:r>
              <a:rPr lang="en-US" sz="3300" b="1" dirty="0"/>
              <a:t> Consistency Across Environments</a:t>
            </a:r>
          </a:p>
          <a:p>
            <a:r>
              <a:rPr lang="en-US" sz="3300" b="1" dirty="0"/>
              <a:t> Instant Portability</a:t>
            </a:r>
          </a:p>
          <a:p>
            <a:pPr lvl="1"/>
            <a:r>
              <a:rPr lang="en-US" sz="3300" b="1" dirty="0"/>
              <a:t>Run anywhere</a:t>
            </a:r>
            <a:r>
              <a:rPr lang="en-US" sz="3300" dirty="0"/>
              <a:t> with Docker Engine:</a:t>
            </a:r>
          </a:p>
          <a:p>
            <a:pPr lvl="2"/>
            <a:r>
              <a:rPr lang="en-US" sz="3300" dirty="0"/>
              <a:t>Your laptop </a:t>
            </a:r>
          </a:p>
          <a:p>
            <a:pPr lvl="2"/>
            <a:r>
              <a:rPr lang="en-US" sz="3300" dirty="0"/>
              <a:t>Cloud providers (AWS, Azure, GCP) </a:t>
            </a:r>
          </a:p>
          <a:p>
            <a:pPr lvl="2"/>
            <a:r>
              <a:rPr lang="en-US" sz="3300" dirty="0"/>
              <a:t>Edge devices </a:t>
            </a:r>
          </a:p>
          <a:p>
            <a:pPr lvl="2"/>
            <a:r>
              <a:rPr lang="en-US" sz="3300" dirty="0"/>
              <a:t>On-premise servers </a:t>
            </a:r>
          </a:p>
          <a:p>
            <a:r>
              <a:rPr lang="en-US" sz="3300" b="1" dirty="0"/>
              <a:t> Lightning-Fast Scaling</a:t>
            </a:r>
          </a:p>
          <a:p>
            <a:pPr lvl="1"/>
            <a:r>
              <a:rPr lang="en-US" sz="3300" dirty="0"/>
              <a:t>Start thousands of containers in seconds</a:t>
            </a:r>
          </a:p>
          <a:p>
            <a:pPr lvl="1"/>
            <a:r>
              <a:rPr lang="en-US" sz="3300" dirty="0"/>
              <a:t>Perfect for handling traffic spikes</a:t>
            </a:r>
          </a:p>
          <a:p>
            <a:r>
              <a:rPr lang="en-US" sz="3300" b="1" dirty="0"/>
              <a:t> Isolation &amp; Security</a:t>
            </a:r>
          </a:p>
          <a:p>
            <a:pPr lvl="1"/>
            <a:r>
              <a:rPr lang="en-US" sz="3300" dirty="0"/>
              <a:t>Applications run in isolated environments</a:t>
            </a:r>
          </a:p>
          <a:p>
            <a:pPr lvl="1"/>
            <a:r>
              <a:rPr lang="en-US" sz="3300" dirty="0"/>
              <a:t>Crash in one container doesn't affect others</a:t>
            </a:r>
          </a:p>
          <a:p>
            <a:br>
              <a:rPr lang="en-US" dirty="0"/>
            </a:br>
            <a:br>
              <a:rPr lang="en-US" dirty="0"/>
            </a:b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ADAE6C-A240-D73E-2E82-D0F99CBA8F71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BAD08-DC05-2510-DBF9-16CF963EE64A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0F778-7ABB-547E-7FF3-5DDF35535962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E68ED5-0B29-217E-1BAD-F5E3432DA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434" y="3181985"/>
            <a:ext cx="8804366" cy="402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93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Cloud-Native: The New Telecom DNA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1784"/>
            <a:ext cx="13716000" cy="4924380"/>
          </a:xfrm>
        </p:spPr>
        <p:txBody>
          <a:bodyPr>
            <a:normAutofit fontScale="47500" lnSpcReduction="20000"/>
          </a:bodyPr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rPr sz="4600" dirty="0"/>
              <a:t>Core Principles of Cloud-Native Telecom:</a:t>
            </a:r>
            <a:endParaRPr lang="en-US" sz="4600" dirty="0"/>
          </a:p>
          <a:p>
            <a:pPr marL="0" indent="0">
              <a:buNone/>
            </a:pPr>
            <a:r>
              <a:rPr lang="en-US" sz="4200" dirty="0"/>
              <a:t>       Containerized: Everything runs in containers (Docker/K8s)</a:t>
            </a:r>
          </a:p>
          <a:p>
            <a:pPr lvl="1"/>
            <a:r>
              <a:rPr lang="en-US" sz="3800" b="1" dirty="0"/>
              <a:t> Kubernetes: Container Orchestration</a:t>
            </a:r>
          </a:p>
          <a:p>
            <a:pPr lvl="1"/>
            <a:r>
              <a:rPr lang="en-US" sz="3800" b="1" dirty="0"/>
              <a:t>🤔 Why We Need Orchestration?</a:t>
            </a:r>
          </a:p>
          <a:p>
            <a:pPr lvl="2"/>
            <a:r>
              <a:rPr lang="en-US" sz="3800" dirty="0"/>
              <a:t>When you have </a:t>
            </a:r>
            <a:r>
              <a:rPr lang="en-US" sz="3800" dirty="0">
                <a:solidFill>
                  <a:srgbClr val="0070C0"/>
                </a:solidFill>
              </a:rPr>
              <a:t>hundreds of containers</a:t>
            </a:r>
          </a:p>
          <a:p>
            <a:pPr lvl="2"/>
            <a:r>
              <a:rPr lang="en-US" sz="3800" dirty="0"/>
              <a:t>Need automatic management, scaling, and healing</a:t>
            </a:r>
          </a:p>
          <a:p>
            <a:pPr lvl="2"/>
            <a:r>
              <a:rPr lang="en-US" sz="3800" dirty="0"/>
              <a:t>Require load balancing and service discovery</a:t>
            </a:r>
          </a:p>
          <a:p>
            <a:pPr lvl="1"/>
            <a:r>
              <a:rPr lang="en-US" sz="3300" b="1" dirty="0"/>
              <a:t>       </a:t>
            </a:r>
            <a:r>
              <a:rPr lang="en-US" sz="3800" b="1" dirty="0"/>
              <a:t>What Kubernetes Does</a:t>
            </a:r>
          </a:p>
          <a:p>
            <a:pPr lvl="1"/>
            <a:r>
              <a:rPr lang="en-US" sz="3300" b="1" dirty="0"/>
              <a:t>Deployment</a:t>
            </a:r>
            <a:r>
              <a:rPr lang="en-US" sz="3300" dirty="0"/>
              <a:t>: "I want </a:t>
            </a:r>
            <a:r>
              <a:rPr lang="en-US" sz="3300" dirty="0">
                <a:solidFill>
                  <a:srgbClr val="0070C0"/>
                </a:solidFill>
              </a:rPr>
              <a:t>10 copies </a:t>
            </a:r>
            <a:r>
              <a:rPr lang="en-US" sz="3300" dirty="0"/>
              <a:t>of this container"</a:t>
            </a:r>
          </a:p>
          <a:p>
            <a:pPr lvl="1"/>
            <a:r>
              <a:rPr lang="en-US" sz="3300" b="1" dirty="0"/>
              <a:t>Scaling</a:t>
            </a:r>
            <a:r>
              <a:rPr lang="en-US" sz="3300" dirty="0"/>
              <a:t>: Automatically adds containers during traffic spikes</a:t>
            </a:r>
          </a:p>
          <a:p>
            <a:pPr lvl="1"/>
            <a:r>
              <a:rPr lang="en-US" sz="3300" b="1" dirty="0"/>
              <a:t>Healing</a:t>
            </a:r>
            <a:r>
              <a:rPr lang="en-US" sz="3300" dirty="0"/>
              <a:t>: Restarts failed containers automatically</a:t>
            </a:r>
          </a:p>
          <a:p>
            <a:pPr lvl="1"/>
            <a:r>
              <a:rPr lang="en-US" sz="3300" b="1" dirty="0"/>
              <a:t>Load Balancing</a:t>
            </a:r>
            <a:r>
              <a:rPr lang="en-US" sz="3300" dirty="0"/>
              <a:t>: Distributes traffic across containers</a:t>
            </a:r>
          </a:p>
          <a:p>
            <a:pPr lvl="1"/>
            <a:r>
              <a:rPr lang="en-US" sz="3300" b="1" dirty="0"/>
              <a:t>Real-World Architecture</a:t>
            </a:r>
          </a:p>
          <a:p>
            <a:pPr lvl="1"/>
            <a:r>
              <a:rPr lang="en-US" b="1" dirty="0"/>
              <a:t> </a:t>
            </a:r>
          </a:p>
          <a:p>
            <a:pPr lvl="1"/>
            <a:endParaRPr lang="en-US" dirty="0"/>
          </a:p>
          <a:p>
            <a:br>
              <a:rPr lang="en-US" dirty="0"/>
            </a:br>
            <a:br>
              <a:rPr lang="en-US" dirty="0"/>
            </a:br>
            <a:br>
              <a:rPr dirty="0"/>
            </a:b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E35A7E-3DA8-9E0B-1C0B-F401681E6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942" y="4758607"/>
            <a:ext cx="7878863" cy="2543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DF7A9-36BA-F307-1474-58316993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5CDA-5000-2BC9-D453-E532AAA58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Cloud-Native: The New Telecom DNA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16AFD-16B8-4FE6-F950-47428C22E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1784"/>
            <a:ext cx="13716000" cy="6570616"/>
          </a:xfrm>
        </p:spPr>
        <p:txBody>
          <a:bodyPr>
            <a:normAutofit lnSpcReduction="10000"/>
          </a:bodyPr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rPr sz="2200" dirty="0"/>
              <a:t>Core Principles of Cloud-Native Telecom:</a:t>
            </a:r>
            <a:endParaRPr lang="en-US" sz="2200" dirty="0"/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100" dirty="0"/>
              <a:t>Microservices: Break monoliths into small services</a:t>
            </a:r>
          </a:p>
          <a:p>
            <a:pPr lvl="1"/>
            <a:r>
              <a:rPr lang="en-US" sz="1800" dirty="0"/>
              <a:t>Instead of one giant application, build many </a:t>
            </a:r>
            <a:r>
              <a:rPr lang="en-US" sz="1800" dirty="0">
                <a:solidFill>
                  <a:srgbClr val="0070C0"/>
                </a:solidFill>
              </a:rPr>
              <a:t>small, focused services</a:t>
            </a:r>
          </a:p>
          <a:p>
            <a:pPr lvl="1"/>
            <a:r>
              <a:rPr lang="en-US" sz="1800" dirty="0"/>
              <a:t>Each service handles </a:t>
            </a:r>
            <a:r>
              <a:rPr lang="en-US" sz="1800" dirty="0">
                <a:solidFill>
                  <a:srgbClr val="0070C0"/>
                </a:solidFill>
              </a:rPr>
              <a:t>one business capability</a:t>
            </a:r>
          </a:p>
          <a:p>
            <a:pPr lvl="1"/>
            <a:r>
              <a:rPr lang="en-US" sz="1800" dirty="0"/>
              <a:t>Services communicate through </a:t>
            </a:r>
            <a:r>
              <a:rPr lang="en-US" sz="1800" dirty="0">
                <a:solidFill>
                  <a:srgbClr val="0070C0"/>
                </a:solidFill>
              </a:rPr>
              <a:t>well-defined APIs</a:t>
            </a:r>
          </a:p>
          <a:p>
            <a:pPr lvl="1"/>
            <a:endParaRPr lang="en-US" sz="21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100" b="1" dirty="0"/>
              <a:t> 												  </a:t>
            </a:r>
            <a:r>
              <a:rPr lang="en-US" sz="3900" i="1" dirty="0">
                <a:solidFill>
                  <a:srgbClr val="F15A24"/>
                </a:solidFill>
              </a:rPr>
              <a:t>VS</a:t>
            </a:r>
          </a:p>
          <a:p>
            <a:pPr lvl="1"/>
            <a:endParaRPr lang="en-US" sz="2100" dirty="0"/>
          </a:p>
          <a:p>
            <a:pPr marL="0" indent="0">
              <a:buNone/>
            </a:pP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	</a:t>
            </a:r>
            <a:r>
              <a:rPr lang="en-US" sz="2100" b="1" dirty="0"/>
              <a:t>															</a:t>
            </a:r>
          </a:p>
          <a:p>
            <a:pPr marL="0" indent="0">
              <a:buNone/>
            </a:pPr>
            <a:r>
              <a:rPr lang="en-US" sz="2100" b="1" dirty="0"/>
              <a:t>						</a:t>
            </a:r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r>
              <a:rPr lang="en-US" sz="2100" b="1" dirty="0"/>
              <a:t>															</a:t>
            </a:r>
          </a:p>
          <a:p>
            <a:pPr marL="0" indent="0">
              <a:buNone/>
            </a:pPr>
            <a:br>
              <a:rPr sz="2100" dirty="0"/>
            </a:br>
            <a:endParaRPr sz="21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8BCF09-ED1E-22A9-D4B8-B116B5E61A3D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D3BDB-79A8-CC07-ED12-4E975B91D720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015FE-30E2-678D-54AA-8BAE1B30C5C5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BC83A4-E7D9-21AA-289C-5CC5B3086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483" y="2880997"/>
            <a:ext cx="4784813" cy="29055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0DC803-B1EB-4974-D193-F3DF277FD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206" y="2880997"/>
            <a:ext cx="5189859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62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B2AC2-CC0B-82BF-9E74-15DE5D369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0F96C-FB1F-5268-92CD-2606AA285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Cloud-Native: The New Telecom DNA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01D4B-8C74-FEA0-E54A-5CE674851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1784"/>
            <a:ext cx="13716000" cy="6570616"/>
          </a:xfrm>
        </p:spPr>
        <p:txBody>
          <a:bodyPr>
            <a:normAutofit fontScale="40000" lnSpcReduction="20000"/>
          </a:bodyPr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rPr sz="5500" dirty="0"/>
              <a:t>Core Principles of Cloud-Native Telecom:</a:t>
            </a:r>
            <a:endParaRPr lang="en-US" sz="5500" dirty="0"/>
          </a:p>
          <a:p>
            <a:r>
              <a:rPr lang="en-US" sz="2000" dirty="0"/>
              <a:t> </a:t>
            </a:r>
            <a:br>
              <a:rPr lang="en-US" sz="5000" dirty="0"/>
            </a:br>
            <a:r>
              <a:rPr lang="en-US" sz="5000" dirty="0"/>
              <a:t>	 CI/CD Pipeline: Continuous Integration/Deployment</a:t>
            </a:r>
          </a:p>
          <a:p>
            <a:pPr lvl="1"/>
            <a:r>
              <a:rPr lang="en-US" sz="4500" dirty="0"/>
              <a:t>→ Deploy updates multiple times per day</a:t>
            </a:r>
          </a:p>
          <a:p>
            <a:br>
              <a:rPr lang="en-US" sz="5000" dirty="0"/>
            </a:br>
            <a:r>
              <a:rPr lang="en-US" sz="5000" dirty="0"/>
              <a:t>  Observable: Monitor everything, everywhere</a:t>
            </a:r>
          </a:p>
          <a:p>
            <a:pPr lvl="1"/>
            <a:r>
              <a:rPr lang="en-US" sz="4500" dirty="0"/>
              <a:t>   → AI-powered insights and predictions</a:t>
            </a:r>
          </a:p>
          <a:p>
            <a:br>
              <a:rPr lang="en-US" sz="3800" dirty="0"/>
            </a:br>
            <a:r>
              <a:rPr lang="en-US" sz="3800" dirty="0"/>
              <a:t>	 </a:t>
            </a:r>
            <a:r>
              <a:rPr lang="en-US" sz="4500" dirty="0"/>
              <a:t>API-First: Everything talks through APIs</a:t>
            </a:r>
          </a:p>
          <a:p>
            <a:pPr lvl="1"/>
            <a:r>
              <a:rPr lang="en-US" sz="4500" dirty="0">
                <a:solidFill>
                  <a:srgbClr val="0070C0"/>
                </a:solidFill>
              </a:rPr>
              <a:t>→ </a:t>
            </a:r>
            <a:r>
              <a:rPr lang="en-US" sz="4500" b="1" dirty="0">
                <a:solidFill>
                  <a:srgbClr val="0070C0"/>
                </a:solidFill>
              </a:rPr>
              <a:t>What is API-First?</a:t>
            </a:r>
          </a:p>
          <a:p>
            <a:pPr lvl="1"/>
            <a:r>
              <a:rPr lang="en-US" sz="4500" b="1" dirty="0"/>
              <a:t>"Design APIs as the Foundation, Not an Afterthought"</a:t>
            </a:r>
            <a:endParaRPr lang="en-US" sz="4500" dirty="0"/>
          </a:p>
          <a:p>
            <a:pPr lvl="1"/>
            <a:r>
              <a:rPr lang="en-US" sz="4500" dirty="0"/>
              <a:t>APIs become the </a:t>
            </a:r>
            <a:r>
              <a:rPr lang="en-US" sz="4500" b="1" dirty="0"/>
              <a:t>contract between services</a:t>
            </a:r>
            <a:endParaRPr lang="en-US" sz="4500" dirty="0"/>
          </a:p>
          <a:p>
            <a:pPr lvl="1"/>
            <a:r>
              <a:rPr lang="en-US" sz="4500" dirty="0"/>
              <a:t>Every component communicates through </a:t>
            </a:r>
            <a:r>
              <a:rPr lang="en-US" sz="4500" b="1" dirty="0"/>
              <a:t>standardized interfaces</a:t>
            </a:r>
            <a:endParaRPr lang="en-US" sz="4500" dirty="0"/>
          </a:p>
          <a:p>
            <a:pPr lvl="1"/>
            <a:r>
              <a:rPr lang="en-US" sz="4500" b="1" dirty="0"/>
              <a:t>❌ Traditional (API-Last)</a:t>
            </a:r>
            <a:r>
              <a:rPr lang="ar-EG" sz="4500" b="1" dirty="0"/>
              <a:t>									</a:t>
            </a:r>
            <a:r>
              <a:rPr lang="en-US" sz="4500" b="1" dirty="0"/>
              <a:t>✅ API-First Approach</a:t>
            </a:r>
          </a:p>
          <a:p>
            <a:pPr lvl="1"/>
            <a:r>
              <a:rPr lang="en-US" sz="4500" dirty="0"/>
              <a:t>[ Build Application ] → [ Add API ] → [ Hope It Works ]</a:t>
            </a:r>
            <a:r>
              <a:rPr lang="ar-EG" sz="4500" dirty="0"/>
              <a:t>     		</a:t>
            </a:r>
            <a:r>
              <a:rPr lang="en-US" sz="4500" dirty="0"/>
              <a:t>[ Design API Contract ] → [ Build Services ] → [ Seamless Integration ]</a:t>
            </a:r>
            <a:br>
              <a:rPr lang="en-US" sz="3400" dirty="0"/>
            </a:br>
            <a:endParaRPr lang="en-US" sz="3400" dirty="0"/>
          </a:p>
          <a:p>
            <a:pPr marL="0" indent="0">
              <a:buNone/>
            </a:pPr>
            <a:r>
              <a:rPr lang="en-US" sz="3800" b="1" dirty="0"/>
              <a:t>											</a:t>
            </a:r>
            <a:r>
              <a:rPr lang="en-US" sz="4500" b="1" u="sng" dirty="0"/>
              <a:t>How Everything Communicates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70C0"/>
                </a:solidFill>
              </a:rPr>
              <a:t>[ Web App ]     ────┐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70C0"/>
                </a:solidFill>
              </a:rPr>
              <a:t>                │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70C0"/>
                </a:solidFill>
              </a:rPr>
              <a:t>[ Mobile App ] ─── ┼   ─── [ API GATEWAY ] ─── [ Microservices ]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70C0"/>
                </a:solidFill>
              </a:rPr>
              <a:t>                │</a:t>
            </a:r>
          </a:p>
          <a:p>
            <a:pPr marL="0" indent="0">
              <a:buNone/>
            </a:pPr>
            <a:r>
              <a:rPr lang="en-US" sz="3800" dirty="0">
                <a:solidFill>
                  <a:srgbClr val="0070C0"/>
                </a:solidFill>
              </a:rPr>
              <a:t>[ Partner System ] ─┘</a:t>
            </a: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	</a:t>
            </a:r>
            <a:r>
              <a:rPr lang="en-US" sz="2100" b="1" dirty="0"/>
              <a:t>															</a:t>
            </a:r>
          </a:p>
          <a:p>
            <a:pPr marL="0" indent="0">
              <a:buNone/>
            </a:pPr>
            <a:r>
              <a:rPr lang="en-US" sz="2100" b="1" dirty="0"/>
              <a:t>						</a:t>
            </a:r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r>
              <a:rPr lang="en-US" sz="2100" b="1" dirty="0"/>
              <a:t>															</a:t>
            </a:r>
          </a:p>
          <a:p>
            <a:pPr marL="0" indent="0">
              <a:buNone/>
            </a:pPr>
            <a:br>
              <a:rPr sz="2100" dirty="0"/>
            </a:br>
            <a:endParaRPr sz="21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BFC280-E067-49B6-2009-CB4BB85E7830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A51FD-82BE-390C-89B7-26E75EB2732D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71D883-EC36-215B-D66E-4593129C36B4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44281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2288E-C95E-C802-D8F3-925703F69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0D55B-E5FC-08C1-4D47-E0198E79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Cloud-Native: The New Telecom DNA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B8ABC-96B5-4933-A1C9-0D77836B6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1784"/>
            <a:ext cx="13716000" cy="6570616"/>
          </a:xfrm>
        </p:spPr>
        <p:txBody>
          <a:bodyPr>
            <a:normAutofit fontScale="25000" lnSpcReduction="20000"/>
          </a:bodyPr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rPr sz="8800" dirty="0"/>
              <a:t>Core Principles of Cloud-Native Telecom:</a:t>
            </a:r>
            <a:endParaRPr lang="en-US" sz="8800" dirty="0"/>
          </a:p>
          <a:p>
            <a:r>
              <a:rPr lang="en-US" sz="8000" dirty="0"/>
              <a:t> </a:t>
            </a:r>
            <a:r>
              <a:rPr lang="en-US" sz="8000" b="1" dirty="0"/>
              <a:t>Standardized Communication</a:t>
            </a:r>
          </a:p>
          <a:p>
            <a:r>
              <a:rPr lang="en-US" sz="7200" b="1" dirty="0"/>
              <a:t>RESTful APIs</a:t>
            </a:r>
            <a:r>
              <a:rPr lang="en-US" sz="7200" dirty="0"/>
              <a:t> - HTTP/JSON for web services</a:t>
            </a:r>
            <a:endParaRPr lang="ar-EG" sz="7200" dirty="0"/>
          </a:p>
          <a:p>
            <a:pPr lvl="1"/>
            <a:r>
              <a:rPr lang="en-US" sz="7200" dirty="0"/>
              <a:t>HTTP-based (GET/POST/PUT/DELETE)</a:t>
            </a:r>
          </a:p>
          <a:p>
            <a:pPr lvl="1"/>
            <a:r>
              <a:rPr lang="en-US" sz="7200" dirty="0"/>
              <a:t>JSON/XML data format</a:t>
            </a:r>
          </a:p>
          <a:p>
            <a:pPr lvl="1"/>
            <a:r>
              <a:rPr lang="en-US" sz="7200" dirty="0"/>
              <a:t>Stateless - each request independent</a:t>
            </a:r>
          </a:p>
          <a:p>
            <a:pPr lvl="1"/>
            <a:r>
              <a:rPr lang="en-US" sz="7200" dirty="0"/>
              <a:t>Best for: CRUD operations</a:t>
            </a:r>
          </a:p>
          <a:p>
            <a:r>
              <a:rPr lang="en-US" sz="7200" b="1" dirty="0" err="1"/>
              <a:t>gRPC</a:t>
            </a:r>
            <a:r>
              <a:rPr lang="en-US" sz="7200" dirty="0"/>
              <a:t> - High-performance internal communication</a:t>
            </a:r>
          </a:p>
          <a:p>
            <a:pPr lvl="1"/>
            <a:r>
              <a:rPr lang="en-US" sz="7200" b="1" dirty="0" err="1"/>
              <a:t>gRPC</a:t>
            </a:r>
            <a:r>
              <a:rPr lang="en-US" sz="7200" b="1" dirty="0"/>
              <a:t> = Google Remote Procedure Call</a:t>
            </a:r>
          </a:p>
          <a:p>
            <a:pPr lvl="1"/>
            <a:r>
              <a:rPr lang="en-US" sz="7200" dirty="0" err="1"/>
              <a:t>gRPC</a:t>
            </a:r>
            <a:r>
              <a:rPr lang="en-US" sz="7200" dirty="0"/>
              <a:t> = Google's Way of Calling Functions on Remote Computers</a:t>
            </a:r>
          </a:p>
          <a:p>
            <a:pPr lvl="1"/>
            <a:r>
              <a:rPr lang="en-US" sz="7200" b="1" dirty="0"/>
              <a:t>result = </a:t>
            </a:r>
            <a:r>
              <a:rPr lang="en-US" sz="7200" b="1" dirty="0" err="1"/>
              <a:t>employee_service.calculate_salary</a:t>
            </a:r>
            <a:r>
              <a:rPr lang="en-US" sz="7200" b="1" dirty="0"/>
              <a:t>(</a:t>
            </a:r>
            <a:r>
              <a:rPr lang="en-US" sz="7200" b="1" dirty="0" err="1"/>
              <a:t>employee_id</a:t>
            </a:r>
            <a:r>
              <a:rPr lang="en-US" sz="7200" b="1" dirty="0"/>
              <a:t>)  # ⬅️ </a:t>
            </a:r>
            <a:r>
              <a:rPr lang="ar-EG" sz="7200" b="1" dirty="0"/>
              <a:t>الدالة شغالة على سيرفر تاني</a:t>
            </a:r>
            <a:endParaRPr lang="en-US" sz="7200" b="1" dirty="0"/>
          </a:p>
          <a:p>
            <a:pPr lvl="1"/>
            <a:r>
              <a:rPr lang="en-US" sz="7200" b="1" dirty="0"/>
              <a:t>HTTP/2</a:t>
            </a:r>
            <a:r>
              <a:rPr lang="en-US" sz="7200" dirty="0"/>
              <a:t> protocol</a:t>
            </a:r>
          </a:p>
          <a:p>
            <a:pPr lvl="1"/>
            <a:r>
              <a:rPr lang="en-US" sz="7200" b="1" dirty="0"/>
              <a:t>Bidirectional streaming</a:t>
            </a:r>
            <a:endParaRPr lang="en-US" sz="7200" dirty="0"/>
          </a:p>
          <a:p>
            <a:pPr lvl="1"/>
            <a:r>
              <a:rPr lang="en-US" sz="7200" b="1" dirty="0"/>
              <a:t>7-10x faster</a:t>
            </a:r>
            <a:r>
              <a:rPr lang="en-US" sz="7200" dirty="0"/>
              <a:t> than REST</a:t>
            </a:r>
          </a:p>
          <a:p>
            <a:pPr lvl="1"/>
            <a:r>
              <a:rPr lang="en-US" sz="7200" b="1" dirty="0"/>
              <a:t>Best for:</a:t>
            </a:r>
            <a:r>
              <a:rPr lang="en-US" sz="7200" dirty="0"/>
              <a:t> real-time apps</a:t>
            </a:r>
          </a:p>
          <a:p>
            <a:r>
              <a:rPr lang="en-US" sz="7200" b="1" dirty="0" err="1"/>
              <a:t>GraphQL</a:t>
            </a:r>
            <a:r>
              <a:rPr lang="en-US" sz="7200" dirty="0"/>
              <a:t> - Flexible client-driven queries</a:t>
            </a:r>
            <a:endParaRPr lang="ar-EG" sz="7200" dirty="0"/>
          </a:p>
          <a:p>
            <a:pPr lvl="1"/>
            <a:r>
              <a:rPr lang="en-US" sz="7200" b="1" dirty="0"/>
              <a:t>Client specifies</a:t>
            </a:r>
            <a:r>
              <a:rPr lang="en-US" sz="7200" dirty="0"/>
              <a:t> exact data needed</a:t>
            </a:r>
          </a:p>
          <a:p>
            <a:pPr lvl="1"/>
            <a:r>
              <a:rPr lang="en-US" sz="7200" b="1" dirty="0"/>
              <a:t>Strong typing</a:t>
            </a:r>
            <a:r>
              <a:rPr lang="en-US" sz="7200" dirty="0"/>
              <a:t> system</a:t>
            </a:r>
          </a:p>
          <a:p>
            <a:pPr lvl="1"/>
            <a:r>
              <a:rPr lang="en-US" sz="7200" b="1" dirty="0"/>
              <a:t>Best for:</a:t>
            </a:r>
            <a:r>
              <a:rPr lang="en-US" sz="7200" dirty="0"/>
              <a:t> Complex apps</a:t>
            </a:r>
          </a:p>
          <a:p>
            <a:r>
              <a:rPr lang="en-US" sz="7200" b="1" dirty="0"/>
              <a:t>WebSocket</a:t>
            </a:r>
            <a:r>
              <a:rPr lang="en-US" sz="7200" dirty="0"/>
              <a:t> - Real-time bidirectional communication</a:t>
            </a:r>
          </a:p>
          <a:p>
            <a:pPr lvl="1"/>
            <a:r>
              <a:rPr lang="en-US" sz="7200" b="1" dirty="0"/>
              <a:t>Persistent connection</a:t>
            </a:r>
            <a:endParaRPr lang="en-US" sz="7200" dirty="0"/>
          </a:p>
          <a:p>
            <a:pPr lvl="1"/>
            <a:r>
              <a:rPr lang="en-US" sz="7200" b="1" dirty="0"/>
              <a:t>Best for:</a:t>
            </a:r>
            <a:r>
              <a:rPr lang="en-US" sz="7200" dirty="0"/>
              <a:t> Live chats, real-time dashboards</a:t>
            </a:r>
          </a:p>
          <a:p>
            <a:br>
              <a:rPr lang="en-US" sz="2100" dirty="0"/>
            </a:br>
            <a:r>
              <a:rPr lang="en-US" sz="2100" dirty="0"/>
              <a:t>	</a:t>
            </a:r>
            <a:r>
              <a:rPr lang="en-US" sz="2100" b="1" dirty="0"/>
              <a:t>															</a:t>
            </a:r>
          </a:p>
          <a:p>
            <a:pPr marL="0" indent="0">
              <a:buNone/>
            </a:pPr>
            <a:r>
              <a:rPr lang="en-US" sz="2100" b="1" dirty="0"/>
              <a:t>						</a:t>
            </a:r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endParaRPr lang="en-US" sz="2100" b="1" dirty="0"/>
          </a:p>
          <a:p>
            <a:pPr marL="0" indent="0">
              <a:buNone/>
            </a:pPr>
            <a:r>
              <a:rPr lang="en-US" sz="2100" b="1" dirty="0"/>
              <a:t>															</a:t>
            </a:r>
          </a:p>
          <a:p>
            <a:pPr marL="0" indent="0">
              <a:buNone/>
            </a:pPr>
            <a:br>
              <a:rPr sz="2100" dirty="0"/>
            </a:br>
            <a:endParaRPr sz="21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A87D9D-2EDD-B13B-D467-0EE26F945329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3E12B-F815-B548-E94B-E481E16B8E2C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FE16F-99B8-15D5-F99D-A4C0446D8395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E82435-2EE8-FA04-6450-DF7CD7E09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489" y="1110344"/>
            <a:ext cx="4329796" cy="21946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23199C-09AF-58AD-16EB-4F5609DB6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775" y="4487092"/>
            <a:ext cx="4427225" cy="290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07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895806" cy="1143000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The Telecom Transformation Imperative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634" y="865732"/>
            <a:ext cx="13951131" cy="6172200"/>
          </a:xfrm>
        </p:spPr>
        <p:txBody>
          <a:bodyPr>
            <a:normAutofit fontScale="77500" lnSpcReduction="20000"/>
          </a:bodyPr>
          <a:lstStyle/>
          <a:p>
            <a:endParaRPr sz="2600" dirty="0"/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sz="2600" dirty="0"/>
              <a:t> Data Explosion: 1000x growth by 2030</a:t>
            </a:r>
          </a:p>
          <a:p>
            <a:pPr lvl="1"/>
            <a:r>
              <a:rPr sz="2300" dirty="0"/>
              <a:t>→ </a:t>
            </a:r>
            <a:r>
              <a:rPr lang="en-US" sz="2300" dirty="0"/>
              <a:t>4K/8K video streaming</a:t>
            </a:r>
          </a:p>
          <a:p>
            <a:pPr lvl="1"/>
            <a:r>
              <a:rPr lang="en-US" sz="2300" dirty="0"/>
              <a:t>VR/AR applications</a:t>
            </a:r>
          </a:p>
          <a:p>
            <a:pPr lvl="1"/>
            <a:r>
              <a:rPr lang="en-US" sz="2300" dirty="0"/>
              <a:t>50 billion IoT devices</a:t>
            </a:r>
          </a:p>
          <a:p>
            <a:pPr lvl="1"/>
            <a:r>
              <a:rPr lang="en-US" sz="2300" dirty="0"/>
              <a:t>Legacy systems can't handle this scale</a:t>
            </a:r>
          </a:p>
          <a:p>
            <a:pPr lvl="1"/>
            <a:r>
              <a:rPr lang="en-US" sz="2300" dirty="0">
                <a:solidFill>
                  <a:srgbClr val="0070C0"/>
                </a:solidFill>
              </a:rPr>
              <a:t>Cloud-native enables infinite scalability</a:t>
            </a:r>
            <a:endParaRPr sz="2300" dirty="0"/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sz="2900" dirty="0"/>
              <a:t> Competition: OTT players eating revenue</a:t>
            </a:r>
          </a:p>
          <a:p>
            <a:pPr lvl="1"/>
            <a:r>
              <a:rPr sz="2600" dirty="0"/>
              <a:t>→ </a:t>
            </a:r>
            <a:r>
              <a:rPr lang="en-US" sz="2600" dirty="0"/>
              <a:t>Over-the-Top players eating revenue</a:t>
            </a:r>
          </a:p>
          <a:p>
            <a:pPr lvl="1"/>
            <a:r>
              <a:rPr lang="en-US" sz="2600" dirty="0"/>
              <a:t>WhatsApp, Zoom, Netflix using your network for free</a:t>
            </a:r>
          </a:p>
          <a:p>
            <a:pPr lvl="1"/>
            <a:r>
              <a:rPr lang="en-US" sz="2600" dirty="0"/>
              <a:t>Stealing voice and messaging revenue</a:t>
            </a:r>
          </a:p>
          <a:p>
            <a:pPr lvl="1"/>
            <a:r>
              <a:rPr lang="en-US" sz="2600" dirty="0"/>
              <a:t>Must launch digital services faster to compete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sz="2900" dirty="0"/>
              <a:t> 5G Demands: Ultra-low latency, massive scale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sz="2600" dirty="0"/>
              <a:t>→ Impossible without cloud-native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rPr dirty="0"/>
              <a:t> </a:t>
            </a:r>
            <a:r>
              <a:rPr sz="2900" dirty="0"/>
              <a:t>Customer Expectations: Netflix-like experience</a:t>
            </a:r>
          </a:p>
          <a:p>
            <a:pPr lvl="1"/>
            <a:r>
              <a:rPr dirty="0"/>
              <a:t>→ </a:t>
            </a:r>
            <a:r>
              <a:rPr lang="en-US" sz="2600" dirty="0"/>
              <a:t>Netflix-like digital experience</a:t>
            </a:r>
          </a:p>
          <a:p>
            <a:pPr lvl="1"/>
            <a:r>
              <a:rPr lang="en-US" sz="2600" dirty="0"/>
              <a:t>Instant service activation</a:t>
            </a:r>
          </a:p>
          <a:p>
            <a:pPr lvl="1"/>
            <a:r>
              <a:rPr lang="en-US" sz="2600" dirty="0"/>
              <a:t>Self-service management</a:t>
            </a:r>
          </a:p>
          <a:p>
            <a:pPr lvl="1"/>
            <a:r>
              <a:rPr lang="en-US" sz="2600" dirty="0"/>
              <a:t>Seamless user experience</a:t>
            </a:r>
          </a:p>
          <a:p>
            <a:pPr lvl="1"/>
            <a:r>
              <a:rPr lang="en-US" sz="2600" dirty="0"/>
              <a:t>Traditional telcos too slow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32443-C4AA-EB6A-4268-60E24BFB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CAA0-F732-80F7-6964-AE143367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418320" cy="114300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rPr lang="ar-EG" dirty="0"/>
              <a:t> </a:t>
            </a:r>
            <a:endParaRPr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BFBE098-9718-8772-CDB9-FB45D466AA5E}"/>
              </a:ext>
            </a:extLst>
          </p:cNvPr>
          <p:cNvSpPr/>
          <p:nvPr/>
        </p:nvSpPr>
        <p:spPr>
          <a:xfrm>
            <a:off x="5486400" y="2429692"/>
            <a:ext cx="3657600" cy="18288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lang="en-US" sz="3200" dirty="0"/>
              <a:t>Activity </a:t>
            </a:r>
            <a:br>
              <a:rPr lang="en-US" sz="3200" dirty="0"/>
            </a:br>
            <a:r>
              <a:rPr lang="en-US" sz="3200" dirty="0"/>
              <a:t>Think and Try</a:t>
            </a:r>
            <a:endParaRPr sz="3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534DF0-0D50-46B4-1CC1-D18F041982AE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AC48F6-BD36-F1D1-6207-FBB4A243356F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70FF59-15FA-6E71-8B49-AA50EFFB019C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6381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EE0C3-9223-4949-E357-5BA0A448B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473CB-AECB-F9F5-3BE5-E693BF2C0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107577" cy="1143000"/>
          </a:xfrm>
        </p:spPr>
        <p:txBody>
          <a:bodyPr>
            <a:normAutofit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lang="en-US" sz="3000" dirty="0"/>
              <a:t> </a:t>
            </a:r>
            <a:endParaRPr sz="30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1601E2-0D2F-34D4-4891-D10BE6BA2217}"/>
              </a:ext>
            </a:extLst>
          </p:cNvPr>
          <p:cNvSpPr/>
          <p:nvPr/>
        </p:nvSpPr>
        <p:spPr>
          <a:xfrm>
            <a:off x="4007031" y="940524"/>
            <a:ext cx="6616337" cy="5969727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التحدي الاول: "أزمة الزحمة المفاجئة"</a:t>
            </a:r>
          </a:p>
          <a:p>
            <a:pPr algn="ctr"/>
            <a:r>
              <a:rPr lang="ar-EG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السيناريو:</a:t>
            </a:r>
          </a:p>
          <a:p>
            <a:pPr algn="ctr"/>
            <a:r>
              <a:rPr lang="ar-EG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خلال مباراة كأس العالم، انهارت شبكتك بسبب الزحمة:</a:t>
            </a:r>
          </a:p>
          <a:p>
            <a:pPr algn="ctr"/>
            <a:r>
              <a:rPr lang="ar-EG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٥٠٠٠٠ مستخدم في منطقة واحدة</a:t>
            </a:r>
          </a:p>
          <a:p>
            <a:pPr algn="ctr"/>
            <a:r>
              <a:rPr lang="ar-EG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خدمة الإنترنت انقطعت بالكامل</a:t>
            </a:r>
          </a:p>
          <a:p>
            <a:pPr algn="ctr"/>
            <a:r>
              <a:rPr lang="ar-EG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العملاء غاضبون</a:t>
            </a:r>
          </a:p>
          <a:p>
            <a:pPr algn="ctr"/>
            <a:r>
              <a:rPr lang="ar-EG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المطلوب منك:</a:t>
            </a:r>
          </a:p>
          <a:p>
            <a:pPr algn="ctr"/>
            <a:r>
              <a:rPr lang="ar-EG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كيف ستتعامل مع الأزمة فوراً؟</a:t>
            </a:r>
          </a:p>
          <a:p>
            <a:pPr algn="ctr"/>
            <a:r>
              <a:rPr lang="ar-EG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ما الحلول طويلة المدى لمنع تكرارها؟</a:t>
            </a:r>
          </a:p>
          <a:p>
            <a:pPr algn="ctr"/>
            <a:r>
              <a:rPr lang="ar-EG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كيف ستستخدم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Cloud Native </a:t>
            </a:r>
            <a:r>
              <a:rPr lang="ar-EG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لحل المشكلة؟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927802-39CA-ACFE-3FCE-A6D1CACDF494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FBCB6-FAFB-D25E-928F-D9DD65DE4058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D8B050-A59C-5ED7-F580-FBA92E8D05FE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55925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293531" cy="1143000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Orchestration: The Brain of Modern Telecom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10972800" cy="9144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Business Layer: Intent-Based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0" y="20116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7F7F"/>
                </a:solidFill>
              </a:defRPr>
            </a:pPr>
            <a:r>
              <a:t>What you want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017520"/>
            <a:ext cx="10972800" cy="914400"/>
          </a:xfrm>
          <a:prstGeom prst="round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Orchestration Layer: MANO / Service 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0" y="32004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7F7F"/>
                </a:solidFill>
              </a:defRPr>
            </a:pPr>
            <a:r>
              <a:t>How to achieve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206240"/>
            <a:ext cx="10972800" cy="914400"/>
          </a:xfrm>
          <a:prstGeom prst="roundRect">
            <a:avLst/>
          </a:prstGeom>
          <a:solidFill>
            <a:srgbClr val="009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Control Layer: SDN Controllers / VIM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0" y="43891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7F7F"/>
                </a:solidFill>
              </a:defRPr>
            </a:pPr>
            <a:r>
              <a:t>Network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394960"/>
            <a:ext cx="10972800" cy="9144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Infrastructure: Cloud / Edge / 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0" y="557784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7F7F"/>
                </a:solidFill>
              </a:defRPr>
            </a:pPr>
            <a:r>
              <a:t>Physical resources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97700-30A3-EC8B-9605-68835530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A35A-41CD-66E8-F8ED-EE293A1FC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0293531" cy="1143000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Orchestration: The Brain of Modern Telecom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CB42D5-F609-C322-CCC1-91BB0BBF44A5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52D2C-CFBB-D785-BF7B-FD470A243AFA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161607-3219-4F7A-5DEF-E9418A3014F3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65F2CC-B888-501B-FF6F-A5692F2EE684}"/>
              </a:ext>
            </a:extLst>
          </p:cNvPr>
          <p:cNvSpPr txBox="1"/>
          <p:nvPr/>
        </p:nvSpPr>
        <p:spPr>
          <a:xfrm>
            <a:off x="627017" y="1254034"/>
            <a:ext cx="1319348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Business Layer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i="1" dirty="0"/>
              <a:t>Intent-Based Networking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b="1" dirty="0"/>
              <a:t>"</a:t>
            </a:r>
            <a:r>
              <a:rPr lang="en-US" b="1" dirty="0">
                <a:solidFill>
                  <a:srgbClr val="F15A24"/>
                </a:solidFill>
              </a:rPr>
              <a:t>What</a:t>
            </a:r>
            <a:r>
              <a:rPr lang="en-US" b="1" dirty="0"/>
              <a:t>"</a:t>
            </a:r>
            <a:r>
              <a:rPr lang="en-US" dirty="0"/>
              <a:t> not "How"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Business objectives → Technical commands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Example: "Improve gaming service quality by 30%"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Orchestration Layer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i="1" dirty="0"/>
              <a:t>MANO / Service Orchestrator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70C0"/>
                </a:solidFill>
              </a:rPr>
              <a:t>The Strategic Planner</a:t>
            </a:r>
            <a:endParaRPr lang="en-US" dirty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Translates business intent into technical workflows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Manages complete service lifecycle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Control Layer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i="1" dirty="0"/>
              <a:t>SDN Controllers / VIM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70C0"/>
                </a:solidFill>
              </a:rPr>
              <a:t>The Tactical Commander</a:t>
            </a:r>
            <a:endParaRPr lang="en-US" dirty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Real-time network control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Resource allocation and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 </a:t>
            </a:r>
            <a:r>
              <a:rPr lang="en-US" sz="2000" b="1" dirty="0"/>
              <a:t>Infrastructure Layer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i="1" dirty="0"/>
              <a:t>Cloud / Edge / RAN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Physical and virtual resources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Where the actual work happens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322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3805-AAA4-BAE3-6C3A-E45E30F0A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AA3D2-262F-7790-DAF8-6052A0A7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0293531" cy="1143000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Orchestration: The Brain of Modern Telecom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3A7691-A7D1-A4C5-5BDE-7C2128AB2784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B33144-D10E-A460-DCD8-D0F275F4EB09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443D29-0012-4438-9CF7-310087C4C9C1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4F86F-13FC-E3F5-F19F-E864A83288D3}"/>
              </a:ext>
            </a:extLst>
          </p:cNvPr>
          <p:cNvSpPr txBox="1"/>
          <p:nvPr/>
        </p:nvSpPr>
        <p:spPr>
          <a:xfrm>
            <a:off x="627017" y="1254034"/>
            <a:ext cx="13193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How It Works: The 5G Gaming Example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F4950-D50A-D180-F566-ECF3940DD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984" y="1860961"/>
            <a:ext cx="8630854" cy="2734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DC52F9-8B11-4FF6-D037-83319DA43423}"/>
              </a:ext>
            </a:extLst>
          </p:cNvPr>
          <p:cNvSpPr txBox="1"/>
          <p:nvPr/>
        </p:nvSpPr>
        <p:spPr>
          <a:xfrm>
            <a:off x="627016" y="5038341"/>
            <a:ext cx="12357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Orchestration transforms telecom networks from static infrastructure into dynamic, intelligent business platforms that can adapt, scale, and innovate at digital speed.</a:t>
            </a:r>
            <a:endParaRPr lang="en-US" dirty="0"/>
          </a:p>
          <a:p>
            <a:r>
              <a:rPr lang="en-US" i="1" dirty="0"/>
              <a:t>"From manual operations to autonomous business engines"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45167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MANO: Management &amp; Orchestration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45720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15A24"/>
                </a:solidFill>
              </a:defRPr>
            </a:pPr>
            <a:r>
              <a:rPr dirty="0"/>
              <a:t>NFVO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rPr dirty="0"/>
              <a:t>NFV Orchestrator</a:t>
            </a:r>
          </a:p>
          <a:p>
            <a:pPr algn="ctr">
              <a:defRPr sz="1400" i="1">
                <a:solidFill>
                  <a:srgbClr val="7F7F7F"/>
                </a:solidFill>
              </a:defRPr>
            </a:pPr>
            <a:r>
              <a:rPr dirty="0"/>
              <a:t>Orchestrates network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828800"/>
            <a:ext cx="45720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9FDF"/>
                </a:solidFill>
              </a:defRPr>
            </a:pPr>
            <a:r>
              <a:rPr dirty="0"/>
              <a:t>VNFM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rPr dirty="0"/>
              <a:t>VNF Manager</a:t>
            </a:r>
          </a:p>
          <a:p>
            <a:pPr algn="ctr">
              <a:defRPr sz="1400" i="1">
                <a:solidFill>
                  <a:srgbClr val="7F7F7F"/>
                </a:solidFill>
              </a:defRPr>
            </a:pPr>
            <a:r>
              <a:rPr dirty="0"/>
              <a:t>Manages virtual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657600"/>
            <a:ext cx="45720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B050"/>
                </a:solidFill>
              </a:defRPr>
            </a:pPr>
            <a:r>
              <a:rPr dirty="0"/>
              <a:t>VIM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rPr dirty="0"/>
              <a:t>Virtual Infrastructure Manager</a:t>
            </a:r>
          </a:p>
          <a:p>
            <a:pPr algn="ctr">
              <a:defRPr sz="1400" i="1">
                <a:solidFill>
                  <a:srgbClr val="7F7F7F"/>
                </a:solidFill>
              </a:defRPr>
            </a:pPr>
            <a:r>
              <a:rPr dirty="0"/>
              <a:t>Controls compute/storage/network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CC490-1E37-08D6-D693-39F51364B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92AC-A41C-511C-21FC-31AB634F0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MANO: Management &amp; Orchestration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13D184-05F2-D5A3-7767-833F57AE6EE6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108ED-E4D7-5E6D-B4C8-30112759FE69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918342-E483-64BD-051E-77E6810DFCFD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81BC7-98D7-FE04-840E-58D291392410}"/>
              </a:ext>
            </a:extLst>
          </p:cNvPr>
          <p:cNvSpPr txBox="1"/>
          <p:nvPr/>
        </p:nvSpPr>
        <p:spPr>
          <a:xfrm>
            <a:off x="457200" y="1417638"/>
            <a:ext cx="13716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How They Work Together</a:t>
            </a:r>
          </a:p>
          <a:p>
            <a:pPr algn="ctr"/>
            <a:r>
              <a:rPr lang="en-US" sz="2000" b="1" dirty="0"/>
              <a:t>Customer Orders "</a:t>
            </a:r>
            <a:r>
              <a:rPr lang="en-US" sz="2000" b="1" dirty="0">
                <a:solidFill>
                  <a:srgbClr val="0070C0"/>
                </a:solidFill>
              </a:rPr>
              <a:t>5G Premium Service</a:t>
            </a:r>
            <a:r>
              <a:rPr lang="en-US" sz="2000" b="1" dirty="0"/>
              <a:t>"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NFVO: "I need security + routing + optimization"</a:t>
            </a:r>
          </a:p>
          <a:p>
            <a:pPr algn="ctr"/>
            <a:r>
              <a:rPr lang="en-US" sz="2000" dirty="0"/>
              <a:t>    ↓</a:t>
            </a:r>
          </a:p>
          <a:p>
            <a:pPr algn="ctr"/>
            <a:r>
              <a:rPr lang="en-US" sz="2000" dirty="0"/>
              <a:t>VNFM: "I'll manage firewall, router, optimizer"  </a:t>
            </a:r>
          </a:p>
          <a:p>
            <a:pPr algn="ctr"/>
            <a:r>
              <a:rPr lang="en-US" sz="2000" dirty="0"/>
              <a:t>    ↓</a:t>
            </a:r>
          </a:p>
          <a:p>
            <a:pPr algn="ctr"/>
            <a:r>
              <a:rPr lang="en-US" sz="2000" dirty="0"/>
              <a:t>VIM: "I'll provide servers and bandwidth"</a:t>
            </a:r>
          </a:p>
          <a:p>
            <a:pPr algn="ctr"/>
            <a:r>
              <a:rPr lang="en-US" sz="2000" dirty="0"/>
              <a:t>    ↓</a:t>
            </a:r>
          </a:p>
          <a:p>
            <a:pPr algn="ctr"/>
            <a:r>
              <a:rPr lang="en-US" sz="2000" dirty="0"/>
              <a:t>Service delivered seamlessly!</a:t>
            </a:r>
          </a:p>
        </p:txBody>
      </p:sp>
    </p:spTree>
    <p:extLst>
      <p:ext uri="{BB962C8B-B14F-4D97-AF65-F5344CB8AC3E}">
        <p14:creationId xmlns:p14="http://schemas.microsoft.com/office/powerpoint/2010/main" val="464548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Zero-Touch: Automation </a:t>
            </a:r>
            <a:r>
              <a:rPr lang="en-US" dirty="0"/>
              <a:t>Levels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rPr dirty="0"/>
              <a:t>From Manual to Magical:</a:t>
            </a:r>
          </a:p>
          <a:p>
            <a:pPr>
              <a:defRPr sz="1900" b="1">
                <a:solidFill>
                  <a:srgbClr val="0070C0"/>
                </a:solidFill>
              </a:defRPr>
            </a:pPr>
            <a:r>
              <a:rPr dirty="0"/>
              <a:t>Level 0: Manual 🔨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Everything done by humans → Weeks to provision service</a:t>
            </a:r>
          </a:p>
          <a:p>
            <a:pPr>
              <a:defRPr sz="1900" b="1">
                <a:solidFill>
                  <a:srgbClr val="0070C0"/>
                </a:solidFill>
              </a:defRPr>
            </a:pPr>
            <a:r>
              <a:rPr dirty="0"/>
              <a:t>Level 1: Assisted 🤝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Tools help humans → Days to provision</a:t>
            </a:r>
          </a:p>
          <a:p>
            <a:pPr>
              <a:defRPr sz="1900" b="1">
                <a:solidFill>
                  <a:srgbClr val="0070C0"/>
                </a:solidFill>
              </a:defRPr>
            </a:pPr>
            <a:r>
              <a:rPr dirty="0"/>
              <a:t>Level 2: Partial Automation 🔄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Some tasks automated → Hours to provision</a:t>
            </a:r>
          </a:p>
          <a:p>
            <a:pPr>
              <a:defRPr sz="1900" b="1">
                <a:solidFill>
                  <a:srgbClr val="0070C0"/>
                </a:solidFill>
              </a:defRPr>
            </a:pPr>
            <a:r>
              <a:rPr dirty="0"/>
              <a:t>Level 3: Conditional Automation 🤖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Automated with human oversight → Minutes to provision</a:t>
            </a:r>
          </a:p>
          <a:p>
            <a:pPr>
              <a:defRPr sz="1900" b="1">
                <a:solidFill>
                  <a:srgbClr val="0070C0"/>
                </a:solidFill>
              </a:defRPr>
            </a:pPr>
            <a:r>
              <a:rPr dirty="0"/>
              <a:t>Level 4: High Automation 🚀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Fully automated operations → Seconds to provision</a:t>
            </a:r>
          </a:p>
          <a:p>
            <a:pPr>
              <a:defRPr sz="1900" b="1">
                <a:solidFill>
                  <a:srgbClr val="00B050"/>
                </a:solidFill>
              </a:defRPr>
            </a:pPr>
            <a:r>
              <a:rPr dirty="0"/>
              <a:t>Level 5: Zero-Touch 🎯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rPr dirty="0"/>
              <a:t>• Self-driving networks → Instant, predictive provisioning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D1C431-C1C7-37F3-E353-29D20E4D39EE}"/>
              </a:ext>
            </a:extLst>
          </p:cNvPr>
          <p:cNvSpPr txBox="1"/>
          <p:nvPr/>
        </p:nvSpPr>
        <p:spPr>
          <a:xfrm>
            <a:off x="10280469" y="1293223"/>
            <a:ext cx="34355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15A24"/>
                </a:solidFill>
              </a:rPr>
              <a:t> </a:t>
            </a:r>
            <a:endParaRPr lang="ar-EG" sz="2000" b="1" dirty="0">
              <a:solidFill>
                <a:srgbClr val="F15A24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34540-A4BF-56C9-0987-2FE1F3C9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DBAEF-5F84-1760-8698-4FE05019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Zero-Touch: Automation </a:t>
            </a:r>
            <a:r>
              <a:rPr lang="en-US" dirty="0"/>
              <a:t>Levels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A27C4-139B-5591-FE17-8D79D5B3A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1851818"/>
            <a:ext cx="8229600" cy="5920582"/>
          </a:xfrm>
        </p:spPr>
        <p:txBody>
          <a:bodyPr>
            <a:normAutofit lnSpcReduction="10000"/>
          </a:bodyPr>
          <a:lstStyle/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المستوى 0: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Manual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العميل يروح الفرع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يوقع على أوراق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موظف يدخل البيانات يدوي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المهندس يروح للعميل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يضبط الراوتر يدوي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يختبر الخدمة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يطلع فاتورة يدوي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المستوى 1: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Assisted</a:t>
            </a:r>
            <a:endParaRPr lang="ar-EG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العميل يطلب أونلاين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النظام يساعده يملأ البيانات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بيظهر له الأخطاء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بيقترح أفضل باقة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لكن لسه محتاج تدخل بشري للتأكيد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المستوى 2: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Partial Automation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العميل يطلب من التطبيق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النظام بيتعرف على العنوان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بيجهز الإعدادات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بيطلب من المهندس يضغط "موافق" ↓</a:t>
            </a:r>
          </a:p>
          <a:p>
            <a:pPr marL="457200" lvl="1" indent="0" algn="ctr">
              <a:buNone/>
              <a:defRPr sz="2600" b="1">
                <a:solidFill>
                  <a:srgbClr val="F15A24"/>
                </a:solidFill>
              </a:defRPr>
            </a:pPr>
            <a:r>
              <a:rPr lang="ar-EG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بيبدأ التوصيل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40543-6BF0-FBC6-63DA-B36483648117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E43FDA-8B58-8BBF-CAD4-106A6640088C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7096AE-1758-1CCF-29A4-DE2EE2D639C5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10D10C-C5DB-9790-B557-5EBB00F4E5F9}"/>
              </a:ext>
            </a:extLst>
          </p:cNvPr>
          <p:cNvSpPr txBox="1"/>
          <p:nvPr/>
        </p:nvSpPr>
        <p:spPr>
          <a:xfrm>
            <a:off x="5185955" y="1246257"/>
            <a:ext cx="4323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000" b="1" dirty="0">
                <a:solidFill>
                  <a:srgbClr val="F15A24"/>
                </a:solidFill>
              </a:rPr>
              <a:t>مثال عملي: توصيل خدمة إنترنت جديد لعميل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617E2-FB17-42C3-2EFF-CCFA85073D31}"/>
              </a:ext>
            </a:extLst>
          </p:cNvPr>
          <p:cNvSpPr txBox="1"/>
          <p:nvPr/>
        </p:nvSpPr>
        <p:spPr>
          <a:xfrm>
            <a:off x="143691" y="1941498"/>
            <a:ext cx="764177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b="1" dirty="0"/>
              <a:t> المستوى 3: </a:t>
            </a:r>
            <a:r>
              <a:rPr lang="en-US" b="1" dirty="0"/>
              <a:t>Conditional Automation</a:t>
            </a:r>
            <a:endParaRPr lang="ar-EG" b="1" dirty="0"/>
          </a:p>
          <a:p>
            <a:pPr algn="ctr"/>
            <a:r>
              <a:rPr lang="ar-EG" sz="1600" b="1" dirty="0"/>
              <a:t>العميل يطلب الخدمة ↓</a:t>
            </a:r>
          </a:p>
          <a:p>
            <a:pPr algn="ctr"/>
            <a:r>
              <a:rPr lang="ar-EG" sz="1600" b="1" dirty="0"/>
              <a:t>النظام بيجهز كل حاجة ↓</a:t>
            </a:r>
          </a:p>
          <a:p>
            <a:pPr algn="ctr"/>
            <a:r>
              <a:rPr lang="ar-EG" sz="1600" b="1" dirty="0"/>
              <a:t>بيتفعل الخدمة ↓</a:t>
            </a:r>
          </a:p>
          <a:p>
            <a:pPr algn="ctr"/>
            <a:r>
              <a:rPr lang="ar-EG" sz="1600" b="1" dirty="0"/>
              <a:t>المهندس بيشرف من بعيد ↓</a:t>
            </a:r>
          </a:p>
          <a:p>
            <a:pPr algn="ctr"/>
            <a:r>
              <a:rPr lang="ar-EG" sz="1600" b="1" dirty="0"/>
              <a:t>مش بيحتاج يتدخل إلا لو في مشكلة</a:t>
            </a:r>
            <a:endParaRPr lang="en-US" sz="1600" b="1" dirty="0"/>
          </a:p>
          <a:p>
            <a:pPr algn="ctr"/>
            <a:r>
              <a:rPr lang="ar-EG" b="1" dirty="0"/>
              <a:t> المستوى 4: </a:t>
            </a:r>
            <a:r>
              <a:rPr lang="en-US" b="1" dirty="0"/>
              <a:t>High Automation </a:t>
            </a:r>
            <a:endParaRPr lang="ar-EG" sz="1600" b="1" dirty="0"/>
          </a:p>
          <a:p>
            <a:pPr algn="ctr"/>
            <a:r>
              <a:rPr lang="ar-EG" sz="1600" b="1" dirty="0"/>
              <a:t>العميل يطلب الخدمة ↓</a:t>
            </a:r>
          </a:p>
          <a:p>
            <a:pPr algn="ctr"/>
            <a:r>
              <a:rPr lang="ar-EG" sz="1600" b="1" dirty="0"/>
              <a:t>النظام بيتكلم مع كل الأجهزة ↓</a:t>
            </a:r>
          </a:p>
          <a:p>
            <a:pPr algn="ctr"/>
            <a:r>
              <a:rPr lang="ar-EG" sz="1600" b="1" dirty="0"/>
              <a:t>بيجهز الخدمة ↓</a:t>
            </a:r>
          </a:p>
          <a:p>
            <a:pPr algn="ctr"/>
            <a:r>
              <a:rPr lang="ar-EG" sz="1600" b="1" dirty="0"/>
              <a:t>بيتفعلها ↓</a:t>
            </a:r>
          </a:p>
          <a:p>
            <a:pPr algn="ctr"/>
            <a:r>
              <a:rPr lang="ar-EG" sz="1600" b="1" dirty="0"/>
              <a:t>مفيش تدخل بشري خالص</a:t>
            </a:r>
            <a:endParaRPr lang="en-US" sz="1600" b="1" dirty="0"/>
          </a:p>
          <a:p>
            <a:pPr algn="ctr"/>
            <a:r>
              <a:rPr lang="ar-EG" b="1" dirty="0"/>
              <a:t>المستوى 5: </a:t>
            </a:r>
            <a:r>
              <a:rPr lang="en-US" b="1" dirty="0"/>
              <a:t>Zero-Touch</a:t>
            </a:r>
            <a:endParaRPr lang="ar-EG" b="1" dirty="0"/>
          </a:p>
          <a:p>
            <a:pPr algn="ctr"/>
            <a:r>
              <a:rPr lang="ar-EG" sz="1600" b="1" dirty="0"/>
              <a:t>النظام بيحلل بيانات العميل ↓</a:t>
            </a:r>
          </a:p>
          <a:p>
            <a:pPr algn="ctr"/>
            <a:r>
              <a:rPr lang="ar-EG" sz="1600" b="1" dirty="0"/>
              <a:t>بيتوقع إنه هيطلب الخدمة ↓</a:t>
            </a:r>
          </a:p>
          <a:p>
            <a:pPr algn="ctr"/>
            <a:r>
              <a:rPr lang="ar-EG" sz="1600" b="1" dirty="0"/>
              <a:t>بيجهزها </a:t>
            </a:r>
            <a:r>
              <a:rPr lang="en-US" sz="1600" b="1" dirty="0"/>
              <a:t>beforehand ↓</a:t>
            </a:r>
          </a:p>
          <a:p>
            <a:pPr algn="ctr"/>
            <a:r>
              <a:rPr lang="ar-EG" sz="1600" b="1" dirty="0"/>
              <a:t>العميل مايلاقيش إلا "</a:t>
            </a:r>
            <a:r>
              <a:rPr lang="en-US" sz="1600" b="1" dirty="0"/>
              <a:t>Activate" ↓</a:t>
            </a:r>
          </a:p>
          <a:p>
            <a:pPr algn="ctr"/>
            <a:r>
              <a:rPr lang="ar-EG" sz="1600" b="1" dirty="0"/>
              <a:t>الخدمة شغالة على طول!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21836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418320" cy="1143000"/>
          </a:xfrm>
        </p:spPr>
        <p:txBody>
          <a:bodyPr>
            <a:normAutofit fontScale="90000"/>
          </a:bodyPr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rPr dirty="0"/>
              <a:t>Intent-Based Networking: Say What You Want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18288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Business Intent</a:t>
            </a:r>
          </a:p>
          <a:p>
            <a:pPr algn="ctr">
              <a:defRPr sz="1600" i="1">
                <a:solidFill>
                  <a:srgbClr val="FFFFFF"/>
                </a:solidFill>
              </a:defRPr>
            </a:pPr>
            <a:r>
              <a:t>"I need 99.99% uptime</a:t>
            </a:r>
            <a:br/>
            <a:r>
              <a:t>for video service"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754880" y="2560320"/>
            <a:ext cx="1371600" cy="36576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3657600" cy="1828800"/>
          </a:xfrm>
          <a:prstGeom prst="roundRect">
            <a:avLst/>
          </a:prstGeom>
          <a:solidFill>
            <a:srgbClr val="009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AI Translation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Bandwidth: 10Gbps</a:t>
            </a:r>
            <a:br/>
            <a:r>
              <a:t>Latency: &lt;20ms</a:t>
            </a:r>
            <a:br/>
            <a:r>
              <a:t>Redundancy: Active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0241280" y="2560320"/>
            <a:ext cx="1371600" cy="36576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887200" y="1828800"/>
            <a:ext cx="2286000" cy="18288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Automated</a:t>
            </a:r>
          </a:p>
          <a:p>
            <a:r>
              <a:t>Execution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✓ Done!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57200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5A24"/>
                </a:solidFill>
              </a:defRPr>
            </a:pPr>
            <a:r>
              <a:t>More Intent Examples: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"Reduce latency for gaming traffic by 50%" | "Block all suspicious traffic from region X" | "Optimize network for IoT devices in smart city"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DEC5C-E5B3-477C-C04D-40D699936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8AF6D-7471-9313-B9BB-3A21044C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41832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Three Pillars of Intelligent Networks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18A0DB5-84B3-A774-C0CB-AA4AA98E518E}"/>
              </a:ext>
            </a:extLst>
          </p:cNvPr>
          <p:cNvSpPr/>
          <p:nvPr/>
        </p:nvSpPr>
        <p:spPr>
          <a:xfrm>
            <a:off x="287382" y="1851819"/>
            <a:ext cx="4284618" cy="18288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[Intent-Based]</a:t>
            </a:r>
          </a:p>
          <a:p>
            <a:pPr algn="ctr" latinLnBrk="1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"</a:t>
            </a:r>
            <a:r>
              <a:rPr lang="ar-EG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عايزين خدمة بث حي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latency </a:t>
            </a:r>
            <a:r>
              <a:rPr lang="ar-EG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منخفض جداً"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B60B20F7-F261-593F-94AB-585E74710EB9}"/>
              </a:ext>
            </a:extLst>
          </p:cNvPr>
          <p:cNvSpPr/>
          <p:nvPr/>
        </p:nvSpPr>
        <p:spPr>
          <a:xfrm>
            <a:off x="4754880" y="2560320"/>
            <a:ext cx="1143002" cy="36576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BF22E1-89A2-8A6B-574C-603C21E72D3D}"/>
              </a:ext>
            </a:extLst>
          </p:cNvPr>
          <p:cNvSpPr/>
          <p:nvPr/>
        </p:nvSpPr>
        <p:spPr>
          <a:xfrm>
            <a:off x="5897882" y="1828800"/>
            <a:ext cx="5212080" cy="1828800"/>
          </a:xfrm>
          <a:prstGeom prst="roundRect">
            <a:avLst/>
          </a:prstGeom>
          <a:solidFill>
            <a:srgbClr val="009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[MANO]</a:t>
            </a:r>
          </a:p>
          <a:p>
            <a:pPr algn="ctr" latinLnBrk="1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"</a:t>
            </a:r>
            <a:r>
              <a:rPr lang="ar-EG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هنسخدم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edge computing + CDN + </a:t>
            </a:r>
            <a:r>
              <a:rPr lang="ar-EG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محتاج 3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VNFs"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C55224D7-1310-FED1-98C7-85CA7FA85940}"/>
              </a:ext>
            </a:extLst>
          </p:cNvPr>
          <p:cNvSpPr/>
          <p:nvPr/>
        </p:nvSpPr>
        <p:spPr>
          <a:xfrm rot="2576917">
            <a:off x="10770327" y="3879436"/>
            <a:ext cx="1371600" cy="36576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7EF329-003C-82AE-E041-C2D3CF46B385}"/>
              </a:ext>
            </a:extLst>
          </p:cNvPr>
          <p:cNvSpPr/>
          <p:nvPr/>
        </p:nvSpPr>
        <p:spPr>
          <a:xfrm>
            <a:off x="8503920" y="4983480"/>
            <a:ext cx="5440680" cy="18288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[Zero-Touch] </a:t>
            </a:r>
          </a:p>
          <a:p>
            <a:pPr algn="ctr" latinLnBrk="1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"</a:t>
            </a:r>
            <a:r>
              <a:rPr lang="ar-EG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تم التنفيذ في 45 ثانية - الخدمة شغالة!"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666D09-68FB-D819-C25A-1670B86E8A58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D89BA9-C9E3-14A8-B219-2F8DA575A29A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CAFC9-0401-E72F-6D6E-7074AB9252B7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50789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3716000" cy="1143000"/>
          </a:xfrm>
        </p:spPr>
        <p:txBody>
          <a:bodyPr>
            <a:normAutofit/>
          </a:bodyPr>
          <a:lstStyle/>
          <a:p>
            <a:pPr algn="l">
              <a:defRPr sz="4400" b="1">
                <a:solidFill>
                  <a:srgbClr val="0070C0"/>
                </a:solidFill>
              </a:defRPr>
            </a:pPr>
            <a:r>
              <a:rPr dirty="0"/>
              <a:t>Open RAN</a:t>
            </a:r>
            <a:r>
              <a:rPr lang="en-US" dirty="0"/>
              <a:t> (</a:t>
            </a:r>
            <a:r>
              <a:rPr lang="en-US" b="1" dirty="0"/>
              <a:t>Radio Access Network 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364686" cy="5545183"/>
          </a:xfrm>
        </p:spPr>
        <p:txBody>
          <a:bodyPr>
            <a:normAutofit fontScale="92500" lnSpcReduction="20000"/>
          </a:bodyPr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rPr lang="en-US" sz="2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critical infrastructure that connects your mobile devices to the core network</a:t>
            </a:r>
            <a:endParaRPr lang="ar-E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600" b="1">
                <a:solidFill>
                  <a:srgbClr val="F15A24"/>
                </a:solidFill>
              </a:defRPr>
            </a:pPr>
            <a:endParaRPr lang="ar-EG" dirty="0"/>
          </a:p>
          <a:p>
            <a:pPr>
              <a:defRPr sz="2600" b="1">
                <a:solidFill>
                  <a:srgbClr val="F15A24"/>
                </a:solidFill>
              </a:defRPr>
            </a:pPr>
            <a:r>
              <a:rPr dirty="0"/>
              <a:t>Traditional RAN vs Open RAN:</a:t>
            </a:r>
          </a:p>
          <a:p>
            <a:br>
              <a:rPr dirty="0"/>
            </a:br>
            <a:r>
              <a:rPr dirty="0"/>
              <a:t>🔒 Traditional RAN: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  • Single vendor lock-in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  • Proprietary interfaces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  • Slow innovation</a:t>
            </a:r>
          </a:p>
          <a:p>
            <a:br>
              <a:rPr dirty="0"/>
            </a:br>
            <a:r>
              <a:rPr dirty="0"/>
              <a:t>🔓 Open RAN: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  • Multi-vendor ecosystem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  • Open interfaces (O-RAN Alliance)</a:t>
            </a:r>
          </a:p>
          <a:p>
            <a:pPr lvl="1">
              <a:defRPr sz="1700">
                <a:solidFill>
                  <a:srgbClr val="2C2C2C"/>
                </a:solidFill>
              </a:defRPr>
            </a:pPr>
            <a:r>
              <a:rPr dirty="0"/>
              <a:t>  </a:t>
            </a:r>
            <a:r>
              <a:rPr lang="en-US" dirty="0"/>
              <a:t>• Rapid innovation cycle</a:t>
            </a:r>
          </a:p>
          <a:p>
            <a:br>
              <a:rPr dirty="0"/>
            </a:b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98D85-5257-12B5-2A84-4D7EF558E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C2A5-7C19-D680-501C-DB3255C0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418320" cy="114300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rPr lang="ar-EG" dirty="0"/>
              <a:t> </a:t>
            </a:r>
            <a:endParaRPr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D00F1E-CD7D-AFB6-9E3E-C903E87B6D30}"/>
              </a:ext>
            </a:extLst>
          </p:cNvPr>
          <p:cNvSpPr/>
          <p:nvPr/>
        </p:nvSpPr>
        <p:spPr>
          <a:xfrm>
            <a:off x="5486400" y="2429692"/>
            <a:ext cx="3657600" cy="18288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lang="en-US" sz="3200" dirty="0"/>
              <a:t>Activity </a:t>
            </a:r>
            <a:br>
              <a:rPr lang="en-US" sz="3200" dirty="0"/>
            </a:br>
            <a:r>
              <a:rPr lang="en-US" sz="3200" dirty="0"/>
              <a:t>Think and Try</a:t>
            </a:r>
            <a:endParaRPr sz="3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4DA757-6311-91C2-0F14-6299029710C3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790B5C-4410-2863-D283-DDAA4FED8E1F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12A4AD-5253-1301-287A-BDF3A38E75FC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94904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620F6-A467-1662-ABCB-D5DEEED2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D929-E8EE-7279-4A32-01107B03D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107577" cy="1143000"/>
          </a:xfrm>
        </p:spPr>
        <p:txBody>
          <a:bodyPr>
            <a:normAutofit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lang="en-US" sz="3000" dirty="0"/>
              <a:t> </a:t>
            </a:r>
            <a:endParaRPr sz="30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8AC4ED-9EC0-B227-4C37-035758703A2C}"/>
              </a:ext>
            </a:extLst>
          </p:cNvPr>
          <p:cNvSpPr/>
          <p:nvPr/>
        </p:nvSpPr>
        <p:spPr>
          <a:xfrm>
            <a:off x="4007031" y="940524"/>
            <a:ext cx="6616337" cy="5969727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التحدي الثاني: "من مدير إلى مبرمج شبكات"</a:t>
            </a:r>
          </a:p>
          <a:p>
            <a:pPr algn="ctr"/>
            <a:r>
              <a:rPr lang="ar-EG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السيناريو:</a:t>
            </a:r>
          </a:p>
          <a:p>
            <a:pPr algn="ctr"/>
            <a:r>
              <a:rPr lang="ar-EG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أنت مدير شبكات في شركة اتصالات تقليدية، وطلب منك المدير:</a:t>
            </a:r>
            <a:br>
              <a:rPr lang="ar-EG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ar-EG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"حول شبكتنا من نظام مغلق إلى نظام مفتوح خلال 6 أشهر"</a:t>
            </a:r>
          </a:p>
          <a:p>
            <a:pPr algn="ctr"/>
            <a:r>
              <a:rPr lang="ar-EG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المطلوب منك:</a:t>
            </a:r>
          </a:p>
          <a:p>
            <a:pPr algn="ctr"/>
            <a:r>
              <a:rPr lang="ar-EG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ما هي أول 3 خطوات ستبدأ بها؟</a:t>
            </a:r>
          </a:p>
          <a:p>
            <a:pPr algn="ctr"/>
            <a:r>
              <a:rPr lang="ar-EG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أي التقنيات ستختار ولماذا؟</a:t>
            </a:r>
          </a:p>
          <a:p>
            <a:pPr algn="ctr"/>
            <a:r>
              <a:rPr lang="ar-EG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كيف ستقنع فريقك المقاوم للتغيير؟</a:t>
            </a:r>
          </a:p>
          <a:p>
            <a:pPr algn="ctr">
              <a:defRPr sz="1600" b="1">
                <a:solidFill>
                  <a:srgbClr val="009FDF"/>
                </a:solidFill>
              </a:defRPr>
            </a:pPr>
            <a:endParaRPr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D0A95E-BA5F-AE11-7E71-89D4787FE368}"/>
              </a:ext>
            </a:extLst>
          </p:cNvPr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5134D8-039B-2CB1-E3DD-5338190D88A5}"/>
              </a:ext>
            </a:extLst>
          </p:cNvPr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AA07CA-34E4-BDF1-4667-FDEA88BB18BB}"/>
              </a:ext>
            </a:extLst>
          </p:cNvPr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41046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107577" cy="1143000"/>
          </a:xfrm>
        </p:spPr>
        <p:txBody>
          <a:bodyPr>
            <a:normAutofit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sz="3000" dirty="0"/>
              <a:t>AI: The Network's New Brain</a:t>
            </a:r>
          </a:p>
        </p:txBody>
      </p:sp>
      <p:sp>
        <p:nvSpPr>
          <p:cNvPr id="3" name="Oval 2"/>
          <p:cNvSpPr/>
          <p:nvPr/>
        </p:nvSpPr>
        <p:spPr>
          <a:xfrm>
            <a:off x="5943600" y="2743200"/>
            <a:ext cx="2743200" cy="2743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AI/ML</a:t>
            </a:r>
          </a:p>
          <a:p>
            <a:r>
              <a:t>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65623" y="3200400"/>
            <a:ext cx="32004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030A0"/>
                </a:solidFill>
              </a:defRPr>
            </a:pPr>
            <a:r>
              <a:t>🔮 Predictive Maintenance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Fix before it breaks</a:t>
            </a:r>
          </a:p>
          <a:p>
            <a:pPr algn="ctr">
              <a:defRPr sz="1300" b="1">
                <a:solidFill>
                  <a:srgbClr val="00B050"/>
                </a:solidFill>
              </a:defRPr>
            </a:pPr>
            <a:r>
              <a:t>70% less downtime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5760720"/>
            <a:ext cx="32004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FDF"/>
                </a:solidFill>
              </a:defRPr>
            </a:pPr>
            <a:r>
              <a:t>🎯 Network Optimization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Self-optimizing parameters</a:t>
            </a:r>
          </a:p>
          <a:p>
            <a:pPr algn="ctr">
              <a:defRPr sz="1300" b="1">
                <a:solidFill>
                  <a:srgbClr val="00B050"/>
                </a:solidFill>
              </a:defRPr>
            </a:pPr>
            <a:r>
              <a:t>25% better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64377" y="3200400"/>
            <a:ext cx="32004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5A24"/>
                </a:solidFill>
              </a:defRPr>
            </a:pPr>
            <a:r>
              <a:t>🛡️ Security &amp; Fraud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Real-time threat detection</a:t>
            </a:r>
          </a:p>
          <a:p>
            <a:pPr algn="ctr">
              <a:defRPr sz="1300" b="1">
                <a:solidFill>
                  <a:srgbClr val="00B050"/>
                </a:solidFill>
              </a:defRPr>
            </a:pPr>
            <a:r>
              <a:t>99%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4999" y="640080"/>
            <a:ext cx="32004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B050"/>
                </a:solidFill>
              </a:defRPr>
            </a:pPr>
            <a:r>
              <a:t>👥 Customer Experience</a:t>
            </a:r>
          </a:p>
          <a:p>
            <a:pPr algn="ctr">
              <a:defRPr sz="1400">
                <a:solidFill>
                  <a:srgbClr val="2C2C2C"/>
                </a:solidFill>
              </a:defRPr>
            </a:pPr>
            <a:r>
              <a:t>Proactive issue resolution</a:t>
            </a:r>
          </a:p>
          <a:p>
            <a:pPr algn="ctr">
              <a:defRPr sz="1300" b="1">
                <a:solidFill>
                  <a:srgbClr val="00B050"/>
                </a:solidFill>
              </a:defRPr>
            </a:pPr>
            <a:r>
              <a:t>50% less complaints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The Evolution of Network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defRPr sz="2000" b="1">
                <a:solidFill>
                  <a:srgbClr val="7F7F7F"/>
                </a:solidFill>
              </a:defRPr>
            </a:pPr>
            <a:r>
              <a:t>👷 Traditional Network Engineer: (Yesterday)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→ CLI commands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→ Manual configuration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→ Hardware focused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→ Reactive troubleshooting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🦸 Cloud-Native Network Engineer: (Today)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→ Infrastructure as Code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→ API &amp; Automation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→ Software-defined everything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→ Proactive optimization</a:t>
            </a:r>
          </a:p>
          <a:p>
            <a:pPr>
              <a:defRPr sz="2000" b="1">
                <a:solidFill>
                  <a:srgbClr val="00B050"/>
                </a:solidFill>
              </a:defRPr>
            </a:pPr>
            <a:r>
              <a:t>🚀 Future Network Architect: (Tomorrow)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→ AI/ML specialist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→ Business translator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→ DevOps practitioner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  → Innovation driver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200" b="1">
                <a:solidFill>
                  <a:srgbClr val="0070C0"/>
                </a:solidFill>
              </a:defRPr>
            </a:pPr>
            <a:r>
              <a:t>Your Turn: Design an Automated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4572000"/>
          </a:xfrm>
          <a:prstGeom prst="roundRect">
            <a:avLst/>
          </a:prstGeom>
          <a:solidFill>
            <a:srgbClr val="F0FAFF"/>
          </a:solidFill>
          <a:ln w="38100">
            <a:solidFill>
              <a:srgbClr val="009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9FDF"/>
                </a:solidFill>
              </a:defRPr>
            </a:pPr>
            <a:r>
              <a:t>🎯 Challenge: Automate a Telecom Process</a:t>
            </a:r>
          </a:p>
          <a:p>
            <a:br/>
            <a:r>
              <a:t>Choose a scenario:</a:t>
            </a:r>
          </a:p>
          <a:p>
            <a:pPr algn="ctr">
              <a:defRPr sz="2000">
                <a:solidFill>
                  <a:srgbClr val="0070C0"/>
                </a:solidFill>
              </a:defRPr>
            </a:pPr>
            <a:r>
              <a:t>📱 New customer onboarding</a:t>
            </a:r>
          </a:p>
          <a:p>
            <a:pPr algn="ctr">
              <a:defRPr sz="2000">
                <a:solidFill>
                  <a:srgbClr val="0070C0"/>
                </a:solidFill>
              </a:defRPr>
            </a:pPr>
            <a:r>
              <a:t>🔧 Network fault resolution</a:t>
            </a:r>
          </a:p>
          <a:p>
            <a:pPr algn="ctr">
              <a:defRPr sz="2000">
                <a:solidFill>
                  <a:srgbClr val="0070C0"/>
                </a:solidFill>
              </a:defRPr>
            </a:pPr>
            <a:r>
              <a:t>📈 Capacity expansion</a:t>
            </a:r>
          </a:p>
          <a:p>
            <a:pPr algn="ctr">
              <a:defRPr sz="2000">
                <a:solidFill>
                  <a:srgbClr val="0070C0"/>
                </a:solidFill>
              </a:defRPr>
            </a:pPr>
            <a:r>
              <a:t>🛡️ Security threat response</a:t>
            </a:r>
          </a:p>
          <a:p>
            <a:br/>
            <a:r>
              <a:t>📝 Design: Current vs Automated process</a:t>
            </a:r>
          </a:p>
          <a:p>
            <a:pPr algn="ctr">
              <a:defRPr sz="1600" i="1">
                <a:solidFill>
                  <a:srgbClr val="7F7F7F"/>
                </a:solidFill>
              </a:defRPr>
            </a:pPr>
            <a:r>
              <a:t>⏱️ 5 minutes design → 3 minutes present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200" b="1">
                <a:solidFill>
                  <a:srgbClr val="0070C0"/>
                </a:solidFill>
              </a:defRPr>
            </a:pPr>
            <a:r>
              <a:t>Lab: Build Your First Orchestrated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4572000"/>
          </a:xfrm>
          <a:prstGeom prst="roundRect">
            <a:avLst/>
          </a:prstGeom>
          <a:solidFill>
            <a:srgbClr val="F0FFF0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00B050"/>
                </a:solidFill>
              </a:defRPr>
            </a:pPr>
            <a:r>
              <a:t>🔬 What You'll Build Today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🎭 Create a service orchestration workflow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🔄 Automate VNF deployment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📊 Monitor service health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🚨 Implement auto-healing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📈 Scale based on demand</a:t>
            </a:r>
          </a:p>
          <a:p>
            <a:br/>
            <a:r>
              <a:t>🎯 Result: Zero-touch service deployment!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0C0"/>
                </a:solidFill>
              </a:defRPr>
            </a:pPr>
            <a:r>
              <a:t>Lab Exercise: Service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Step 1: Access Orchestrator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URL: orchestrator.perfect-tc.com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Login: student@perfect-tc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Select: Telecom Workspace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Step 2: Design Service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Choose: vIMS (Virtual IMS) template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Configure: 3 VNFs (P-CSCF, I-CSCF, S-CSCF)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Set: Auto-scaling policies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Step 3: Deploy &amp; Monitor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Click: Deploy Service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Watch: Real-time provisioning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Check: Service health dashboard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Step 4: Test Automation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Simulate: Traffic spike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Observe: Auto-scaling in action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Verify: Self-healing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3154297" cy="1143000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/>
              <a:t>DevOps</a:t>
            </a:r>
            <a:r>
              <a:rPr lang="en-US" dirty="0"/>
              <a:t> (</a:t>
            </a:r>
            <a:r>
              <a:rPr lang="en-US" b="1" dirty="0"/>
              <a:t>Dev</a:t>
            </a:r>
            <a:r>
              <a:rPr lang="en-US" dirty="0"/>
              <a:t>elopment and </a:t>
            </a:r>
            <a:r>
              <a:rPr lang="en-US" b="1" dirty="0" err="1"/>
              <a:t>Ops</a:t>
            </a:r>
            <a:r>
              <a:rPr lang="en-US" dirty="0" err="1"/>
              <a:t>erations</a:t>
            </a:r>
            <a:r>
              <a:rPr lang="en-US" dirty="0"/>
              <a:t>)</a:t>
            </a:r>
            <a:r>
              <a:rPr dirty="0"/>
              <a:t>: How Telecom Develops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rPr dirty="0"/>
              <a:t>The DevOps Pipeline for Networks:</a:t>
            </a:r>
          </a:p>
          <a:p>
            <a:pPr>
              <a:defRPr sz="1800" b="1">
                <a:solidFill>
                  <a:srgbClr val="0070C0"/>
                </a:solidFill>
              </a:defRPr>
            </a:pPr>
            <a:r>
              <a:rPr dirty="0"/>
              <a:t>📝 Plan: Define network service requirements</a:t>
            </a:r>
          </a:p>
          <a:p>
            <a:pPr>
              <a:defRPr sz="1800" b="1">
                <a:solidFill>
                  <a:srgbClr val="0070C0"/>
                </a:solidFill>
              </a:defRPr>
            </a:pPr>
            <a:r>
              <a:rPr dirty="0"/>
              <a:t>💻 Code: Infrastructure as Code (</a:t>
            </a:r>
            <a:r>
              <a:rPr dirty="0" err="1"/>
              <a:t>IaC</a:t>
            </a:r>
            <a:r>
              <a:rPr dirty="0"/>
              <a:t>)</a:t>
            </a:r>
          </a:p>
          <a:p>
            <a:pPr>
              <a:defRPr sz="1800" b="1">
                <a:solidFill>
                  <a:srgbClr val="0070C0"/>
                </a:solidFill>
              </a:defRPr>
            </a:pPr>
            <a:r>
              <a:rPr dirty="0"/>
              <a:t>🔨 Build: Container images for VNFs</a:t>
            </a:r>
          </a:p>
          <a:p>
            <a:pPr>
              <a:defRPr sz="1800" b="1">
                <a:solidFill>
                  <a:srgbClr val="0070C0"/>
                </a:solidFill>
              </a:defRPr>
            </a:pPr>
            <a:r>
              <a:rPr dirty="0"/>
              <a:t>🧪 Test: Automated network testing</a:t>
            </a:r>
          </a:p>
          <a:p>
            <a:pPr>
              <a:defRPr sz="1800" b="1">
                <a:solidFill>
                  <a:srgbClr val="0070C0"/>
                </a:solidFill>
              </a:defRPr>
            </a:pPr>
            <a:r>
              <a:rPr dirty="0"/>
              <a:t>🚀 Deploy: CI/CD pipeline execution</a:t>
            </a:r>
          </a:p>
          <a:p>
            <a:pPr>
              <a:defRPr sz="1800" b="1">
                <a:solidFill>
                  <a:srgbClr val="0070C0"/>
                </a:solidFill>
              </a:defRPr>
            </a:pPr>
            <a:r>
              <a:rPr dirty="0"/>
              <a:t>📊 Monitor: Observability &amp; AIOps</a:t>
            </a:r>
          </a:p>
          <a:p>
            <a:pPr>
              <a:defRPr sz="1800" b="1">
                <a:solidFill>
                  <a:srgbClr val="0070C0"/>
                </a:solidFill>
              </a:defRPr>
            </a:pPr>
            <a:r>
              <a:rPr dirty="0"/>
              <a:t>🔄 Feedback: Continuous improvement</a:t>
            </a:r>
          </a:p>
          <a:p>
            <a:pPr lvl="1">
              <a:defRPr sz="1500" i="1">
                <a:solidFill>
                  <a:srgbClr val="7F7F7F"/>
                </a:solidFill>
              </a:defRPr>
            </a:pPr>
            <a:r>
              <a:rPr dirty="0"/>
              <a:t>   Tools: Analytics,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rPr dirty="0" err="1"/>
              <a:t>GitOps</a:t>
            </a:r>
            <a:r>
              <a:rPr dirty="0"/>
              <a:t>: Git as Single Source of Truth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2801600" cy="4572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7030A0"/>
                </a:solidFill>
              </a:defRPr>
            </a:pPr>
            <a:r>
              <a:rPr dirty="0" err="1"/>
              <a:t>GitOps</a:t>
            </a:r>
            <a:r>
              <a:rPr dirty="0"/>
              <a:t> Workflow:</a:t>
            </a:r>
          </a:p>
          <a:p>
            <a:pPr lvl="1" algn="l">
              <a:defRPr sz="1800">
                <a:solidFill>
                  <a:srgbClr val="2C2C2C"/>
                </a:solidFill>
              </a:defRPr>
            </a:pPr>
            <a:r>
              <a:rPr dirty="0"/>
              <a:t>1️⃣ Developer pushes network config to Git</a:t>
            </a:r>
          </a:p>
          <a:p>
            <a:pPr lvl="1" algn="l">
              <a:defRPr sz="1800">
                <a:solidFill>
                  <a:srgbClr val="2C2C2C"/>
                </a:solidFill>
              </a:defRPr>
            </a:pPr>
            <a:r>
              <a:rPr dirty="0"/>
              <a:t>2️⃣ CI pipeline validates configuration</a:t>
            </a:r>
          </a:p>
          <a:p>
            <a:pPr lvl="1" algn="l">
              <a:defRPr sz="1800">
                <a:solidFill>
                  <a:srgbClr val="2C2C2C"/>
                </a:solidFill>
              </a:defRPr>
            </a:pPr>
            <a:r>
              <a:rPr dirty="0"/>
              <a:t>3️⃣ Approved changes merged to main branch</a:t>
            </a:r>
          </a:p>
          <a:p>
            <a:pPr lvl="1" algn="l">
              <a:defRPr sz="1800">
                <a:solidFill>
                  <a:srgbClr val="2C2C2C"/>
                </a:solidFill>
              </a:defRPr>
            </a:pPr>
            <a:r>
              <a:rPr dirty="0"/>
              <a:t>4️⃣ </a:t>
            </a:r>
            <a:r>
              <a:rPr dirty="0" err="1"/>
              <a:t>GitOps</a:t>
            </a:r>
            <a:r>
              <a:rPr dirty="0"/>
              <a:t> controller detects changes</a:t>
            </a:r>
          </a:p>
          <a:p>
            <a:pPr lvl="1" algn="l">
              <a:defRPr sz="1800">
                <a:solidFill>
                  <a:srgbClr val="2C2C2C"/>
                </a:solidFill>
              </a:defRPr>
            </a:pPr>
            <a:r>
              <a:rPr dirty="0"/>
              <a:t>5️⃣ Automatically applies to production</a:t>
            </a:r>
          </a:p>
          <a:p>
            <a:pPr lvl="1" algn="l">
              <a:defRPr sz="1800">
                <a:solidFill>
                  <a:srgbClr val="2C2C2C"/>
                </a:solidFill>
              </a:defRPr>
            </a:pPr>
            <a:r>
              <a:rPr dirty="0"/>
              <a:t>6️⃣ Monitors drift and auto-corrects</a:t>
            </a:r>
          </a:p>
          <a:p>
            <a:br>
              <a:rPr dirty="0"/>
            </a:br>
            <a:r>
              <a:rPr dirty="0"/>
              <a:t>✨ Result: Version-controlled, auditable network!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The Future is Already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 b="1">
                <a:solidFill>
                  <a:srgbClr val="7030A0"/>
                </a:solidFill>
              </a:defRPr>
            </a:pPr>
            <a:r>
              <a:t>🤖 Autonomous Networks: Level 5 automation by 2030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→ Networks that run themselves</a:t>
            </a:r>
          </a:p>
          <a:p>
            <a:pPr>
              <a:defRPr sz="1800" b="1">
                <a:solidFill>
                  <a:srgbClr val="7030A0"/>
                </a:solidFill>
              </a:defRPr>
            </a:pPr>
            <a:r>
              <a:t>🧬 Digital Twins: Virtual replica of entire network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→ Test changes before production</a:t>
            </a:r>
          </a:p>
          <a:p>
            <a:pPr>
              <a:defRPr sz="1800" b="1">
                <a:solidFill>
                  <a:srgbClr val="7030A0"/>
                </a:solidFill>
              </a:defRPr>
            </a:pPr>
            <a:r>
              <a:t>⚡ Quantum Networking: Ultra-secure communications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→ Teleportation of network state</a:t>
            </a:r>
          </a:p>
          <a:p>
            <a:pPr>
              <a:defRPr sz="1800" b="1">
                <a:solidFill>
                  <a:srgbClr val="7030A0"/>
                </a:solidFill>
              </a:defRPr>
            </a:pPr>
            <a:r>
              <a:t>🌐 Network as a Service: Complete abstraction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→ Business outcomes, not infrastructure</a:t>
            </a:r>
          </a:p>
          <a:p>
            <a:pPr>
              <a:defRPr sz="1800" b="1">
                <a:solidFill>
                  <a:srgbClr val="7030A0"/>
                </a:solidFill>
              </a:defRPr>
            </a:pPr>
            <a:r>
              <a:t>🎯 Intent-Everything: Natural language operations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→ Tell network what you want in plain English</a:t>
            </a:r>
          </a:p>
          <a:p>
            <a:pPr>
              <a:defRPr sz="1800" b="1">
                <a:solidFill>
                  <a:srgbClr val="7030A0"/>
                </a:solidFill>
              </a:defRPr>
            </a:pPr>
            <a:r>
              <a:t>♾️ Infinite Scalability: Serverless network functions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→ Scale to zero or millions instantly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Your Future in Cloud-Native Telecom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 sz="2600" b="1">
                <a:solidFill>
                  <a:srgbClr val="F15A24"/>
                </a:solidFill>
              </a:defRPr>
            </a:pPr>
            <a:r>
              <a:t>High-Demand Roles &amp; Skills:</a:t>
            </a:r>
          </a:p>
          <a:p>
            <a:br/>
            <a:r>
              <a:t>☁️ Cloud Network Architect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💰 $120K-200K | Design cloud-native networks</a:t>
            </a:r>
          </a:p>
          <a:p>
            <a:br/>
            <a:r>
              <a:t>🤖 Network Automation Engineer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💰 $100K-180K | Automate everything</a:t>
            </a:r>
          </a:p>
          <a:p>
            <a:br/>
            <a:r>
              <a:t>🔧 DevOps Network Engineer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💰 $95K-170K | CI/CD for networks</a:t>
            </a:r>
          </a:p>
          <a:p>
            <a:br/>
            <a:r>
              <a:t>📊 AIOps Specialist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💰 $110K-190K | AI-driven operations</a:t>
            </a:r>
          </a:p>
          <a:p>
            <a:br/>
            <a:r>
              <a:t>🎯 Intent-Based Network Designer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💰 $115K-195K | Business to tech translator</a:t>
            </a:r>
          </a:p>
          <a:p>
            <a:br/>
            <a:r>
              <a:t>🛡️ Cloud Security Architect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💰 $125K-210K | Secure the future</a:t>
            </a:r>
          </a:p>
          <a:p>
            <a:br/>
            <a:r>
              <a:t>🚀 Start learning: Kubernetes, Python, Terraform, Ansible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200" b="1">
                <a:solidFill>
                  <a:srgbClr val="0070C0"/>
                </a:solidFill>
              </a:defRPr>
            </a:pPr>
            <a:r>
              <a:t>Success Stories: Cloud-Native Transformation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943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15A24"/>
                </a:solidFill>
              </a:defRPr>
            </a:pPr>
            <a:r>
              <a:t>Rakuten 🇯🇵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100% cloud-native</a:t>
            </a:r>
          </a:p>
          <a:p>
            <a:pPr algn="ctr">
              <a:defRPr sz="1800" b="1">
                <a:solidFill>
                  <a:srgbClr val="00B050"/>
                </a:solidFill>
              </a:defRPr>
            </a:pPr>
            <a:r>
              <a:t>70% cost reduction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5943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F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9FDF"/>
                </a:solidFill>
              </a:defRPr>
            </a:pPr>
            <a:r>
              <a:t>Dish Network 🇺🇸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Greenfield 5G</a:t>
            </a:r>
          </a:p>
          <a:p>
            <a:pPr algn="ctr">
              <a:defRPr sz="1800" b="1">
                <a:solidFill>
                  <a:srgbClr val="00B050"/>
                </a:solidFill>
              </a:defRPr>
            </a:pPr>
            <a:r>
              <a:t>First cloud-native in 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5943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B050"/>
                </a:solidFill>
              </a:defRPr>
            </a:pPr>
            <a:r>
              <a:t>Telefonica 🇪🇸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UNICA platform</a:t>
            </a:r>
          </a:p>
          <a:p>
            <a:pPr algn="ctr">
              <a:defRPr sz="1800" b="1">
                <a:solidFill>
                  <a:srgbClr val="00B050"/>
                </a:solidFill>
              </a:defRPr>
            </a:pPr>
            <a:r>
              <a:t>50% faster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114800"/>
            <a:ext cx="59436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7030A0"/>
                </a:solidFill>
              </a:defRPr>
            </a:pPr>
            <a:r>
              <a:t>Vodafone 🇬🇧</a:t>
            </a:r>
          </a:p>
          <a:p>
            <a:pPr algn="ctr">
              <a:defRPr sz="1600">
                <a:solidFill>
                  <a:srgbClr val="2C2C2C"/>
                </a:solidFill>
              </a:defRPr>
            </a:pPr>
            <a:r>
              <a:t>Open RAN leader</a:t>
            </a:r>
          </a:p>
          <a:p>
            <a:pPr algn="ctr">
              <a:defRPr sz="1800" b="1">
                <a:solidFill>
                  <a:srgbClr val="00B050"/>
                </a:solidFill>
              </a:defRPr>
            </a:pPr>
            <a:r>
              <a:t>40% CAPEX savings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Today's Transformation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1️⃣ Cloud-Native is the Future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Software-defined, automated, scalable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2️⃣ Automation is Essential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Zero-touch operations are possible today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3️⃣ Open Standards Win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Open RAN, O-RAN Alliance leading change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4️⃣ AI Drives Everything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From optimization to security</a:t>
            </a:r>
          </a:p>
          <a:p>
            <a:pPr>
              <a:defRPr sz="2200" b="1">
                <a:solidFill>
                  <a:srgbClr val="0070C0"/>
                </a:solidFill>
              </a:defRPr>
            </a:pPr>
            <a:r>
              <a:rPr dirty="0"/>
              <a:t>5️⃣ DevOps is the Way</a:t>
            </a:r>
          </a:p>
          <a:p>
            <a:pPr lvl="1">
              <a:defRPr sz="1800">
                <a:solidFill>
                  <a:srgbClr val="2C2C2C"/>
                </a:solidFill>
              </a:defRPr>
            </a:pPr>
            <a:r>
              <a:rPr dirty="0"/>
              <a:t>→ CI/CD, </a:t>
            </a:r>
            <a:r>
              <a:rPr dirty="0" err="1"/>
              <a:t>GitOps</a:t>
            </a:r>
            <a:r>
              <a:rPr dirty="0"/>
              <a:t>, </a:t>
            </a:r>
            <a:r>
              <a:rPr dirty="0" err="1"/>
              <a:t>IaC</a:t>
            </a:r>
            <a:r>
              <a:rPr dirty="0"/>
              <a:t> for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Your Cloud-Native Learning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📚 Essential Courses: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Kubernetes for Network Engineers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Network Automation with Python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CI/CD for Telecom (Jenkins/GitLab)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Open RAN Fundamentals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🛠️ Must-Learn Tools: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Kubernetes, Docker, Helm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Terraform, Ansible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Git, GitHub/GitLab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Prometheus, Grafana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📖 Key Certifications: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CKA (Certified Kubernetes Admin)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O-RAN Alliance Certification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DevOps Institute Certifications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Cloud Provider Network Certs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🌐 Communities: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CNCF Telecom User Group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Open RAN Community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Network Automation Forum</a:t>
            </a:r>
          </a:p>
          <a:p>
            <a:pPr lvl="1">
              <a:defRPr sz="1500">
                <a:solidFill>
                  <a:srgbClr val="2C2C2C"/>
                </a:solidFill>
              </a:defRPr>
            </a:pPr>
            <a:r>
              <a:t>• DevOps for Telecom Groups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Your Mission: Design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📋 Part 1: Research (45 min)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Find 3 cloud-native telecom deployments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Analyze their architecture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Identify automation strategies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🏗️ Part 2: Design (60 min)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Create automated workflow for Egyptian telco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Use orchestration concepts learned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Include AI/ML components</a:t>
            </a:r>
          </a:p>
          <a:p>
            <a:pPr>
              <a:defRPr sz="2000" b="1">
                <a:solidFill>
                  <a:srgbClr val="F15A24"/>
                </a:solidFill>
              </a:defRPr>
            </a:pPr>
            <a:r>
              <a:t>🚀 Part 3: Innovation (30 min)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Propose new telecom service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Must be cloud-native</a:t>
            </a:r>
          </a:p>
          <a:p>
            <a:pPr lvl="1">
              <a:defRPr sz="1600">
                <a:solidFill>
                  <a:srgbClr val="2C2C2C"/>
                </a:solidFill>
              </a:defRPr>
            </a:pPr>
            <a:r>
              <a:t>→ Show business value</a:t>
            </a:r>
          </a:p>
          <a:p>
            <a:br/>
            <a:r>
              <a:t>📧 Submit to: cloudnative@perfect-tc.com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Let's Transform Together!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10972800" cy="457200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15A24"/>
                </a:solidFill>
              </a:defRPr>
            </a:pPr>
            <a:r>
              <a:t>🎤 Your Questions Drive Innovation!</a:t>
            </a:r>
          </a:p>
          <a:p>
            <a:br/>
            <a:r>
              <a:t>Frequent questions: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• How to start with cloud-native?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• Which tools to learn first?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• Open RAN opportunities in Egypt?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• Automation vs job security?</a:t>
            </a:r>
          </a:p>
          <a:p>
            <a:pPr algn="ctr">
              <a:defRPr sz="1800">
                <a:solidFill>
                  <a:srgbClr val="2C2C2C"/>
                </a:solidFill>
              </a:defRPr>
            </a:pPr>
            <a:r>
              <a:t>• Best path to DevOps?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You Are the Transformation!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10972800" cy="457200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F15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15A24"/>
                </a:solidFill>
              </a:defRPr>
            </a:pPr>
            <a:r>
              <a:t>🌟 Your Journey Starts Now!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📚 3 days → 3 transformative technologies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☁️ Cloud + 5G + Automation = Future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🚀 You're ready for the revolution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💡 Egypt needs cloud-native leaders</a:t>
            </a:r>
          </a:p>
          <a:p>
            <a:pPr algn="ctr">
              <a:defRPr sz="2200">
                <a:solidFill>
                  <a:srgbClr val="2C2C2C"/>
                </a:solidFill>
              </a:defRPr>
            </a:pPr>
            <a:r>
              <a:t>🎯 Your skills are in high demand</a:t>
            </a:r>
          </a:p>
          <a:p>
            <a:br/>
            <a:r>
              <a:t>Transform networks. Transform careers. Transform Egypt! 🇪🇬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863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PERFECT TRAINING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78638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9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107"/>
                </a:solidFill>
              </a:defRPr>
            </a:pPr>
            <a:r>
              <a:t>You're Ready to Lead the Cloud-Native Revolution!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486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Stay Connected: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📧 cloudnative@perfect-tc.com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🌐 www.perfect-tc.com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💬 WhatsApp: +20-XXX-XXX-XXXX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7315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15A24"/>
                </a:solidFill>
              </a:defRPr>
            </a:pPr>
            <a:r>
              <a:t>Perfect Training Center - Transforming Telecom Professionals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3148</Words>
  <Application>Microsoft Office PowerPoint</Application>
  <PresentationFormat>Custom</PresentationFormat>
  <Paragraphs>618</Paragraphs>
  <Slides>40</Slides>
  <Notes>1</Notes>
  <HiddenSlides>10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Arial</vt:lpstr>
      <vt:lpstr>Calibri</vt:lpstr>
      <vt:lpstr>Wingdings</vt:lpstr>
      <vt:lpstr>Office Theme</vt:lpstr>
      <vt:lpstr>PowerPoint Presentation</vt:lpstr>
      <vt:lpstr>Our Digital Transformation Journey</vt:lpstr>
      <vt:lpstr>Today's Transformation Roadmap</vt:lpstr>
      <vt:lpstr>Quick Challenge: Spot the Difference!</vt:lpstr>
      <vt:lpstr>Cloud-Native: The New Telecom DNA</vt:lpstr>
      <vt:lpstr>Cloud-Native: The New Telecom DNA</vt:lpstr>
      <vt:lpstr>Cloud-Native: The New Telecom DNA</vt:lpstr>
      <vt:lpstr>Cloud-Native: The New Telecom DNA</vt:lpstr>
      <vt:lpstr>Cloud-Native: The New Telecom DNA</vt:lpstr>
      <vt:lpstr>The Telecom Transformation Imperative</vt:lpstr>
      <vt:lpstr> </vt:lpstr>
      <vt:lpstr> </vt:lpstr>
      <vt:lpstr>Orchestration: The Brain of Modern Telecom</vt:lpstr>
      <vt:lpstr>Orchestration: The Brain of Modern Telecom</vt:lpstr>
      <vt:lpstr>Orchestration: The Brain of Modern Telecom</vt:lpstr>
      <vt:lpstr>MANO: Management &amp; Orchestration</vt:lpstr>
      <vt:lpstr>MANO: Management &amp; Orchestration</vt:lpstr>
      <vt:lpstr>Zero-Touch: Automation Levels</vt:lpstr>
      <vt:lpstr>Zero-Touch: Automation Levels</vt:lpstr>
      <vt:lpstr>Intent-Based Networking: Say What You Want</vt:lpstr>
      <vt:lpstr>The Three Pillars of Intelligent Networks</vt:lpstr>
      <vt:lpstr>Open RAN (Radio Access Network )</vt:lpstr>
      <vt:lpstr> </vt:lpstr>
      <vt:lpstr> </vt:lpstr>
      <vt:lpstr>AI: The Network's New Brain</vt:lpstr>
      <vt:lpstr>The Evolution of Network Engineers</vt:lpstr>
      <vt:lpstr>Your Turn: Design an Automated Workflow</vt:lpstr>
      <vt:lpstr>Lab: Build Your First Orchestrated Workflow</vt:lpstr>
      <vt:lpstr>Lab Exercise: Service Orchestration</vt:lpstr>
      <vt:lpstr>DevOps (Development and Opserations): How Telecom Develops Now</vt:lpstr>
      <vt:lpstr>GitOps: Git as Single Source of Truth</vt:lpstr>
      <vt:lpstr>The Future is Already Here</vt:lpstr>
      <vt:lpstr>Your Future in Cloud-Native Telecom</vt:lpstr>
      <vt:lpstr>Success Stories: Cloud-Native Transformation</vt:lpstr>
      <vt:lpstr>Today's Transformation Insights</vt:lpstr>
      <vt:lpstr>Your Cloud-Native Learning Path</vt:lpstr>
      <vt:lpstr>Your Mission: Design the Future</vt:lpstr>
      <vt:lpstr>Let's Transform Together!</vt:lpstr>
      <vt:lpstr>You Are the Transformation!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عمرو سيد صادق عبدالرحمن</cp:lastModifiedBy>
  <cp:revision>3</cp:revision>
  <dcterms:created xsi:type="dcterms:W3CDTF">2013-01-27T09:14:16Z</dcterms:created>
  <dcterms:modified xsi:type="dcterms:W3CDTF">2025-11-18T02:37:00Z</dcterms:modified>
  <cp:category/>
</cp:coreProperties>
</file>